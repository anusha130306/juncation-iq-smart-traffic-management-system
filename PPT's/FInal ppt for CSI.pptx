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2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10/10/2026</a:t>
            </a:fld>
            <a:endParaRPr lang="en-US"/>
          </a:p>
        </p:txBody>
      </p:sp>
      <p:sp>
        <p:nvSpPr>
          <p:cNvPr id="104866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6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/mnt/user-data/uploads/179118545852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325880" cy="731520"/>
          </a:xfrm>
          <a:prstGeom prst="rect">
            <a:avLst/>
          </a:prstGeom>
        </p:spPr>
      </p:pic>
      <p:pic>
        <p:nvPicPr>
          <p:cNvPr id="2097153" name="Image 1" descr="/mnt/user-data/uploads/17911854690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1048577" name="Text 0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PROJECT EXPO 2026</a:t>
            </a:r>
            <a:endParaRPr lang="en-US" sz="1600" dirty="0"/>
          </a:p>
        </p:txBody>
      </p:sp>
      <p:sp>
        <p:nvSpPr>
          <p:cNvPr id="1048578" name="Text 1"/>
          <p:cNvSpPr>
            <a:spLocks noGrp="1"/>
          </p:cNvSpPr>
          <p:nvPr>
            <p:ph type="title" idx="103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b="1" dirty="0">
                <a:solidFill>
                  <a:schemeClr val="tx2"/>
                </a:solidFill>
              </a:rPr>
              <a:t>Project Title</a:t>
            </a:r>
            <a:endParaRPr lang="en-US" sz="4000" dirty="0"/>
          </a:p>
        </p:txBody>
      </p:sp>
      <p:sp>
        <p:nvSpPr>
          <p:cNvPr id="1048579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3017520"/>
            <a:ext cx="7680960" cy="12801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Image 0" descr="/mnt/user-data/uploads/179118545852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325880" cy="731520"/>
          </a:xfrm>
          <a:prstGeom prst="rect">
            <a:avLst/>
          </a:prstGeom>
        </p:spPr>
      </p:pic>
      <p:pic>
        <p:nvPicPr>
          <p:cNvPr id="2097155" name="Image 1" descr="/mnt/user-data/uploads/17911854690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1048585" name="Text 0"/>
          <p:cNvSpPr/>
          <p:nvPr/>
        </p:nvSpPr>
        <p:spPr>
          <a:xfrm>
            <a:off x="365760" y="48006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Project Expo 2026  |  KIT's College of Engineering, Kolhapur  |  CSI</a:t>
            </a:r>
            <a:endParaRPr lang="en-US" sz="1000" dirty="0"/>
          </a:p>
        </p:txBody>
      </p:sp>
      <p:sp>
        <p:nvSpPr>
          <p:cNvPr id="1048586" name="Text 1"/>
          <p:cNvSpPr>
            <a:spLocks noGrp="1"/>
          </p:cNvSpPr>
          <p:nvPr>
            <p:ph type="title" idx="103" hasCustomPrompt="1"/>
          </p:nvPr>
        </p:nvSpPr>
        <p:spPr>
          <a:xfrm>
            <a:off x="1828800" y="182880"/>
            <a:ext cx="603504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104858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Text 1"/>
          <p:cNvSpPr>
            <a:spLocks noGrp="1"/>
          </p:cNvSpPr>
          <p:nvPr>
            <p:ph type="title" idx="103" hasCustomPrompt="1"/>
          </p:nvPr>
        </p:nvSpPr>
        <p:spPr>
          <a:xfrm>
            <a:off x="294042" y="1726602"/>
            <a:ext cx="855591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dirty="0"/>
              <a:t>Smart </a:t>
            </a:r>
            <a:r>
              <a:rPr lang="en-IN" sz="3200" dirty="0"/>
              <a:t>Traffic</a:t>
            </a:r>
            <a:r>
              <a:rPr lang="en-IN" dirty="0"/>
              <a:t> Management System</a:t>
            </a:r>
            <a:br>
              <a:rPr lang="en-IN" dirty="0"/>
            </a:br>
            <a:r>
              <a:rPr lang="en-IN" sz="2000" dirty="0"/>
              <a:t>Dynamic Traffic Signal Control</a:t>
            </a:r>
            <a:endParaRPr lang="en-US" sz="2000" dirty="0"/>
          </a:p>
        </p:txBody>
      </p:sp>
      <p:sp>
        <p:nvSpPr>
          <p:cNvPr id="1048581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3017520"/>
            <a:ext cx="76809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Team Name : </a:t>
            </a:r>
            <a:r>
              <a:rPr lang="en-US" sz="1600" dirty="0" err="1">
                <a:solidFill>
                  <a:schemeClr val="tx1"/>
                </a:solidFill>
              </a:rPr>
              <a:t>FlowForce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Department: </a:t>
            </a:r>
            <a:r>
              <a:rPr lang="en-US" dirty="0"/>
              <a:t>Computer Science and Engineering</a:t>
            </a:r>
            <a:r>
              <a:rPr lang="en-US" sz="1600" dirty="0">
                <a:solidFill>
                  <a:schemeClr val="tx1"/>
                </a:solidFill>
              </a:rPr>
              <a:t>   |   Year: 3</a:t>
            </a:r>
            <a:r>
              <a:rPr lang="en-US" sz="1600" baseline="30000" dirty="0">
                <a:solidFill>
                  <a:schemeClr val="tx1"/>
                </a:solidFill>
              </a:rPr>
              <a:t>rd</a:t>
            </a:r>
            <a:r>
              <a:rPr lang="en-US" sz="1600" dirty="0">
                <a:solidFill>
                  <a:schemeClr val="tx1"/>
                </a:solidFill>
              </a:rPr>
              <a:t> Year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Guide: Prof. Yogita </a:t>
            </a:r>
            <a:r>
              <a:rPr lang="en-US" sz="1600" dirty="0" err="1">
                <a:solidFill>
                  <a:schemeClr val="tx1"/>
                </a:solidFill>
              </a:rPr>
              <a:t>Narule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ADA487-38D1-05FD-34F6-E4B475D6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 1"/>
          <p:cNvSpPr>
            <a:spLocks noGrp="1"/>
          </p:cNvSpPr>
          <p:nvPr>
            <p:ph type="title" idx="103" hasCustomPrompt="1"/>
          </p:nvPr>
        </p:nvSpPr>
        <p:spPr>
          <a:xfrm>
            <a:off x="1828800" y="182880"/>
            <a:ext cx="6035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1048589" name="Problem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</p:spPr>
      </p:sp>
      <p:sp>
        <p:nvSpPr>
          <p:cNvPr id="1048590" name="Problem heading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1048591" name="Problem text"/>
          <p:cNvSpPr txBox="1"/>
          <p:nvPr/>
        </p:nvSpPr>
        <p:spPr>
          <a:xfrm>
            <a:off x="640080" y="1828800"/>
            <a:ext cx="3657600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1200" dirty="0"/>
              <a:t>Traffic signals often operate on predetermined timings that may not reflect the actual number of vehicles waiting in each lane.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Long waiting times - </a:t>
            </a:r>
            <a:r>
              <a:rPr lang="en-IN" sz="1200" dirty="0"/>
              <a:t>Vehicles wait even when traffic demand differs between lanes.</a:t>
            </a:r>
          </a:p>
          <a:p>
            <a:pPr marL="228600" indent="-228600">
              <a:buFont typeface="+mj-lt"/>
              <a:buAutoNum type="arabicPeriod"/>
            </a:pPr>
            <a:endParaRPr lang="en-IN" sz="1200" b="1" dirty="0"/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Uneven congestion - </a:t>
            </a:r>
            <a:r>
              <a:rPr lang="en-IN" sz="1200" dirty="0"/>
              <a:t>One approach may have a long queue while another has fewer vehicles.</a:t>
            </a:r>
            <a:endParaRPr lang="en-IN" sz="1200" b="1" dirty="0"/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Emergency delays - </a:t>
            </a:r>
            <a:r>
              <a:rPr lang="en-IN" sz="1200" dirty="0"/>
              <a:t>Congestion can delay emergency vehicles travelling through intersections.</a:t>
            </a:r>
          </a:p>
          <a:p>
            <a:pPr marL="228600" indent="-228600">
              <a:buFont typeface="+mj-lt"/>
              <a:buAutoNum type="arabicPeriod"/>
            </a:pPr>
            <a:endParaRPr lang="en-IN" sz="1200" b="1" dirty="0"/>
          </a:p>
          <a:p>
            <a:endParaRPr lang="en-IN" sz="1200" dirty="0"/>
          </a:p>
        </p:txBody>
      </p:sp>
      <p:sp>
        <p:nvSpPr>
          <p:cNvPr id="1048592" name="Gaps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</p:spPr>
      </p:sp>
      <p:sp>
        <p:nvSpPr>
          <p:cNvPr id="1048593" name="Gaps heading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Existing Solutions &amp; Gaps</a:t>
            </a:r>
            <a:endParaRPr lang="en-US" sz="1800" dirty="0"/>
          </a:p>
        </p:txBody>
      </p:sp>
      <p:sp>
        <p:nvSpPr>
          <p:cNvPr id="1048594" name="Gaps text"/>
          <p:cNvSpPr txBox="1"/>
          <p:nvPr/>
        </p:nvSpPr>
        <p:spPr>
          <a:xfrm>
            <a:off x="4846320" y="1737360"/>
            <a:ext cx="36576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485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3D3B29-A517-27DE-AAE9-16B1EC16D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340859"/>
              </p:ext>
            </p:extLst>
          </p:nvPr>
        </p:nvGraphicFramePr>
        <p:xfrm>
          <a:off x="4846320" y="1685641"/>
          <a:ext cx="3743498" cy="2709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080">
                  <a:extLst>
                    <a:ext uri="{9D8B030D-6E8A-4147-A177-3AD203B41FA5}">
                      <a16:colId xmlns:a16="http://schemas.microsoft.com/office/drawing/2014/main" val="3857592570"/>
                    </a:ext>
                  </a:extLst>
                </a:gridCol>
                <a:gridCol w="2171418">
                  <a:extLst>
                    <a:ext uri="{9D8B030D-6E8A-4147-A177-3AD203B41FA5}">
                      <a16:colId xmlns:a16="http://schemas.microsoft.com/office/drawing/2014/main" val="1392655850"/>
                    </a:ext>
                  </a:extLst>
                </a:gridCol>
              </a:tblGrid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376059"/>
                  </a:ext>
                </a:extLst>
              </a:tr>
              <a:tr h="439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Fixed-time 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 not adapt their timing to changing traffic demand.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560009"/>
                  </a:ext>
                </a:extLst>
              </a:tr>
              <a:tr h="61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Manual traffic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Requires continuous human monitoring and intervention.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201707"/>
                  </a:ext>
                </a:extLst>
              </a:tr>
              <a:tr h="61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Emergency vehicle priority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May require dedicated communication and compatible </a:t>
                      </a:r>
                      <a:r>
                        <a:rPr lang="en-IN" sz="1200" dirty="0" err="1"/>
                        <a:t>infrastructur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27062"/>
                  </a:ext>
                </a:extLst>
              </a:tr>
              <a:tr h="61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CCTV-based traffic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Monitoring alone does not automatically optimize signal timings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3921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C96A29F-8E57-B1FD-AB82-F6E4D75BA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1"/>
          <p:cNvSpPr>
            <a:spLocks noGrp="1"/>
          </p:cNvSpPr>
          <p:nvPr>
            <p:ph type="title" idx="103" hasCustomPrompt="1"/>
          </p:nvPr>
        </p:nvSpPr>
        <p:spPr>
          <a:xfrm>
            <a:off x="1828800" y="182880"/>
            <a:ext cx="6035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Idea &amp; Objectives</a:t>
            </a:r>
            <a:endParaRPr lang="en-US" sz="3000" dirty="0"/>
          </a:p>
        </p:txBody>
      </p:sp>
      <p:sp>
        <p:nvSpPr>
          <p:cNvPr id="1048600" name="Idea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</p:spPr>
      </p:sp>
      <p:sp>
        <p:nvSpPr>
          <p:cNvPr id="1048601" name="Idea heading"/>
          <p:cNvSpPr txBox="1"/>
          <p:nvPr/>
        </p:nvSpPr>
        <p:spPr>
          <a:xfrm>
            <a:off x="640080" y="12573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 Idea</a:t>
            </a:r>
            <a:endParaRPr lang="en-US" sz="1800" dirty="0"/>
          </a:p>
        </p:txBody>
      </p:sp>
      <p:sp>
        <p:nvSpPr>
          <p:cNvPr id="1048602" name="Idea text"/>
          <p:cNvSpPr txBox="1"/>
          <p:nvPr/>
        </p:nvSpPr>
        <p:spPr>
          <a:xfrm>
            <a:off x="640080" y="1632989"/>
            <a:ext cx="36576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1200" dirty="0"/>
              <a:t>A SUMO-based traffic system that dynamically adjusts signal timings and prioritizes emergency vehicles using Python and </a:t>
            </a:r>
            <a:r>
              <a:rPr lang="en-IN" sz="1200" dirty="0" err="1"/>
              <a:t>TraCI</a:t>
            </a:r>
            <a:r>
              <a:rPr lang="en-IN" sz="1200" dirty="0"/>
              <a:t>.</a:t>
            </a:r>
          </a:p>
          <a:p>
            <a:endParaRPr lang="en-IN" sz="1200" b="1" dirty="0"/>
          </a:p>
          <a:p>
            <a:r>
              <a:rPr lang="en-IN" sz="1200" b="1" dirty="0"/>
              <a:t>What is unique/innovative?</a:t>
            </a:r>
          </a:p>
          <a:p>
            <a:endParaRPr lang="en-IN" sz="1200" b="1" dirty="0"/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Traffic-responsive signals </a:t>
            </a:r>
            <a:r>
              <a:rPr lang="en-IN" sz="1200" dirty="0"/>
              <a:t>- Green-light duration changes based on simulated traffic conditions rather than relying only on fixed timings.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Emergency-vehicle priority </a:t>
            </a:r>
            <a:r>
              <a:rPr lang="en-IN" sz="1200" dirty="0"/>
              <a:t>- Includes a rule-based priority mechanism for emergency vehicles in the simulation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Testable simulation environment </a:t>
            </a:r>
            <a:r>
              <a:rPr lang="en-IN" sz="1200" dirty="0"/>
              <a:t>- SUMO and </a:t>
            </a:r>
            <a:r>
              <a:rPr lang="en-IN" sz="1200" dirty="0" err="1"/>
              <a:t>TraCI</a:t>
            </a:r>
            <a:r>
              <a:rPr lang="en-IN" sz="1200" dirty="0"/>
              <a:t> allow traffic scenarios and signal-control decisions to be tested in a simulated road network.</a:t>
            </a:r>
          </a:p>
          <a:p>
            <a:endParaRPr lang="en-US" sz="1200" dirty="0"/>
          </a:p>
        </p:txBody>
      </p:sp>
      <p:sp>
        <p:nvSpPr>
          <p:cNvPr id="1048603" name="Objectives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</p:spPr>
      </p:sp>
      <p:sp>
        <p:nvSpPr>
          <p:cNvPr id="1048604" name="Objectives heading"/>
          <p:cNvSpPr txBox="1"/>
          <p:nvPr/>
        </p:nvSpPr>
        <p:spPr>
          <a:xfrm>
            <a:off x="4846320" y="126722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048605" name="Objectives text"/>
          <p:cNvSpPr txBox="1"/>
          <p:nvPr/>
        </p:nvSpPr>
        <p:spPr>
          <a:xfrm>
            <a:off x="4846320" y="1873615"/>
            <a:ext cx="3657600" cy="23090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Adapt signal timings to simulated vehicle counts, lane density, speed, and waiting time.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Reduce unnecessary vehicle waiting through demand-based signal decisions.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Implement emergency-vehicle priority using predefined rules.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Evaluate traffic-control behaviour through simulation scenarios.</a:t>
            </a:r>
          </a:p>
        </p:txBody>
      </p:sp>
      <p:sp>
        <p:nvSpPr>
          <p:cNvPr id="104860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45AEE-F071-065E-AC98-AF4D52D103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ext 1"/>
          <p:cNvSpPr>
            <a:spLocks noGrp="1"/>
          </p:cNvSpPr>
          <p:nvPr>
            <p:ph type="title" idx="103" hasCustomPrompt="1"/>
          </p:nvPr>
        </p:nvSpPr>
        <p:spPr>
          <a:xfrm>
            <a:off x="1828800" y="182880"/>
            <a:ext cx="6035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Prototype &amp; Working</a:t>
            </a:r>
            <a:endParaRPr lang="en-US" sz="3000" dirty="0"/>
          </a:p>
        </p:txBody>
      </p:sp>
      <p:sp>
        <p:nvSpPr>
          <p:cNvPr id="1048611" name="Step 1 badge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048612" name="Step 1 number"/>
          <p:cNvSpPr txBox="1"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048614" name="Step 1 heading"/>
          <p:cNvSpPr txBox="1"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Input</a:t>
            </a:r>
            <a:endParaRPr lang="en-US" sz="1800" dirty="0"/>
          </a:p>
        </p:txBody>
      </p:sp>
      <p:sp>
        <p:nvSpPr>
          <p:cNvPr id="1048615" name="Step 1 text"/>
          <p:cNvSpPr txBox="1"/>
          <p:nvPr/>
        </p:nvSpPr>
        <p:spPr>
          <a:xfrm>
            <a:off x="640080" y="2468880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data or action starts the system?</a:t>
            </a:r>
            <a:endParaRPr lang="en-US" sz="1400" dirty="0"/>
          </a:p>
        </p:txBody>
      </p:sp>
      <p:sp>
        <p:nvSpPr>
          <p:cNvPr id="1048616" name="Step 2 badge"/>
          <p:cNvSpPr/>
          <p:nvPr/>
        </p:nvSpPr>
        <p:spPr>
          <a:xfrm>
            <a:off x="3474720" y="1234440"/>
            <a:ext cx="502920" cy="5029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048617" name="Step 2 number"/>
          <p:cNvSpPr txBox="1"/>
          <p:nvPr/>
        </p:nvSpPr>
        <p:spPr>
          <a:xfrm>
            <a:off x="3474720" y="1234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48618" name="Step 2 card"/>
          <p:cNvSpPr/>
          <p:nvPr/>
        </p:nvSpPr>
        <p:spPr>
          <a:xfrm>
            <a:off x="3291840" y="192024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</p:spPr>
      </p:sp>
      <p:sp>
        <p:nvSpPr>
          <p:cNvPr id="1048619" name="Step 2 heading"/>
          <p:cNvSpPr txBox="1"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Process</a:t>
            </a:r>
            <a:endParaRPr lang="en-US" sz="1800" dirty="0"/>
          </a:p>
        </p:txBody>
      </p:sp>
      <p:sp>
        <p:nvSpPr>
          <p:cNvPr id="1048620" name="Step 2 text"/>
          <p:cNvSpPr txBox="1"/>
          <p:nvPr/>
        </p:nvSpPr>
        <p:spPr>
          <a:xfrm>
            <a:off x="3474720" y="2468880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does your prototype work?</a:t>
            </a:r>
            <a:endParaRPr lang="en-US" sz="1400" dirty="0"/>
          </a:p>
        </p:txBody>
      </p:sp>
      <p:sp>
        <p:nvSpPr>
          <p:cNvPr id="1048621" name="Step 3 badge"/>
          <p:cNvSpPr/>
          <p:nvPr/>
        </p:nvSpPr>
        <p:spPr>
          <a:xfrm>
            <a:off x="6309360" y="1234440"/>
            <a:ext cx="502920" cy="5029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048622" name="Step 3 number"/>
          <p:cNvSpPr txBox="1"/>
          <p:nvPr/>
        </p:nvSpPr>
        <p:spPr>
          <a:xfrm>
            <a:off x="6309360" y="1234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048624" name="Step 3 heading"/>
          <p:cNvSpPr txBox="1"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Output</a:t>
            </a:r>
            <a:endParaRPr lang="en-US" sz="1800" dirty="0"/>
          </a:p>
        </p:txBody>
      </p:sp>
      <p:sp>
        <p:nvSpPr>
          <p:cNvPr id="1048625" name="Step 3 text"/>
          <p:cNvSpPr txBox="1"/>
          <p:nvPr/>
        </p:nvSpPr>
        <p:spPr>
          <a:xfrm>
            <a:off x="6309360" y="2468880"/>
            <a:ext cx="22860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result does the user get?</a:t>
            </a:r>
            <a:endParaRPr lang="en-US" sz="1400" dirty="0"/>
          </a:p>
        </p:txBody>
      </p:sp>
      <p:sp>
        <p:nvSpPr>
          <p:cNvPr id="10486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36744-CF85-A57A-F79B-4B711973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57" b="-1533"/>
          <a:stretch>
            <a:fillRect/>
          </a:stretch>
        </p:blipFill>
        <p:spPr>
          <a:xfrm>
            <a:off x="502920" y="1000941"/>
            <a:ext cx="8138160" cy="3850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F5C48-9059-8B47-748F-9BFE0663A2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ext 1"/>
          <p:cNvSpPr>
            <a:spLocks noGrp="1"/>
          </p:cNvSpPr>
          <p:nvPr>
            <p:ph type="title" idx="103" hasCustomPrompt="1"/>
          </p:nvPr>
        </p:nvSpPr>
        <p:spPr>
          <a:xfrm>
            <a:off x="1828800" y="182880"/>
            <a:ext cx="6035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Stack &amp; Impact</a:t>
            </a:r>
            <a:endParaRPr lang="en-US" sz="3000" dirty="0"/>
          </a:p>
        </p:txBody>
      </p:sp>
      <p:sp>
        <p:nvSpPr>
          <p:cNvPr id="1048632" name="Tech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</p:spPr>
      </p:sp>
      <p:sp>
        <p:nvSpPr>
          <p:cNvPr id="1048633" name="Tech heading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Tools &amp; Technologies</a:t>
            </a:r>
            <a:endParaRPr lang="en-US" sz="1800" dirty="0"/>
          </a:p>
        </p:txBody>
      </p:sp>
      <p:sp>
        <p:nvSpPr>
          <p:cNvPr id="1048634" name="Tech text"/>
          <p:cNvSpPr txBox="1"/>
          <p:nvPr/>
        </p:nvSpPr>
        <p:spPr>
          <a:xfrm>
            <a:off x="640080" y="1991880"/>
            <a:ext cx="3584869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400" b="1" dirty="0"/>
              <a:t>Simulation:</a:t>
            </a:r>
            <a:endParaRPr lang="en-US" sz="14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SzPct val="100000"/>
            </a:pPr>
            <a:r>
              <a:rPr lang="en-US" sz="1400" b="1" dirty="0"/>
              <a:t>Programming:</a:t>
            </a:r>
            <a:endParaRPr lang="en-IN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r>
              <a:rPr lang="en-US" sz="1400" b="1" dirty="0"/>
              <a:t>Control logic</a:t>
            </a:r>
            <a:r>
              <a:rPr lang="en-US" sz="1400" dirty="0"/>
              <a:t>: </a:t>
            </a:r>
            <a:r>
              <a:rPr lang="en-IN" sz="1400" dirty="0"/>
              <a:t>Rule-based decision engine</a:t>
            </a:r>
            <a:r>
              <a:rPr lang="en-US" sz="1400" dirty="0"/>
              <a:t> </a:t>
            </a:r>
          </a:p>
        </p:txBody>
      </p:sp>
      <p:sp>
        <p:nvSpPr>
          <p:cNvPr id="1048635" name="Impact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</p:spPr>
      </p:sp>
      <p:sp>
        <p:nvSpPr>
          <p:cNvPr id="1048636" name="Impact heading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Impact &amp; Future Scope</a:t>
            </a:r>
            <a:endParaRPr lang="en-US" sz="1800" dirty="0"/>
          </a:p>
        </p:txBody>
      </p:sp>
      <p:sp>
        <p:nvSpPr>
          <p:cNvPr id="1048637" name="Impact text"/>
          <p:cNvSpPr txBox="1"/>
          <p:nvPr/>
        </p:nvSpPr>
        <p:spPr>
          <a:xfrm>
            <a:off x="4846320" y="1737360"/>
            <a:ext cx="36576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1400" b="1" dirty="0"/>
              <a:t>Potential Impact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Better allocation of green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Reduced unnecessary waiting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Emergency-vehicle priority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b="1" dirty="0"/>
              <a:t>Future 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Test on more complex road networks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Compare against fixed-time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Multi-intersection coordination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Explore real-world integration and deployment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/>
            <a:endParaRPr lang="en-IN" sz="1400" dirty="0"/>
          </a:p>
        </p:txBody>
      </p:sp>
      <p:sp>
        <p:nvSpPr>
          <p:cNvPr id="10486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9307F-1921-9740-2A42-90DE9A76DB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188" t="23991" r="5071" b="60408"/>
          <a:stretch>
            <a:fillRect/>
          </a:stretch>
        </p:blipFill>
        <p:spPr>
          <a:xfrm>
            <a:off x="2943165" y="3032157"/>
            <a:ext cx="1281784" cy="7514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4F7EC-2922-4476-998A-32AC396A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73" t="22370" r="31476" b="57630"/>
          <a:stretch>
            <a:fillRect/>
          </a:stretch>
        </p:blipFill>
        <p:spPr>
          <a:xfrm>
            <a:off x="1779448" y="3014421"/>
            <a:ext cx="864711" cy="803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A10D46-5E1D-53E4-9BDF-6C88DB36C4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2" t="23507" r="52738" b="58352"/>
          <a:stretch>
            <a:fillRect/>
          </a:stretch>
        </p:blipFill>
        <p:spPr>
          <a:xfrm>
            <a:off x="2930378" y="1857371"/>
            <a:ext cx="1307358" cy="751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58A177-B518-41B9-D566-B85D14624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5" t="21275" r="80599" b="52324"/>
          <a:stretch>
            <a:fillRect/>
          </a:stretch>
        </p:blipFill>
        <p:spPr>
          <a:xfrm>
            <a:off x="1779448" y="1737360"/>
            <a:ext cx="858830" cy="9914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066E9-CCA4-34F1-4719-55FDCD75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828800" y="182880"/>
            <a:ext cx="6035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 &amp; Conclusion</a:t>
            </a:r>
            <a:endParaRPr lang="en-US" sz="3000" dirty="0"/>
          </a:p>
        </p:txBody>
      </p:sp>
      <p:sp>
        <p:nvSpPr>
          <p:cNvPr id="1048643" name="Stat 1 card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1048644" name="Stat 1 value"/>
          <p:cNvSpPr txBox="1"/>
          <p:nvPr/>
        </p:nvSpPr>
        <p:spPr>
          <a:xfrm>
            <a:off x="471974" y="1518091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126 sec</a:t>
            </a:r>
            <a:endParaRPr lang="en-US" sz="3600" dirty="0"/>
          </a:p>
        </p:txBody>
      </p:sp>
      <p:sp>
        <p:nvSpPr>
          <p:cNvPr id="1048645" name="Stat 1 label"/>
          <p:cNvSpPr txBox="1"/>
          <p:nvPr/>
        </p:nvSpPr>
        <p:spPr>
          <a:xfrm>
            <a:off x="594360" y="203034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400" dirty="0"/>
              <a:t>Average waiting time</a:t>
            </a:r>
            <a:endParaRPr lang="en-US" sz="1400" dirty="0"/>
          </a:p>
        </p:txBody>
      </p:sp>
      <p:sp>
        <p:nvSpPr>
          <p:cNvPr id="1048646" name="Stat 2 card"/>
          <p:cNvSpPr/>
          <p:nvPr/>
        </p:nvSpPr>
        <p:spPr>
          <a:xfrm>
            <a:off x="329184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1048647" name="Stat 2 value"/>
          <p:cNvSpPr txBox="1"/>
          <p:nvPr/>
        </p:nvSpPr>
        <p:spPr>
          <a:xfrm>
            <a:off x="3291840" y="1520424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79 sec</a:t>
            </a:r>
            <a:endParaRPr lang="en-US" sz="3600" dirty="0"/>
          </a:p>
        </p:txBody>
      </p:sp>
      <p:sp>
        <p:nvSpPr>
          <p:cNvPr id="1048648" name="Stat 2 label"/>
          <p:cNvSpPr txBox="1"/>
          <p:nvPr/>
        </p:nvSpPr>
        <p:spPr>
          <a:xfrm>
            <a:off x="3429000" y="203034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400" dirty="0"/>
              <a:t>Average waiting time</a:t>
            </a:r>
            <a:endParaRPr lang="en-US" sz="1400" dirty="0"/>
          </a:p>
        </p:txBody>
      </p:sp>
      <p:sp>
        <p:nvSpPr>
          <p:cNvPr id="1048649" name="Stat 3 card"/>
          <p:cNvSpPr/>
          <p:nvPr/>
        </p:nvSpPr>
        <p:spPr>
          <a:xfrm>
            <a:off x="612648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1048650" name="Stat 3 value"/>
          <p:cNvSpPr txBox="1"/>
          <p:nvPr/>
        </p:nvSpPr>
        <p:spPr>
          <a:xfrm>
            <a:off x="6126480" y="1513426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37.3%</a:t>
            </a:r>
            <a:endParaRPr lang="en-US" sz="3600" dirty="0"/>
          </a:p>
        </p:txBody>
      </p:sp>
      <p:sp>
        <p:nvSpPr>
          <p:cNvPr id="1048651" name="Stat 3 label"/>
          <p:cNvSpPr txBox="1"/>
          <p:nvPr/>
        </p:nvSpPr>
        <p:spPr>
          <a:xfrm>
            <a:off x="6263640" y="203034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400" dirty="0"/>
              <a:t>Reduction in waiting time</a:t>
            </a:r>
            <a:endParaRPr lang="en-US" sz="1400" dirty="0"/>
          </a:p>
        </p:txBody>
      </p:sp>
      <p:sp>
        <p:nvSpPr>
          <p:cNvPr id="1048652" name="Conclusion card"/>
          <p:cNvSpPr/>
          <p:nvPr/>
        </p:nvSpPr>
        <p:spPr>
          <a:xfrm>
            <a:off x="457200" y="2788920"/>
            <a:ext cx="822960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</p:spPr>
      </p:sp>
      <p:sp>
        <p:nvSpPr>
          <p:cNvPr id="1048653" name="Conclusion heading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1048654" name="Conclusion text"/>
          <p:cNvSpPr txBox="1"/>
          <p:nvPr/>
        </p:nvSpPr>
        <p:spPr>
          <a:xfrm>
            <a:off x="640080" y="333756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1400" dirty="0"/>
              <a:t>The Smart Traffic Management System uses SUMO, </a:t>
            </a:r>
            <a:r>
              <a:rPr lang="en-IN" sz="1400" dirty="0" err="1"/>
              <a:t>TraCI</a:t>
            </a:r>
            <a:r>
              <a:rPr lang="en-IN" sz="1400" dirty="0"/>
              <a:t>, and Python to dynamically adjust traffic signal timings based on vehicle count, vehicle type, emergency vehicle and waiting time. The rule-based approach enables traffic-responsive signal control and prioritizes emergency vehicles within the simulated road network.</a:t>
            </a:r>
          </a:p>
        </p:txBody>
      </p:sp>
      <p:sp>
        <p:nvSpPr>
          <p:cNvPr id="10486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" name="Stat 1 label">
            <a:extLst>
              <a:ext uri="{FF2B5EF4-FFF2-40B4-BE49-F238E27FC236}">
                <a16:creationId xmlns:a16="http://schemas.microsoft.com/office/drawing/2014/main" id="{DB1F35BA-B146-B0DC-4A00-2E47523191FE}"/>
              </a:ext>
            </a:extLst>
          </p:cNvPr>
          <p:cNvSpPr txBox="1"/>
          <p:nvPr/>
        </p:nvSpPr>
        <p:spPr>
          <a:xfrm>
            <a:off x="610533" y="1243771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Fixed-time Control</a:t>
            </a:r>
          </a:p>
        </p:txBody>
      </p:sp>
      <p:sp>
        <p:nvSpPr>
          <p:cNvPr id="5" name="Stat 1 label">
            <a:extLst>
              <a:ext uri="{FF2B5EF4-FFF2-40B4-BE49-F238E27FC236}">
                <a16:creationId xmlns:a16="http://schemas.microsoft.com/office/drawing/2014/main" id="{588E4A87-D550-9D7B-052C-7B61496580E5}"/>
              </a:ext>
            </a:extLst>
          </p:cNvPr>
          <p:cNvSpPr txBox="1"/>
          <p:nvPr/>
        </p:nvSpPr>
        <p:spPr>
          <a:xfrm>
            <a:off x="3445173" y="1243771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Dynamic-time Control</a:t>
            </a:r>
          </a:p>
        </p:txBody>
      </p:sp>
      <p:sp>
        <p:nvSpPr>
          <p:cNvPr id="7" name="Stat 1 label">
            <a:extLst>
              <a:ext uri="{FF2B5EF4-FFF2-40B4-BE49-F238E27FC236}">
                <a16:creationId xmlns:a16="http://schemas.microsoft.com/office/drawing/2014/main" id="{0503AF22-1ED6-DE29-3BAD-020D20396102}"/>
              </a:ext>
            </a:extLst>
          </p:cNvPr>
          <p:cNvSpPr txBox="1"/>
          <p:nvPr/>
        </p:nvSpPr>
        <p:spPr>
          <a:xfrm>
            <a:off x="6274059" y="120271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Optimization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E99F93-74A7-96DD-FF25-A1BE4D3CCB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ext 1"/>
          <p:cNvSpPr>
            <a:spLocks noGrp="1"/>
          </p:cNvSpPr>
          <p:nvPr>
            <p:ph type="title" idx="103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2"/>
                </a:solidFill>
              </a:rPr>
              <a:t>Thank You</a:t>
            </a:r>
            <a:endParaRPr lang="en-US" sz="4000" dirty="0"/>
          </a:p>
        </p:txBody>
      </p:sp>
      <p:sp>
        <p:nvSpPr>
          <p:cNvPr id="1048660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3017520"/>
            <a:ext cx="76809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Questions &amp; Demo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22FDC-3346-8B77-4983-5B318864D2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56"/>
          <a:stretch>
            <a:fillRect/>
          </a:stretch>
        </p:blipFill>
        <p:spPr>
          <a:xfrm>
            <a:off x="294042" y="103177"/>
            <a:ext cx="2029148" cy="839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ject Expo">
  <a:themeElements>
    <a:clrScheme name="Project Expo">
      <a:dk1>
        <a:srgbClr val="1F2937"/>
      </a:dk1>
      <a:lt1>
        <a:srgbClr val="FFFFFF"/>
      </a:lt1>
      <a:dk2>
        <a:srgbClr val="1B3A6B"/>
      </a:dk2>
      <a:lt2>
        <a:srgbClr val="EEF2F9"/>
      </a:lt2>
      <a:accent1>
        <a:srgbClr val="1B3A6B"/>
      </a:accent1>
      <a:accent2>
        <a:srgbClr val="E8751A"/>
      </a:accent2>
      <a:accent3>
        <a:srgbClr val="3E6CB5"/>
      </a:accent3>
      <a:accent4>
        <a:srgbClr val="F4B183"/>
      </a:accent4>
      <a:accent5>
        <a:srgbClr val="6B7280"/>
      </a:accent5>
      <a:accent6>
        <a:srgbClr val="0F766E"/>
      </a:accent6>
      <a:hlink>
        <a:srgbClr val="1B3A6B"/>
      </a:hlink>
      <a:folHlink>
        <a:srgbClr val="6B7280"/>
      </a:folHlink>
    </a:clrScheme>
    <a:fontScheme name="Project Exp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ject Expo">
  <a:themeElements>
    <a:clrScheme name="Project Expo">
      <a:dk1>
        <a:srgbClr val="1F2937"/>
      </a:dk1>
      <a:lt1>
        <a:srgbClr val="FFFFFF"/>
      </a:lt1>
      <a:dk2>
        <a:srgbClr val="1B3A6B"/>
      </a:dk2>
      <a:lt2>
        <a:srgbClr val="EEF2F9"/>
      </a:lt2>
      <a:accent1>
        <a:srgbClr val="1B3A6B"/>
      </a:accent1>
      <a:accent2>
        <a:srgbClr val="E8751A"/>
      </a:accent2>
      <a:accent3>
        <a:srgbClr val="3E6CB5"/>
      </a:accent3>
      <a:accent4>
        <a:srgbClr val="F4B183"/>
      </a:accent4>
      <a:accent5>
        <a:srgbClr val="6B7280"/>
      </a:accent5>
      <a:accent6>
        <a:srgbClr val="0F766E"/>
      </a:accent6>
      <a:hlink>
        <a:srgbClr val="1B3A6B"/>
      </a:hlink>
      <a:folHlink>
        <a:srgbClr val="6B7280"/>
      </a:folHlink>
    </a:clrScheme>
    <a:fontScheme name="Project Exp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447</Words>
  <Application>Microsoft Office PowerPoint</Application>
  <PresentationFormat>On-screen Show (16:9)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Project Expo</vt:lpstr>
      <vt:lpstr>Smart Traffic Management System Dynamic Traffic Signal Control</vt:lpstr>
      <vt:lpstr>Problem Statement</vt:lpstr>
      <vt:lpstr>Project Idea &amp; Objectives</vt:lpstr>
      <vt:lpstr>Prototype &amp; Working</vt:lpstr>
      <vt:lpstr>Technology Stack &amp; Impact</vt:lpstr>
      <vt:lpstr>Results &amp; 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Expo Template</dc:title>
  <dc:creator>PptxGenJS</dc:creator>
  <cp:lastModifiedBy>Shrutika Patil</cp:lastModifiedBy>
  <cp:revision>4</cp:revision>
  <dcterms:created xsi:type="dcterms:W3CDTF">2026-10-04T20:33:22Z</dcterms:created>
  <dcterms:modified xsi:type="dcterms:W3CDTF">2026-10-11T05:39:38Z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7663da612bb844d0b163053856f3692c_23</vt:lpwstr>
  </property>
</Properties>
</file>