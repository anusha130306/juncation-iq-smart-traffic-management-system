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lkatra Bold" panose="020B0604020202020204" charset="0"/>
      <p:regular r:id="rId15"/>
    </p:embeddedFont>
    <p:embeddedFont>
      <p:font typeface="Canva Sans" panose="020B0604020202020204" charset="0"/>
      <p:regular r:id="rId16"/>
    </p:embeddedFont>
    <p:embeddedFont>
      <p:font typeface="Canva Sans Bold" panose="020B0604020202020204" charset="0"/>
      <p:regular r:id="rId17"/>
    </p:embeddedFont>
    <p:embeddedFont>
      <p:font typeface="DM Sans" pitchFamily="2" charset="0"/>
      <p:regular r:id="rId18"/>
    </p:embeddedFont>
    <p:embeddedFont>
      <p:font typeface="DM Sans Bold" panose="020B0604020202020204" charset="0"/>
      <p:regular r:id="rId19"/>
    </p:embeddedFont>
    <p:embeddedFont>
      <p:font typeface="Gagalin" panose="020B0604020202020204" charset="0"/>
      <p:regular r:id="rId20"/>
    </p:embeddedFont>
    <p:embeddedFont>
      <p:font typeface="Lexend Peta"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285" y="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5.jpe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eg"/><Relationship Id="rId7"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sv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15.pn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3" Type="http://schemas.openxmlformats.org/officeDocument/2006/relationships/image" Target="../media/image1.jpe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28.svg"/><Relationship Id="rId5" Type="http://schemas.openxmlformats.org/officeDocument/2006/relationships/image" Target="../media/image20.png"/><Relationship Id="rId10" Type="http://schemas.openxmlformats.org/officeDocument/2006/relationships/image" Target="../media/image27.svg"/><Relationship Id="rId4" Type="http://schemas.openxmlformats.org/officeDocument/2006/relationships/image" Target="../media/image23.svg"/><Relationship Id="rId9" Type="http://schemas.openxmlformats.org/officeDocument/2006/relationships/image" Target="../media/image26.svg"/></Relationships>
</file>

<file path=ppt/slides/_rels/slide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image" Target="../media/image1.jpeg"/><Relationship Id="rId7"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image" Target="../media/image34.png"/><Relationship Id="rId10" Type="http://schemas.openxmlformats.org/officeDocument/2006/relationships/image" Target="../media/image39.jpeg"/><Relationship Id="rId4" Type="http://schemas.openxmlformats.org/officeDocument/2006/relationships/image" Target="../media/image33.svg"/><Relationship Id="rId9" Type="http://schemas.openxmlformats.org/officeDocument/2006/relationships/image" Target="../media/image38.jpeg"/></Relationships>
</file>

<file path=ppt/slides/_rels/slide9.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1.jpeg"/><Relationship Id="rId7" Type="http://schemas.openxmlformats.org/officeDocument/2006/relationships/hyperlink" Target="https://docs.google.com/spreadsheets/d/1MIOK2YHYXsUPsmS8F9L0k2IU9U0TAdR_aZ0GRFDmiNU/copy#gid=224893433" TargetMode="External"/><Relationship Id="rId12"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45.png"/><Relationship Id="rId5" Type="http://schemas.openxmlformats.org/officeDocument/2006/relationships/image" Target="../media/image41.png"/><Relationship Id="rId10" Type="http://schemas.openxmlformats.org/officeDocument/2006/relationships/image" Target="../media/image44.svg"/><Relationship Id="rId4" Type="http://schemas.openxmlformats.org/officeDocument/2006/relationships/image" Target="../media/image40.svg"/><Relationship Id="rId9" Type="http://schemas.openxmlformats.org/officeDocument/2006/relationships/image" Target="../media/image43.jpeg"/></Relationships>
</file>

<file path=ppt/slides/_rels/slide10.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image" Target="../media/image1.jpeg"/><Relationship Id="rId7" Type="http://schemas.openxmlformats.org/officeDocument/2006/relationships/image" Target="../media/image47.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4.svg"/><Relationship Id="rId10" Type="http://schemas.openxmlformats.org/officeDocument/2006/relationships/image" Target="../media/image50.svg"/><Relationship Id="rId4" Type="http://schemas.openxmlformats.org/officeDocument/2006/relationships/image" Target="../media/image40.svg"/><Relationship Id="rId9" Type="http://schemas.openxmlformats.org/officeDocument/2006/relationships/image" Target="../media/image49.svg"/></Relationships>
</file>

<file path=ppt/slides/_rels/slide1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jpeg"/><Relationship Id="rId7" Type="http://schemas.openxmlformats.org/officeDocument/2006/relationships/image" Target="../media/image52.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41.png"/><Relationship Id="rId4" Type="http://schemas.openxmlformats.org/officeDocument/2006/relationships/image" Target="../media/image40.svg"/><Relationship Id="rId9" Type="http://schemas.openxmlformats.org/officeDocument/2006/relationships/image" Target="../media/image54.sv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jpeg"/><Relationship Id="rId7" Type="http://schemas.openxmlformats.org/officeDocument/2006/relationships/image" Target="../media/image5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5.svg"/><Relationship Id="rId4" Type="http://schemas.openxmlformats.org/officeDocument/2006/relationships/image" Target="../media/image40.svg"/><Relationship Id="rId9" Type="http://schemas.openxmlformats.org/officeDocument/2006/relationships/image" Target="../media/image5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39000"/>
              </a:blip>
              <a:stretch>
                <a:fillRect/>
              </a:stretch>
            </a:blipFill>
          </p:spPr>
        </p:sp>
      </p:grpSp>
      <p:sp>
        <p:nvSpPr>
          <p:cNvPr id="4" name="Freeform 4"/>
          <p:cNvSpPr/>
          <p:nvPr/>
        </p:nvSpPr>
        <p:spPr>
          <a:xfrm>
            <a:off x="16004343" y="9528800"/>
            <a:ext cx="2370868" cy="2717568"/>
          </a:xfrm>
          <a:custGeom>
            <a:avLst/>
            <a:gdLst/>
            <a:ahLst/>
            <a:cxnLst/>
            <a:rect l="l" t="t" r="r" b="b"/>
            <a:pathLst>
              <a:path w="2370868" h="2717568">
                <a:moveTo>
                  <a:pt x="0" y="0"/>
                </a:moveTo>
                <a:lnTo>
                  <a:pt x="2370868" y="0"/>
                </a:lnTo>
                <a:lnTo>
                  <a:pt x="2370868" y="2717569"/>
                </a:lnTo>
                <a:lnTo>
                  <a:pt x="0" y="271756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2153736" y="-859335"/>
            <a:ext cx="6364872" cy="2752030"/>
          </a:xfrm>
          <a:custGeom>
            <a:avLst/>
            <a:gdLst/>
            <a:ahLst/>
            <a:cxnLst/>
            <a:rect l="l" t="t" r="r" b="b"/>
            <a:pathLst>
              <a:path w="6364872" h="2752030">
                <a:moveTo>
                  <a:pt x="0" y="0"/>
                </a:moveTo>
                <a:lnTo>
                  <a:pt x="6364872" y="0"/>
                </a:lnTo>
                <a:lnTo>
                  <a:pt x="6364872" y="2752030"/>
                </a:lnTo>
                <a:lnTo>
                  <a:pt x="0" y="275203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0097117" y="3712604"/>
            <a:ext cx="9174642" cy="5610596"/>
          </a:xfrm>
          <a:custGeom>
            <a:avLst/>
            <a:gdLst/>
            <a:ahLst/>
            <a:cxnLst/>
            <a:rect l="l" t="t" r="r" b="b"/>
            <a:pathLst>
              <a:path w="9174642" h="5610596">
                <a:moveTo>
                  <a:pt x="0" y="0"/>
                </a:moveTo>
                <a:lnTo>
                  <a:pt x="9174642" y="0"/>
                </a:lnTo>
                <a:lnTo>
                  <a:pt x="9174642" y="5610596"/>
                </a:lnTo>
                <a:lnTo>
                  <a:pt x="0" y="5610596"/>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5800973" y="7049176"/>
            <a:ext cx="63151" cy="33452"/>
            <a:chOff x="0" y="0"/>
            <a:chExt cx="84201" cy="44602"/>
          </a:xfrm>
        </p:grpSpPr>
        <p:sp>
          <p:nvSpPr>
            <p:cNvPr id="8" name="Freeform 8"/>
            <p:cNvSpPr/>
            <p:nvPr/>
          </p:nvSpPr>
          <p:spPr>
            <a:xfrm>
              <a:off x="0" y="0"/>
              <a:ext cx="83820" cy="44196"/>
            </a:xfrm>
            <a:custGeom>
              <a:avLst/>
              <a:gdLst/>
              <a:ahLst/>
              <a:cxnLst/>
              <a:rect l="l" t="t" r="r" b="b"/>
              <a:pathLst>
                <a:path w="83820" h="44196">
                  <a:moveTo>
                    <a:pt x="0" y="0"/>
                  </a:moveTo>
                  <a:lnTo>
                    <a:pt x="0" y="3937"/>
                  </a:lnTo>
                  <a:cubicBezTo>
                    <a:pt x="0" y="24257"/>
                    <a:pt x="20320" y="44196"/>
                    <a:pt x="44577" y="44196"/>
                  </a:cubicBezTo>
                  <a:cubicBezTo>
                    <a:pt x="68453" y="44196"/>
                    <a:pt x="83820" y="24257"/>
                    <a:pt x="83820" y="0"/>
                  </a:cubicBezTo>
                  <a:close/>
                </a:path>
              </a:pathLst>
            </a:custGeom>
            <a:solidFill>
              <a:srgbClr val="EDEDED"/>
            </a:solidFill>
          </p:spPr>
        </p:sp>
      </p:grpSp>
      <p:grpSp>
        <p:nvGrpSpPr>
          <p:cNvPr id="9" name="Group 9"/>
          <p:cNvGrpSpPr/>
          <p:nvPr/>
        </p:nvGrpSpPr>
        <p:grpSpPr>
          <a:xfrm>
            <a:off x="146926" y="3535432"/>
            <a:ext cx="12235918" cy="5535093"/>
            <a:chOff x="0" y="0"/>
            <a:chExt cx="16314558" cy="7380124"/>
          </a:xfrm>
        </p:grpSpPr>
        <p:sp>
          <p:nvSpPr>
            <p:cNvPr id="10" name="Freeform 10"/>
            <p:cNvSpPr/>
            <p:nvPr/>
          </p:nvSpPr>
          <p:spPr>
            <a:xfrm>
              <a:off x="0" y="0"/>
              <a:ext cx="16314555" cy="7380129"/>
            </a:xfrm>
            <a:custGeom>
              <a:avLst/>
              <a:gdLst/>
              <a:ahLst/>
              <a:cxnLst/>
              <a:rect l="l" t="t" r="r" b="b"/>
              <a:pathLst>
                <a:path w="16314555" h="7380129">
                  <a:moveTo>
                    <a:pt x="0" y="0"/>
                  </a:moveTo>
                  <a:lnTo>
                    <a:pt x="16314555" y="0"/>
                  </a:lnTo>
                  <a:lnTo>
                    <a:pt x="16314555" y="7380129"/>
                  </a:lnTo>
                  <a:lnTo>
                    <a:pt x="0" y="7380129"/>
                  </a:lnTo>
                  <a:close/>
                </a:path>
              </a:pathLst>
            </a:custGeom>
            <a:blipFill>
              <a:blip r:embed="rId7">
                <a:alphaModFix amt="0"/>
              </a:blip>
              <a:stretch>
                <a:fillRect l="-8181" r="14488" b="19286"/>
              </a:stretch>
            </a:blipFill>
            <a:ln cap="sq">
              <a:noFill/>
              <a:prstDash val="solid"/>
              <a:miter/>
            </a:ln>
          </p:spPr>
        </p:sp>
        <p:sp>
          <p:nvSpPr>
            <p:cNvPr id="11" name="TextBox 11"/>
            <p:cNvSpPr txBox="1"/>
            <p:nvPr/>
          </p:nvSpPr>
          <p:spPr>
            <a:xfrm>
              <a:off x="0" y="-161925"/>
              <a:ext cx="16314558" cy="7542049"/>
            </a:xfrm>
            <a:prstGeom prst="rect">
              <a:avLst/>
            </a:prstGeom>
          </p:spPr>
          <p:txBody>
            <a:bodyPr lIns="0" tIns="0" rIns="0" bIns="0" rtlCol="0" anchor="b"/>
            <a:lstStyle/>
            <a:p>
              <a:pPr algn="ctr">
                <a:lnSpc>
                  <a:spcPts val="8003"/>
                </a:lnSpc>
              </a:pPr>
              <a:r>
                <a:rPr lang="en-US" sz="5300" spc="333">
                  <a:solidFill>
                    <a:srgbClr val="191919"/>
                  </a:solidFill>
                  <a:latin typeface="Gagalin"/>
                  <a:ea typeface="Gagalin"/>
                  <a:cs typeface="Gagalin"/>
                  <a:sym typeface="Gagalin"/>
                </a:rPr>
                <a:t>SMART TRAFFIC MANAGEMENT SYSTEM</a:t>
              </a:r>
            </a:p>
            <a:p>
              <a:pPr algn="ctr">
                <a:lnSpc>
                  <a:spcPts val="8003"/>
                </a:lnSpc>
              </a:pPr>
              <a:r>
                <a:rPr lang="en-US" sz="5300" spc="333">
                  <a:solidFill>
                    <a:srgbClr val="191919"/>
                  </a:solidFill>
                  <a:latin typeface="Gagalin"/>
                  <a:ea typeface="Gagalin"/>
                  <a:cs typeface="Gagalin"/>
                  <a:sym typeface="Gagalin"/>
                </a:rPr>
                <a:t>FOR </a:t>
              </a:r>
            </a:p>
            <a:p>
              <a:pPr algn="ctr">
                <a:lnSpc>
                  <a:spcPts val="8003"/>
                </a:lnSpc>
              </a:pPr>
              <a:r>
                <a:rPr lang="en-US" sz="5300" spc="333">
                  <a:solidFill>
                    <a:srgbClr val="191919"/>
                  </a:solidFill>
                  <a:latin typeface="Gagalin"/>
                  <a:ea typeface="Gagalin"/>
                  <a:cs typeface="Gagalin"/>
                  <a:sym typeface="Gagalin"/>
                </a:rPr>
                <a:t>URBAN CONGESTION CONTROL</a:t>
              </a:r>
            </a:p>
            <a:p>
              <a:pPr algn="ctr">
                <a:lnSpc>
                  <a:spcPts val="3839"/>
                </a:lnSpc>
              </a:pPr>
              <a:endParaRPr lang="en-US" sz="5300" spc="333">
                <a:solidFill>
                  <a:srgbClr val="191919"/>
                </a:solidFill>
                <a:latin typeface="Gagalin"/>
                <a:ea typeface="Gagalin"/>
                <a:cs typeface="Gagalin"/>
                <a:sym typeface="Gagalin"/>
              </a:endParaRPr>
            </a:p>
            <a:p>
              <a:pPr algn="ctr">
                <a:lnSpc>
                  <a:spcPts val="3839"/>
                </a:lnSpc>
              </a:pPr>
              <a:endParaRPr lang="en-US" sz="5300" spc="333">
                <a:solidFill>
                  <a:srgbClr val="191919"/>
                </a:solidFill>
                <a:latin typeface="Gagalin"/>
                <a:ea typeface="Gagalin"/>
                <a:cs typeface="Gagalin"/>
                <a:sym typeface="Gagalin"/>
              </a:endParaRPr>
            </a:p>
            <a:p>
              <a:pPr algn="ctr">
                <a:lnSpc>
                  <a:spcPts val="2879"/>
                </a:lnSpc>
              </a:pPr>
              <a:r>
                <a:rPr lang="en-US" sz="3000">
                  <a:solidFill>
                    <a:srgbClr val="191919"/>
                  </a:solidFill>
                  <a:latin typeface="Gagalin"/>
                  <a:ea typeface="Gagalin"/>
                  <a:cs typeface="Gagalin"/>
                  <a:sym typeface="Gagalin"/>
                </a:rPr>
                <a:t>Course - Coordinator : Mrs. Yogita Narule</a:t>
              </a:r>
            </a:p>
            <a:p>
              <a:pPr algn="ctr">
                <a:lnSpc>
                  <a:spcPts val="1439"/>
                </a:lnSpc>
              </a:pPr>
              <a:endParaRPr lang="en-US" sz="3000">
                <a:solidFill>
                  <a:srgbClr val="191919"/>
                </a:solidFill>
                <a:latin typeface="Gagalin"/>
                <a:ea typeface="Gagalin"/>
                <a:cs typeface="Gagalin"/>
                <a:sym typeface="Gagalin"/>
              </a:endParaRPr>
            </a:p>
            <a:p>
              <a:pPr algn="ctr">
                <a:lnSpc>
                  <a:spcPts val="2879"/>
                </a:lnSpc>
              </a:pPr>
              <a:r>
                <a:rPr lang="en-US" sz="3000">
                  <a:solidFill>
                    <a:srgbClr val="191919"/>
                  </a:solidFill>
                  <a:latin typeface="Gagalin"/>
                  <a:ea typeface="Gagalin"/>
                  <a:cs typeface="Gagalin"/>
                  <a:sym typeface="Gagalin"/>
                </a:rPr>
                <a:t>PBL Evaluator : Mr. Sanjay Patil</a:t>
              </a:r>
            </a:p>
          </p:txBody>
        </p:sp>
      </p:grpSp>
      <p:grpSp>
        <p:nvGrpSpPr>
          <p:cNvPr id="12" name="Group 12"/>
          <p:cNvGrpSpPr/>
          <p:nvPr/>
        </p:nvGrpSpPr>
        <p:grpSpPr>
          <a:xfrm>
            <a:off x="16621318" y="8355088"/>
            <a:ext cx="1568348" cy="1474594"/>
            <a:chOff x="0" y="0"/>
            <a:chExt cx="2091131" cy="1966125"/>
          </a:xfrm>
        </p:grpSpPr>
        <p:sp>
          <p:nvSpPr>
            <p:cNvPr id="13" name="Freeform 13"/>
            <p:cNvSpPr/>
            <p:nvPr/>
          </p:nvSpPr>
          <p:spPr>
            <a:xfrm>
              <a:off x="0" y="0"/>
              <a:ext cx="2091182" cy="1966087"/>
            </a:xfrm>
            <a:custGeom>
              <a:avLst/>
              <a:gdLst/>
              <a:ahLst/>
              <a:cxnLst/>
              <a:rect l="l" t="t" r="r" b="b"/>
              <a:pathLst>
                <a:path w="2091182" h="1966087">
                  <a:moveTo>
                    <a:pt x="0" y="0"/>
                  </a:moveTo>
                  <a:lnTo>
                    <a:pt x="2091182" y="0"/>
                  </a:lnTo>
                  <a:lnTo>
                    <a:pt x="2091182" y="1966087"/>
                  </a:lnTo>
                  <a:lnTo>
                    <a:pt x="0" y="1966087"/>
                  </a:lnTo>
                  <a:lnTo>
                    <a:pt x="0" y="0"/>
                  </a:lnTo>
                  <a:close/>
                </a:path>
              </a:pathLst>
            </a:custGeom>
            <a:blipFill>
              <a:blip r:embed="rId8"/>
              <a:stretch>
                <a:fillRect r="2" b="-3"/>
              </a:stretch>
            </a:blipFill>
          </p:spPr>
        </p:sp>
      </p:grpSp>
      <p:grpSp>
        <p:nvGrpSpPr>
          <p:cNvPr id="14" name="Group 14"/>
          <p:cNvGrpSpPr/>
          <p:nvPr/>
        </p:nvGrpSpPr>
        <p:grpSpPr>
          <a:xfrm>
            <a:off x="14505282" y="2764688"/>
            <a:ext cx="1568348" cy="7522312"/>
            <a:chOff x="0" y="0"/>
            <a:chExt cx="2091131" cy="10029749"/>
          </a:xfrm>
        </p:grpSpPr>
        <p:sp>
          <p:nvSpPr>
            <p:cNvPr id="15" name="Freeform 15"/>
            <p:cNvSpPr/>
            <p:nvPr/>
          </p:nvSpPr>
          <p:spPr>
            <a:xfrm>
              <a:off x="0" y="0"/>
              <a:ext cx="2091182" cy="10029698"/>
            </a:xfrm>
            <a:custGeom>
              <a:avLst/>
              <a:gdLst/>
              <a:ahLst/>
              <a:cxnLst/>
              <a:rect l="l" t="t" r="r" b="b"/>
              <a:pathLst>
                <a:path w="2091182" h="10029698">
                  <a:moveTo>
                    <a:pt x="0" y="0"/>
                  </a:moveTo>
                  <a:lnTo>
                    <a:pt x="2091182" y="0"/>
                  </a:lnTo>
                  <a:lnTo>
                    <a:pt x="2091182" y="10029698"/>
                  </a:lnTo>
                  <a:lnTo>
                    <a:pt x="0" y="10029698"/>
                  </a:lnTo>
                  <a:lnTo>
                    <a:pt x="0" y="0"/>
                  </a:lnTo>
                  <a:close/>
                </a:path>
              </a:pathLst>
            </a:custGeom>
            <a:blipFill>
              <a:blip r:embed="rId9"/>
              <a:stretch>
                <a:fillRect r="1"/>
              </a:stretch>
            </a:blipFill>
          </p:spPr>
        </p:sp>
      </p:grpSp>
      <p:grpSp>
        <p:nvGrpSpPr>
          <p:cNvPr id="16" name="Group 16"/>
          <p:cNvGrpSpPr/>
          <p:nvPr/>
        </p:nvGrpSpPr>
        <p:grpSpPr>
          <a:xfrm>
            <a:off x="12171448" y="5143500"/>
            <a:ext cx="1786147" cy="5087703"/>
            <a:chOff x="0" y="0"/>
            <a:chExt cx="2381529" cy="6783603"/>
          </a:xfrm>
        </p:grpSpPr>
        <p:grpSp>
          <p:nvGrpSpPr>
            <p:cNvPr id="17" name="Group 17"/>
            <p:cNvGrpSpPr/>
            <p:nvPr/>
          </p:nvGrpSpPr>
          <p:grpSpPr>
            <a:xfrm>
              <a:off x="0" y="0"/>
              <a:ext cx="2381529" cy="6783603"/>
              <a:chOff x="0" y="0"/>
              <a:chExt cx="2381529" cy="6783603"/>
            </a:xfrm>
          </p:grpSpPr>
          <p:sp>
            <p:nvSpPr>
              <p:cNvPr id="18" name="Freeform 18"/>
              <p:cNvSpPr/>
              <p:nvPr/>
            </p:nvSpPr>
            <p:spPr>
              <a:xfrm>
                <a:off x="0" y="0"/>
                <a:ext cx="2381504" cy="6783578"/>
              </a:xfrm>
              <a:custGeom>
                <a:avLst/>
                <a:gdLst/>
                <a:ahLst/>
                <a:cxnLst/>
                <a:rect l="l" t="t" r="r" b="b"/>
                <a:pathLst>
                  <a:path w="2381504" h="6783578">
                    <a:moveTo>
                      <a:pt x="0" y="0"/>
                    </a:moveTo>
                    <a:lnTo>
                      <a:pt x="2381504" y="0"/>
                    </a:lnTo>
                    <a:lnTo>
                      <a:pt x="2381504" y="6783578"/>
                    </a:lnTo>
                    <a:lnTo>
                      <a:pt x="0" y="6783578"/>
                    </a:lnTo>
                    <a:lnTo>
                      <a:pt x="0" y="0"/>
                    </a:lnTo>
                    <a:close/>
                  </a:path>
                </a:pathLst>
              </a:custGeom>
              <a:blipFill>
                <a:blip r:embed="rId10"/>
                <a:stretch>
                  <a:fillRect r="-1"/>
                </a:stretch>
              </a:blipFill>
            </p:spPr>
          </p:sp>
        </p:grpSp>
        <p:sp>
          <p:nvSpPr>
            <p:cNvPr id="19" name="Freeform 19"/>
            <p:cNvSpPr/>
            <p:nvPr/>
          </p:nvSpPr>
          <p:spPr>
            <a:xfrm>
              <a:off x="373414" y="403172"/>
              <a:ext cx="1634701" cy="1357907"/>
            </a:xfrm>
            <a:custGeom>
              <a:avLst/>
              <a:gdLst/>
              <a:ahLst/>
              <a:cxnLst/>
              <a:rect l="l" t="t" r="r" b="b"/>
              <a:pathLst>
                <a:path w="1634701" h="1357907">
                  <a:moveTo>
                    <a:pt x="0" y="0"/>
                  </a:moveTo>
                  <a:lnTo>
                    <a:pt x="1634701" y="0"/>
                  </a:lnTo>
                  <a:lnTo>
                    <a:pt x="1634701" y="1357908"/>
                  </a:lnTo>
                  <a:lnTo>
                    <a:pt x="0" y="1357908"/>
                  </a:lnTo>
                  <a:lnTo>
                    <a:pt x="0" y="0"/>
                  </a:lnTo>
                  <a:close/>
                </a:path>
              </a:pathLst>
            </a:custGeom>
            <a:blipFill>
              <a:blip>
                <a:extLst>
                  <a:ext uri="{96DAC541-7B7A-43D3-8B79-37D633B846F1}">
                    <asvg:svgBlip xmlns:asvg="http://schemas.microsoft.com/office/drawing/2016/SVG/main" r:embed="rId11"/>
                  </a:ext>
                </a:extLst>
              </a:blip>
              <a:stretch>
                <a:fillRect/>
              </a:stretch>
            </a:blipFill>
          </p:spPr>
        </p:sp>
      </p:grpSp>
      <p:grpSp>
        <p:nvGrpSpPr>
          <p:cNvPr id="20" name="Group 20"/>
          <p:cNvGrpSpPr/>
          <p:nvPr/>
        </p:nvGrpSpPr>
        <p:grpSpPr>
          <a:xfrm>
            <a:off x="4211136" y="522984"/>
            <a:ext cx="9219360" cy="3012448"/>
            <a:chOff x="0" y="0"/>
            <a:chExt cx="1448761" cy="473386"/>
          </a:xfrm>
        </p:grpSpPr>
        <p:sp>
          <p:nvSpPr>
            <p:cNvPr id="21" name="Freeform 21"/>
            <p:cNvSpPr/>
            <p:nvPr/>
          </p:nvSpPr>
          <p:spPr>
            <a:xfrm>
              <a:off x="0" y="0"/>
              <a:ext cx="1448761" cy="473386"/>
            </a:xfrm>
            <a:custGeom>
              <a:avLst/>
              <a:gdLst/>
              <a:ahLst/>
              <a:cxnLst/>
              <a:rect l="l" t="t" r="r" b="b"/>
              <a:pathLst>
                <a:path w="1448761" h="473386">
                  <a:moveTo>
                    <a:pt x="0" y="0"/>
                  </a:moveTo>
                  <a:lnTo>
                    <a:pt x="1448761" y="0"/>
                  </a:lnTo>
                  <a:lnTo>
                    <a:pt x="1448761" y="473386"/>
                  </a:lnTo>
                  <a:lnTo>
                    <a:pt x="0" y="473386"/>
                  </a:lnTo>
                  <a:close/>
                </a:path>
              </a:pathLst>
            </a:custGeom>
            <a:blipFill>
              <a:blip r:embed="rId12"/>
              <a:stretch>
                <a:fillRect t="-34327" b="-36482"/>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Freeform 4"/>
          <p:cNvSpPr/>
          <p:nvPr/>
        </p:nvSpPr>
        <p:spPr>
          <a:xfrm>
            <a:off x="-893026" y="-1682058"/>
            <a:ext cx="19549803" cy="11969058"/>
          </a:xfrm>
          <a:custGeom>
            <a:avLst/>
            <a:gdLst/>
            <a:ahLst/>
            <a:cxnLst/>
            <a:rect l="l" t="t" r="r" b="b"/>
            <a:pathLst>
              <a:path w="19549803" h="11969058">
                <a:moveTo>
                  <a:pt x="0" y="0"/>
                </a:moveTo>
                <a:lnTo>
                  <a:pt x="19549803" y="0"/>
                </a:lnTo>
                <a:lnTo>
                  <a:pt x="19549803" y="11969058"/>
                </a:lnTo>
                <a:lnTo>
                  <a:pt x="0" y="1196905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125879" y="708712"/>
            <a:ext cx="9288791" cy="828675"/>
          </a:xfrm>
          <a:prstGeom prst="rect">
            <a:avLst/>
          </a:prstGeom>
        </p:spPr>
        <p:txBody>
          <a:bodyPr lIns="0" tIns="0" rIns="0" bIns="0" rtlCol="0" anchor="t">
            <a:spAutoFit/>
          </a:bodyPr>
          <a:lstStyle/>
          <a:p>
            <a:pPr algn="l">
              <a:lnSpc>
                <a:spcPts val="6599"/>
              </a:lnSpc>
            </a:pPr>
            <a:r>
              <a:rPr lang="en-US" sz="5499" dirty="0">
                <a:solidFill>
                  <a:srgbClr val="000000"/>
                </a:solidFill>
                <a:latin typeface="Lexend Peta"/>
                <a:ea typeface="Lexend Peta"/>
                <a:cs typeface="Lexend Peta"/>
                <a:sym typeface="Lexend Peta"/>
              </a:rPr>
              <a:t>Table of contents</a:t>
            </a:r>
          </a:p>
        </p:txBody>
      </p:sp>
      <p:grpSp>
        <p:nvGrpSpPr>
          <p:cNvPr id="6" name="Group 6"/>
          <p:cNvGrpSpPr/>
          <p:nvPr/>
        </p:nvGrpSpPr>
        <p:grpSpPr>
          <a:xfrm>
            <a:off x="839923" y="2022908"/>
            <a:ext cx="2846139" cy="2017240"/>
            <a:chOff x="0" y="0"/>
            <a:chExt cx="3794852" cy="2689653"/>
          </a:xfrm>
        </p:grpSpPr>
        <p:grpSp>
          <p:nvGrpSpPr>
            <p:cNvPr id="7" name="Group 7"/>
            <p:cNvGrpSpPr/>
            <p:nvPr/>
          </p:nvGrpSpPr>
          <p:grpSpPr>
            <a:xfrm>
              <a:off x="782292" y="0"/>
              <a:ext cx="1697427" cy="1439875"/>
              <a:chOff x="0" y="0"/>
              <a:chExt cx="1697427" cy="1439875"/>
            </a:xfrm>
          </p:grpSpPr>
          <p:sp>
            <p:nvSpPr>
              <p:cNvPr id="8" name="Freeform 8"/>
              <p:cNvSpPr/>
              <p:nvPr/>
            </p:nvSpPr>
            <p:spPr>
              <a:xfrm>
                <a:off x="0" y="0"/>
                <a:ext cx="1697424" cy="1439878"/>
              </a:xfrm>
              <a:custGeom>
                <a:avLst/>
                <a:gdLst/>
                <a:ahLst/>
                <a:cxnLst/>
                <a:rect l="l" t="t" r="r" b="b"/>
                <a:pathLst>
                  <a:path w="1697424" h="1439878">
                    <a:moveTo>
                      <a:pt x="0" y="0"/>
                    </a:moveTo>
                    <a:lnTo>
                      <a:pt x="1697424" y="0"/>
                    </a:lnTo>
                    <a:lnTo>
                      <a:pt x="1697424" y="1439878"/>
                    </a:lnTo>
                    <a:lnTo>
                      <a:pt x="0" y="1439878"/>
                    </a:lnTo>
                    <a:close/>
                  </a:path>
                </a:pathLst>
              </a:custGeom>
              <a:blipFill>
                <a:blip r:embed="rId5">
                  <a:alphaModFix amt="0"/>
                </a:blip>
                <a:stretch>
                  <a:fillRect l="-32509" r="-47931" b="17104"/>
                </a:stretch>
              </a:blipFill>
            </p:spPr>
          </p:sp>
          <p:sp>
            <p:nvSpPr>
              <p:cNvPr id="9" name="TextBox 9"/>
              <p:cNvSpPr txBox="1"/>
              <p:nvPr/>
            </p:nvSpPr>
            <p:spPr>
              <a:xfrm>
                <a:off x="0" y="9525"/>
                <a:ext cx="1697427" cy="1430350"/>
              </a:xfrm>
              <a:prstGeom prst="rect">
                <a:avLst/>
              </a:prstGeom>
            </p:spPr>
            <p:txBody>
              <a:bodyPr lIns="0" tIns="0" rIns="0" bIns="0" rtlCol="0" anchor="b"/>
              <a:lstStyle/>
              <a:p>
                <a:pPr algn="ctr">
                  <a:lnSpc>
                    <a:spcPts val="5759"/>
                  </a:lnSpc>
                </a:pPr>
                <a:r>
                  <a:rPr lang="en-US" sz="4800">
                    <a:solidFill>
                      <a:srgbClr val="BF4428"/>
                    </a:solidFill>
                    <a:latin typeface="Lexend Peta"/>
                    <a:ea typeface="Lexend Peta"/>
                    <a:cs typeface="Lexend Peta"/>
                    <a:sym typeface="Lexend Peta"/>
                  </a:rPr>
                  <a:t>01</a:t>
                </a:r>
              </a:p>
            </p:txBody>
          </p:sp>
        </p:grpSp>
        <p:grpSp>
          <p:nvGrpSpPr>
            <p:cNvPr id="10" name="Group 10"/>
            <p:cNvGrpSpPr/>
            <p:nvPr/>
          </p:nvGrpSpPr>
          <p:grpSpPr>
            <a:xfrm>
              <a:off x="0" y="1527360"/>
              <a:ext cx="3794852" cy="1162294"/>
              <a:chOff x="0" y="0"/>
              <a:chExt cx="3794852" cy="1162294"/>
            </a:xfrm>
          </p:grpSpPr>
          <p:sp>
            <p:nvSpPr>
              <p:cNvPr id="11" name="Freeform 11"/>
              <p:cNvSpPr/>
              <p:nvPr/>
            </p:nvSpPr>
            <p:spPr>
              <a:xfrm>
                <a:off x="0" y="0"/>
                <a:ext cx="3794853" cy="1162296"/>
              </a:xfrm>
              <a:custGeom>
                <a:avLst/>
                <a:gdLst/>
                <a:ahLst/>
                <a:cxnLst/>
                <a:rect l="l" t="t" r="r" b="b"/>
                <a:pathLst>
                  <a:path w="3794853" h="1162296">
                    <a:moveTo>
                      <a:pt x="0" y="0"/>
                    </a:moveTo>
                    <a:lnTo>
                      <a:pt x="3794853" y="0"/>
                    </a:lnTo>
                    <a:lnTo>
                      <a:pt x="3794853" y="1162296"/>
                    </a:lnTo>
                    <a:lnTo>
                      <a:pt x="0" y="1162296"/>
                    </a:lnTo>
                    <a:close/>
                  </a:path>
                </a:pathLst>
              </a:custGeom>
              <a:blipFill>
                <a:blip r:embed="rId5">
                  <a:alphaModFix amt="0"/>
                </a:blip>
                <a:stretch>
                  <a:fillRect t="-20707" r="-54967" b="-76467"/>
                </a:stretch>
              </a:blipFill>
            </p:spPr>
          </p:sp>
          <p:sp>
            <p:nvSpPr>
              <p:cNvPr id="12" name="TextBox 12"/>
              <p:cNvSpPr txBox="1"/>
              <p:nvPr/>
            </p:nvSpPr>
            <p:spPr>
              <a:xfrm>
                <a:off x="0" y="9525"/>
                <a:ext cx="3794852" cy="1152769"/>
              </a:xfrm>
              <a:prstGeom prst="rect">
                <a:avLst/>
              </a:prstGeom>
            </p:spPr>
            <p:txBody>
              <a:bodyPr lIns="0" tIns="0" rIns="0" bIns="0" rtlCol="0" anchor="b"/>
              <a:lstStyle/>
              <a:p>
                <a:pPr algn="ctr">
                  <a:lnSpc>
                    <a:spcPts val="4320"/>
                  </a:lnSpc>
                </a:pPr>
                <a:r>
                  <a:rPr lang="en-US" sz="3600">
                    <a:solidFill>
                      <a:srgbClr val="191919"/>
                    </a:solidFill>
                    <a:latin typeface="Lexend Peta"/>
                    <a:ea typeface="Lexend Peta"/>
                    <a:cs typeface="Lexend Peta"/>
                    <a:sym typeface="Lexend Peta"/>
                  </a:rPr>
                  <a:t>Problem</a:t>
                </a:r>
              </a:p>
            </p:txBody>
          </p:sp>
        </p:grpSp>
      </p:grpSp>
      <p:grpSp>
        <p:nvGrpSpPr>
          <p:cNvPr id="13" name="Group 13"/>
          <p:cNvGrpSpPr/>
          <p:nvPr/>
        </p:nvGrpSpPr>
        <p:grpSpPr>
          <a:xfrm>
            <a:off x="4763705" y="2022908"/>
            <a:ext cx="2900086" cy="2621289"/>
            <a:chOff x="0" y="0"/>
            <a:chExt cx="3866781" cy="3495051"/>
          </a:xfrm>
        </p:grpSpPr>
        <p:grpSp>
          <p:nvGrpSpPr>
            <p:cNvPr id="14" name="Group 14"/>
            <p:cNvGrpSpPr/>
            <p:nvPr/>
          </p:nvGrpSpPr>
          <p:grpSpPr>
            <a:xfrm>
              <a:off x="1227022" y="0"/>
              <a:ext cx="1697427" cy="1439875"/>
              <a:chOff x="0" y="0"/>
              <a:chExt cx="1697427" cy="1439875"/>
            </a:xfrm>
          </p:grpSpPr>
          <p:sp>
            <p:nvSpPr>
              <p:cNvPr id="15" name="Freeform 15"/>
              <p:cNvSpPr/>
              <p:nvPr/>
            </p:nvSpPr>
            <p:spPr>
              <a:xfrm>
                <a:off x="0" y="0"/>
                <a:ext cx="1697424" cy="1439878"/>
              </a:xfrm>
              <a:custGeom>
                <a:avLst/>
                <a:gdLst/>
                <a:ahLst/>
                <a:cxnLst/>
                <a:rect l="l" t="t" r="r" b="b"/>
                <a:pathLst>
                  <a:path w="1697424" h="1439878">
                    <a:moveTo>
                      <a:pt x="0" y="0"/>
                    </a:moveTo>
                    <a:lnTo>
                      <a:pt x="1697424" y="0"/>
                    </a:lnTo>
                    <a:lnTo>
                      <a:pt x="1697424" y="1439878"/>
                    </a:lnTo>
                    <a:lnTo>
                      <a:pt x="0" y="1439878"/>
                    </a:lnTo>
                    <a:close/>
                  </a:path>
                </a:pathLst>
              </a:custGeom>
              <a:blipFill>
                <a:blip r:embed="rId5">
                  <a:alphaModFix amt="0"/>
                </a:blip>
                <a:stretch>
                  <a:fillRect l="-32509" r="-47931" b="17104"/>
                </a:stretch>
              </a:blipFill>
            </p:spPr>
          </p:sp>
          <p:sp>
            <p:nvSpPr>
              <p:cNvPr id="16" name="TextBox 16"/>
              <p:cNvSpPr txBox="1"/>
              <p:nvPr/>
            </p:nvSpPr>
            <p:spPr>
              <a:xfrm>
                <a:off x="0" y="9525"/>
                <a:ext cx="1697427" cy="1430350"/>
              </a:xfrm>
              <a:prstGeom prst="rect">
                <a:avLst/>
              </a:prstGeom>
            </p:spPr>
            <p:txBody>
              <a:bodyPr lIns="0" tIns="0" rIns="0" bIns="0" rtlCol="0" anchor="b"/>
              <a:lstStyle/>
              <a:p>
                <a:pPr algn="ctr">
                  <a:lnSpc>
                    <a:spcPts val="5759"/>
                  </a:lnSpc>
                </a:pPr>
                <a:r>
                  <a:rPr lang="en-US" sz="4800">
                    <a:solidFill>
                      <a:srgbClr val="BF4428"/>
                    </a:solidFill>
                    <a:latin typeface="Lexend Peta"/>
                    <a:ea typeface="Lexend Peta"/>
                    <a:cs typeface="Lexend Peta"/>
                    <a:sym typeface="Lexend Peta"/>
                  </a:rPr>
                  <a:t>02</a:t>
                </a:r>
              </a:p>
            </p:txBody>
          </p:sp>
        </p:grpSp>
        <p:grpSp>
          <p:nvGrpSpPr>
            <p:cNvPr id="17" name="Group 17"/>
            <p:cNvGrpSpPr/>
            <p:nvPr/>
          </p:nvGrpSpPr>
          <p:grpSpPr>
            <a:xfrm>
              <a:off x="0" y="1684651"/>
              <a:ext cx="3866781" cy="1810400"/>
              <a:chOff x="0" y="0"/>
              <a:chExt cx="3866781" cy="1810400"/>
            </a:xfrm>
          </p:grpSpPr>
          <p:sp>
            <p:nvSpPr>
              <p:cNvPr id="18" name="Freeform 18"/>
              <p:cNvSpPr/>
              <p:nvPr/>
            </p:nvSpPr>
            <p:spPr>
              <a:xfrm>
                <a:off x="0" y="0"/>
                <a:ext cx="3866782" cy="1810402"/>
              </a:xfrm>
              <a:custGeom>
                <a:avLst/>
                <a:gdLst/>
                <a:ahLst/>
                <a:cxnLst/>
                <a:rect l="l" t="t" r="r" b="b"/>
                <a:pathLst>
                  <a:path w="3866782" h="1810402">
                    <a:moveTo>
                      <a:pt x="0" y="0"/>
                    </a:moveTo>
                    <a:lnTo>
                      <a:pt x="3866782" y="0"/>
                    </a:lnTo>
                    <a:lnTo>
                      <a:pt x="3866782" y="1810402"/>
                    </a:lnTo>
                    <a:lnTo>
                      <a:pt x="0" y="1810402"/>
                    </a:lnTo>
                    <a:close/>
                  </a:path>
                </a:pathLst>
              </a:custGeom>
              <a:blipFill>
                <a:blip r:embed="rId5">
                  <a:alphaModFix amt="0"/>
                </a:blip>
                <a:stretch>
                  <a:fillRect t="-13294" r="-52085" b="-13293"/>
                </a:stretch>
              </a:blipFill>
            </p:spPr>
          </p:sp>
          <p:sp>
            <p:nvSpPr>
              <p:cNvPr id="19" name="TextBox 19"/>
              <p:cNvSpPr txBox="1"/>
              <p:nvPr/>
            </p:nvSpPr>
            <p:spPr>
              <a:xfrm>
                <a:off x="0" y="9525"/>
                <a:ext cx="3866781" cy="1800875"/>
              </a:xfrm>
              <a:prstGeom prst="rect">
                <a:avLst/>
              </a:prstGeom>
            </p:spPr>
            <p:txBody>
              <a:bodyPr lIns="0" tIns="0" rIns="0" bIns="0" rtlCol="0" anchor="b"/>
              <a:lstStyle/>
              <a:p>
                <a:pPr algn="ctr">
                  <a:lnSpc>
                    <a:spcPts val="4320"/>
                  </a:lnSpc>
                </a:pPr>
                <a:r>
                  <a:rPr lang="en-US" sz="3600">
                    <a:solidFill>
                      <a:srgbClr val="191919"/>
                    </a:solidFill>
                    <a:latin typeface="Lexend Peta"/>
                    <a:ea typeface="Lexend Peta"/>
                    <a:cs typeface="Lexend Peta"/>
                    <a:sym typeface="Lexend Peta"/>
                  </a:rPr>
                  <a:t>Existing solution</a:t>
                </a:r>
              </a:p>
            </p:txBody>
          </p:sp>
        </p:grpSp>
      </p:grpSp>
      <p:grpSp>
        <p:nvGrpSpPr>
          <p:cNvPr id="20" name="Group 20"/>
          <p:cNvGrpSpPr/>
          <p:nvPr/>
        </p:nvGrpSpPr>
        <p:grpSpPr>
          <a:xfrm>
            <a:off x="9601392" y="2022908"/>
            <a:ext cx="1626555" cy="2693667"/>
            <a:chOff x="0" y="0"/>
            <a:chExt cx="2168741" cy="3591556"/>
          </a:xfrm>
        </p:grpSpPr>
        <p:grpSp>
          <p:nvGrpSpPr>
            <p:cNvPr id="21" name="Group 21"/>
            <p:cNvGrpSpPr/>
            <p:nvPr/>
          </p:nvGrpSpPr>
          <p:grpSpPr>
            <a:xfrm>
              <a:off x="471314" y="0"/>
              <a:ext cx="1697427" cy="1439875"/>
              <a:chOff x="0" y="0"/>
              <a:chExt cx="1697427" cy="1439875"/>
            </a:xfrm>
          </p:grpSpPr>
          <p:sp>
            <p:nvSpPr>
              <p:cNvPr id="22" name="Freeform 22"/>
              <p:cNvSpPr/>
              <p:nvPr/>
            </p:nvSpPr>
            <p:spPr>
              <a:xfrm>
                <a:off x="0" y="0"/>
                <a:ext cx="1697424" cy="1439878"/>
              </a:xfrm>
              <a:custGeom>
                <a:avLst/>
                <a:gdLst/>
                <a:ahLst/>
                <a:cxnLst/>
                <a:rect l="l" t="t" r="r" b="b"/>
                <a:pathLst>
                  <a:path w="1697424" h="1439878">
                    <a:moveTo>
                      <a:pt x="0" y="0"/>
                    </a:moveTo>
                    <a:lnTo>
                      <a:pt x="1697424" y="0"/>
                    </a:lnTo>
                    <a:lnTo>
                      <a:pt x="1697424" y="1439878"/>
                    </a:lnTo>
                    <a:lnTo>
                      <a:pt x="0" y="1439878"/>
                    </a:lnTo>
                    <a:close/>
                  </a:path>
                </a:pathLst>
              </a:custGeom>
              <a:blipFill>
                <a:blip r:embed="rId5">
                  <a:alphaModFix amt="0"/>
                </a:blip>
                <a:stretch>
                  <a:fillRect l="-32509" r="-47931" b="17104"/>
                </a:stretch>
              </a:blipFill>
            </p:spPr>
          </p:sp>
          <p:sp>
            <p:nvSpPr>
              <p:cNvPr id="23" name="TextBox 23"/>
              <p:cNvSpPr txBox="1"/>
              <p:nvPr/>
            </p:nvSpPr>
            <p:spPr>
              <a:xfrm>
                <a:off x="0" y="9525"/>
                <a:ext cx="1697427" cy="1430350"/>
              </a:xfrm>
              <a:prstGeom prst="rect">
                <a:avLst/>
              </a:prstGeom>
            </p:spPr>
            <p:txBody>
              <a:bodyPr lIns="0" tIns="0" rIns="0" bIns="0" rtlCol="0" anchor="b"/>
              <a:lstStyle/>
              <a:p>
                <a:pPr algn="l">
                  <a:lnSpc>
                    <a:spcPts val="5759"/>
                  </a:lnSpc>
                </a:pPr>
                <a:r>
                  <a:rPr lang="en-US" sz="4800">
                    <a:solidFill>
                      <a:srgbClr val="BF4428"/>
                    </a:solidFill>
                    <a:latin typeface="Lexend Peta"/>
                    <a:ea typeface="Lexend Peta"/>
                    <a:cs typeface="Lexend Peta"/>
                    <a:sym typeface="Lexend Peta"/>
                  </a:rPr>
                  <a:t>03</a:t>
                </a:r>
              </a:p>
            </p:txBody>
          </p:sp>
        </p:grpSp>
        <p:grpSp>
          <p:nvGrpSpPr>
            <p:cNvPr id="24" name="Group 24"/>
            <p:cNvGrpSpPr/>
            <p:nvPr/>
          </p:nvGrpSpPr>
          <p:grpSpPr>
            <a:xfrm>
              <a:off x="0" y="1787750"/>
              <a:ext cx="2114145" cy="1803806"/>
              <a:chOff x="0" y="0"/>
              <a:chExt cx="2190952" cy="1869338"/>
            </a:xfrm>
          </p:grpSpPr>
          <p:sp>
            <p:nvSpPr>
              <p:cNvPr id="25" name="Freeform 25"/>
              <p:cNvSpPr/>
              <p:nvPr/>
            </p:nvSpPr>
            <p:spPr>
              <a:xfrm>
                <a:off x="0" y="0"/>
                <a:ext cx="2190953" cy="1869340"/>
              </a:xfrm>
              <a:custGeom>
                <a:avLst/>
                <a:gdLst/>
                <a:ahLst/>
                <a:cxnLst/>
                <a:rect l="l" t="t" r="r" b="b"/>
                <a:pathLst>
                  <a:path w="2190953" h="1869340">
                    <a:moveTo>
                      <a:pt x="0" y="0"/>
                    </a:moveTo>
                    <a:lnTo>
                      <a:pt x="2190953" y="0"/>
                    </a:lnTo>
                    <a:lnTo>
                      <a:pt x="2190953" y="1869340"/>
                    </a:lnTo>
                    <a:lnTo>
                      <a:pt x="0" y="1869340"/>
                    </a:lnTo>
                    <a:close/>
                  </a:path>
                </a:pathLst>
              </a:custGeom>
              <a:blipFill>
                <a:blip r:embed="rId5">
                  <a:alphaModFix amt="0"/>
                </a:blip>
                <a:stretch>
                  <a:fillRect t="-12874" r="-168412" b="-9721"/>
                </a:stretch>
              </a:blipFill>
            </p:spPr>
          </p:sp>
          <p:sp>
            <p:nvSpPr>
              <p:cNvPr id="26" name="TextBox 26"/>
              <p:cNvSpPr txBox="1"/>
              <p:nvPr/>
            </p:nvSpPr>
            <p:spPr>
              <a:xfrm>
                <a:off x="0" y="9525"/>
                <a:ext cx="2190952" cy="1859813"/>
              </a:xfrm>
              <a:prstGeom prst="rect">
                <a:avLst/>
              </a:prstGeom>
            </p:spPr>
            <p:txBody>
              <a:bodyPr lIns="0" tIns="0" rIns="0" bIns="0" rtlCol="0" anchor="b"/>
              <a:lstStyle/>
              <a:p>
                <a:pPr algn="ctr">
                  <a:lnSpc>
                    <a:spcPts val="4320"/>
                  </a:lnSpc>
                </a:pPr>
                <a:r>
                  <a:rPr lang="en-US" sz="3600">
                    <a:solidFill>
                      <a:srgbClr val="191919"/>
                    </a:solidFill>
                    <a:latin typeface="Lexend Peta"/>
                    <a:ea typeface="Lexend Peta"/>
                    <a:cs typeface="Lexend Peta"/>
                    <a:sym typeface="Lexend Peta"/>
                  </a:rPr>
                  <a:t>Our Idea</a:t>
                </a:r>
              </a:p>
            </p:txBody>
          </p:sp>
        </p:grpSp>
      </p:grpSp>
      <p:grpSp>
        <p:nvGrpSpPr>
          <p:cNvPr id="27" name="Group 27"/>
          <p:cNvGrpSpPr/>
          <p:nvPr/>
        </p:nvGrpSpPr>
        <p:grpSpPr>
          <a:xfrm>
            <a:off x="12491973" y="2022908"/>
            <a:ext cx="3508473" cy="2305679"/>
            <a:chOff x="0" y="0"/>
            <a:chExt cx="4677964" cy="3074239"/>
          </a:xfrm>
        </p:grpSpPr>
        <p:grpSp>
          <p:nvGrpSpPr>
            <p:cNvPr id="28" name="Group 28"/>
            <p:cNvGrpSpPr/>
            <p:nvPr/>
          </p:nvGrpSpPr>
          <p:grpSpPr>
            <a:xfrm>
              <a:off x="1490269" y="0"/>
              <a:ext cx="1697427" cy="1439875"/>
              <a:chOff x="0" y="0"/>
              <a:chExt cx="1697427" cy="1439875"/>
            </a:xfrm>
          </p:grpSpPr>
          <p:sp>
            <p:nvSpPr>
              <p:cNvPr id="29" name="Freeform 29"/>
              <p:cNvSpPr/>
              <p:nvPr/>
            </p:nvSpPr>
            <p:spPr>
              <a:xfrm>
                <a:off x="0" y="0"/>
                <a:ext cx="1697424" cy="1439878"/>
              </a:xfrm>
              <a:custGeom>
                <a:avLst/>
                <a:gdLst/>
                <a:ahLst/>
                <a:cxnLst/>
                <a:rect l="l" t="t" r="r" b="b"/>
                <a:pathLst>
                  <a:path w="1697424" h="1439878">
                    <a:moveTo>
                      <a:pt x="0" y="0"/>
                    </a:moveTo>
                    <a:lnTo>
                      <a:pt x="1697424" y="0"/>
                    </a:lnTo>
                    <a:lnTo>
                      <a:pt x="1697424" y="1439878"/>
                    </a:lnTo>
                    <a:lnTo>
                      <a:pt x="0" y="1439878"/>
                    </a:lnTo>
                    <a:close/>
                  </a:path>
                </a:pathLst>
              </a:custGeom>
              <a:blipFill>
                <a:blip r:embed="rId5">
                  <a:alphaModFix amt="0"/>
                </a:blip>
                <a:stretch>
                  <a:fillRect l="-32509" r="-47931" b="17104"/>
                </a:stretch>
              </a:blipFill>
            </p:spPr>
          </p:sp>
          <p:sp>
            <p:nvSpPr>
              <p:cNvPr id="30" name="TextBox 30"/>
              <p:cNvSpPr txBox="1"/>
              <p:nvPr/>
            </p:nvSpPr>
            <p:spPr>
              <a:xfrm>
                <a:off x="0" y="9525"/>
                <a:ext cx="1697427" cy="1430350"/>
              </a:xfrm>
              <a:prstGeom prst="rect">
                <a:avLst/>
              </a:prstGeom>
            </p:spPr>
            <p:txBody>
              <a:bodyPr lIns="0" tIns="0" rIns="0" bIns="0" rtlCol="0" anchor="b"/>
              <a:lstStyle/>
              <a:p>
                <a:pPr algn="ctr">
                  <a:lnSpc>
                    <a:spcPts val="5759"/>
                  </a:lnSpc>
                </a:pPr>
                <a:r>
                  <a:rPr lang="en-US" sz="4800">
                    <a:solidFill>
                      <a:srgbClr val="BF4428"/>
                    </a:solidFill>
                    <a:latin typeface="Lexend Peta"/>
                    <a:ea typeface="Lexend Peta"/>
                    <a:cs typeface="Lexend Peta"/>
                    <a:sym typeface="Lexend Peta"/>
                  </a:rPr>
                  <a:t>04</a:t>
                </a:r>
              </a:p>
            </p:txBody>
          </p:sp>
        </p:grpSp>
        <p:grpSp>
          <p:nvGrpSpPr>
            <p:cNvPr id="31" name="Group 31"/>
            <p:cNvGrpSpPr/>
            <p:nvPr/>
          </p:nvGrpSpPr>
          <p:grpSpPr>
            <a:xfrm>
              <a:off x="0" y="1994333"/>
              <a:ext cx="4677964" cy="1079906"/>
              <a:chOff x="0" y="0"/>
              <a:chExt cx="4677964" cy="1079906"/>
            </a:xfrm>
          </p:grpSpPr>
          <p:sp>
            <p:nvSpPr>
              <p:cNvPr id="32" name="Freeform 32"/>
              <p:cNvSpPr/>
              <p:nvPr/>
            </p:nvSpPr>
            <p:spPr>
              <a:xfrm>
                <a:off x="0" y="0"/>
                <a:ext cx="4677966" cy="1079909"/>
              </a:xfrm>
              <a:custGeom>
                <a:avLst/>
                <a:gdLst/>
                <a:ahLst/>
                <a:cxnLst/>
                <a:rect l="l" t="t" r="r" b="b"/>
                <a:pathLst>
                  <a:path w="4677966" h="1079909">
                    <a:moveTo>
                      <a:pt x="0" y="0"/>
                    </a:moveTo>
                    <a:lnTo>
                      <a:pt x="4677966" y="0"/>
                    </a:lnTo>
                    <a:lnTo>
                      <a:pt x="4677966" y="1079909"/>
                    </a:lnTo>
                    <a:lnTo>
                      <a:pt x="0" y="1079909"/>
                    </a:lnTo>
                    <a:close/>
                  </a:path>
                </a:pathLst>
              </a:custGeom>
              <a:blipFill>
                <a:blip r:embed="rId5">
                  <a:alphaModFix amt="0"/>
                </a:blip>
                <a:stretch>
                  <a:fillRect t="-22286" r="-25712" b="-89930"/>
                </a:stretch>
              </a:blipFill>
            </p:spPr>
          </p:sp>
          <p:sp>
            <p:nvSpPr>
              <p:cNvPr id="33" name="TextBox 33"/>
              <p:cNvSpPr txBox="1"/>
              <p:nvPr/>
            </p:nvSpPr>
            <p:spPr>
              <a:xfrm>
                <a:off x="0" y="9525"/>
                <a:ext cx="4677964" cy="1070381"/>
              </a:xfrm>
              <a:prstGeom prst="rect">
                <a:avLst/>
              </a:prstGeom>
            </p:spPr>
            <p:txBody>
              <a:bodyPr lIns="0" tIns="0" rIns="0" bIns="0" rtlCol="0" anchor="b"/>
              <a:lstStyle/>
              <a:p>
                <a:pPr algn="ctr">
                  <a:lnSpc>
                    <a:spcPts val="4320"/>
                  </a:lnSpc>
                </a:pPr>
                <a:r>
                  <a:rPr lang="en-US" sz="3600">
                    <a:solidFill>
                      <a:srgbClr val="191919"/>
                    </a:solidFill>
                    <a:latin typeface="Lexend Peta"/>
                    <a:ea typeface="Lexend Peta"/>
                    <a:cs typeface="Lexend Peta"/>
                    <a:sym typeface="Lexend Peta"/>
                  </a:rPr>
                  <a:t>Objectives</a:t>
                </a:r>
              </a:p>
            </p:txBody>
          </p:sp>
        </p:grpSp>
      </p:grpSp>
      <p:grpSp>
        <p:nvGrpSpPr>
          <p:cNvPr id="34" name="Group 34"/>
          <p:cNvGrpSpPr/>
          <p:nvPr/>
        </p:nvGrpSpPr>
        <p:grpSpPr>
          <a:xfrm>
            <a:off x="14246209" y="8448370"/>
            <a:ext cx="4410599" cy="809930"/>
            <a:chOff x="0" y="0"/>
            <a:chExt cx="5880799" cy="1079906"/>
          </a:xfrm>
        </p:grpSpPr>
        <p:sp>
          <p:nvSpPr>
            <p:cNvPr id="35" name="Freeform 35"/>
            <p:cNvSpPr/>
            <p:nvPr/>
          </p:nvSpPr>
          <p:spPr>
            <a:xfrm>
              <a:off x="0" y="0"/>
              <a:ext cx="5880800" cy="1079909"/>
            </a:xfrm>
            <a:custGeom>
              <a:avLst/>
              <a:gdLst/>
              <a:ahLst/>
              <a:cxnLst/>
              <a:rect l="l" t="t" r="r" b="b"/>
              <a:pathLst>
                <a:path w="5880800" h="1079909">
                  <a:moveTo>
                    <a:pt x="0" y="0"/>
                  </a:moveTo>
                  <a:lnTo>
                    <a:pt x="5880800" y="0"/>
                  </a:lnTo>
                  <a:lnTo>
                    <a:pt x="5880800" y="1079909"/>
                  </a:lnTo>
                  <a:lnTo>
                    <a:pt x="0" y="1079909"/>
                  </a:lnTo>
                  <a:close/>
                </a:path>
              </a:pathLst>
            </a:custGeom>
            <a:blipFill>
              <a:blip r:embed="rId5">
                <a:alphaModFix amt="0"/>
              </a:blip>
              <a:stretch>
                <a:fillRect t="-22286" b="-89930"/>
              </a:stretch>
            </a:blipFill>
          </p:spPr>
        </p:sp>
        <p:sp>
          <p:nvSpPr>
            <p:cNvPr id="36" name="TextBox 36"/>
            <p:cNvSpPr txBox="1"/>
            <p:nvPr/>
          </p:nvSpPr>
          <p:spPr>
            <a:xfrm>
              <a:off x="0" y="9525"/>
              <a:ext cx="5880799" cy="1070381"/>
            </a:xfrm>
            <a:prstGeom prst="rect">
              <a:avLst/>
            </a:prstGeom>
          </p:spPr>
          <p:txBody>
            <a:bodyPr lIns="0" tIns="0" rIns="0" bIns="0" rtlCol="0" anchor="b"/>
            <a:lstStyle/>
            <a:p>
              <a:pPr algn="l">
                <a:lnSpc>
                  <a:spcPts val="4320"/>
                </a:lnSpc>
              </a:pPr>
              <a:endParaRPr/>
            </a:p>
          </p:txBody>
        </p:sp>
      </p:grpSp>
      <p:grpSp>
        <p:nvGrpSpPr>
          <p:cNvPr id="37" name="Group 37"/>
          <p:cNvGrpSpPr/>
          <p:nvPr/>
        </p:nvGrpSpPr>
        <p:grpSpPr>
          <a:xfrm>
            <a:off x="16543106" y="-3520349"/>
            <a:ext cx="826903" cy="7560497"/>
            <a:chOff x="0" y="0"/>
            <a:chExt cx="1102538" cy="10080663"/>
          </a:xfrm>
        </p:grpSpPr>
        <p:sp>
          <p:nvSpPr>
            <p:cNvPr id="38" name="Freeform 38"/>
            <p:cNvSpPr/>
            <p:nvPr/>
          </p:nvSpPr>
          <p:spPr>
            <a:xfrm>
              <a:off x="0" y="0"/>
              <a:ext cx="1102487" cy="10080625"/>
            </a:xfrm>
            <a:custGeom>
              <a:avLst/>
              <a:gdLst/>
              <a:ahLst/>
              <a:cxnLst/>
              <a:rect l="l" t="t" r="r" b="b"/>
              <a:pathLst>
                <a:path w="1102487" h="10080625">
                  <a:moveTo>
                    <a:pt x="0" y="0"/>
                  </a:moveTo>
                  <a:lnTo>
                    <a:pt x="1102487" y="0"/>
                  </a:lnTo>
                  <a:lnTo>
                    <a:pt x="1102487" y="10080625"/>
                  </a:lnTo>
                  <a:lnTo>
                    <a:pt x="0" y="10080625"/>
                  </a:lnTo>
                  <a:lnTo>
                    <a:pt x="0" y="0"/>
                  </a:lnTo>
                  <a:close/>
                </a:path>
              </a:pathLst>
            </a:custGeom>
            <a:blipFill>
              <a:blip r:embed="rId6"/>
              <a:stretch>
                <a:fillRect l="-2" r="-5"/>
              </a:stretch>
            </a:blipFill>
          </p:spPr>
        </p:sp>
      </p:grpSp>
      <p:grpSp>
        <p:nvGrpSpPr>
          <p:cNvPr id="39" name="Group 39"/>
          <p:cNvGrpSpPr/>
          <p:nvPr/>
        </p:nvGrpSpPr>
        <p:grpSpPr>
          <a:xfrm>
            <a:off x="1028700" y="5610420"/>
            <a:ext cx="3449525" cy="2060196"/>
            <a:chOff x="0" y="0"/>
            <a:chExt cx="4599366" cy="2746928"/>
          </a:xfrm>
        </p:grpSpPr>
        <p:grpSp>
          <p:nvGrpSpPr>
            <p:cNvPr id="40" name="Group 40"/>
            <p:cNvGrpSpPr/>
            <p:nvPr/>
          </p:nvGrpSpPr>
          <p:grpSpPr>
            <a:xfrm>
              <a:off x="1450970" y="0"/>
              <a:ext cx="1697427" cy="1544211"/>
              <a:chOff x="0" y="0"/>
              <a:chExt cx="1697427" cy="1544211"/>
            </a:xfrm>
          </p:grpSpPr>
          <p:sp>
            <p:nvSpPr>
              <p:cNvPr id="41" name="Freeform 41"/>
              <p:cNvSpPr/>
              <p:nvPr/>
            </p:nvSpPr>
            <p:spPr>
              <a:xfrm>
                <a:off x="0" y="0"/>
                <a:ext cx="1697424" cy="1544214"/>
              </a:xfrm>
              <a:custGeom>
                <a:avLst/>
                <a:gdLst/>
                <a:ahLst/>
                <a:cxnLst/>
                <a:rect l="l" t="t" r="r" b="b"/>
                <a:pathLst>
                  <a:path w="1697424" h="1544214">
                    <a:moveTo>
                      <a:pt x="0" y="0"/>
                    </a:moveTo>
                    <a:lnTo>
                      <a:pt x="1697424" y="0"/>
                    </a:lnTo>
                    <a:lnTo>
                      <a:pt x="1697424" y="1544214"/>
                    </a:lnTo>
                    <a:lnTo>
                      <a:pt x="0" y="1544214"/>
                    </a:lnTo>
                    <a:close/>
                  </a:path>
                </a:pathLst>
              </a:custGeom>
              <a:blipFill>
                <a:blip r:embed="rId5">
                  <a:alphaModFix amt="0"/>
                </a:blip>
                <a:stretch>
                  <a:fillRect l="-32509" r="-47931" b="22705"/>
                </a:stretch>
              </a:blipFill>
            </p:spPr>
          </p:sp>
          <p:sp>
            <p:nvSpPr>
              <p:cNvPr id="42" name="TextBox 42"/>
              <p:cNvSpPr txBox="1"/>
              <p:nvPr/>
            </p:nvSpPr>
            <p:spPr>
              <a:xfrm>
                <a:off x="0" y="9525"/>
                <a:ext cx="1697427" cy="1534686"/>
              </a:xfrm>
              <a:prstGeom prst="rect">
                <a:avLst/>
              </a:prstGeom>
            </p:spPr>
            <p:txBody>
              <a:bodyPr lIns="0" tIns="0" rIns="0" bIns="0" rtlCol="0" anchor="b"/>
              <a:lstStyle/>
              <a:p>
                <a:pPr algn="ctr">
                  <a:lnSpc>
                    <a:spcPts val="5759"/>
                  </a:lnSpc>
                </a:pPr>
                <a:r>
                  <a:rPr lang="en-US" sz="4800">
                    <a:solidFill>
                      <a:srgbClr val="BF4428"/>
                    </a:solidFill>
                    <a:latin typeface="Lexend Peta"/>
                    <a:ea typeface="Lexend Peta"/>
                    <a:cs typeface="Lexend Peta"/>
                    <a:sym typeface="Lexend Peta"/>
                  </a:rPr>
                  <a:t>05</a:t>
                </a:r>
              </a:p>
            </p:txBody>
          </p:sp>
        </p:grpSp>
        <p:grpSp>
          <p:nvGrpSpPr>
            <p:cNvPr id="43" name="Group 43"/>
            <p:cNvGrpSpPr/>
            <p:nvPr/>
          </p:nvGrpSpPr>
          <p:grpSpPr>
            <a:xfrm>
              <a:off x="0" y="1544211"/>
              <a:ext cx="4599366" cy="1202717"/>
              <a:chOff x="0" y="0"/>
              <a:chExt cx="4599366" cy="1202717"/>
            </a:xfrm>
          </p:grpSpPr>
          <p:sp>
            <p:nvSpPr>
              <p:cNvPr id="44" name="Freeform 44"/>
              <p:cNvSpPr/>
              <p:nvPr/>
            </p:nvSpPr>
            <p:spPr>
              <a:xfrm>
                <a:off x="0" y="0"/>
                <a:ext cx="4599368" cy="1202719"/>
              </a:xfrm>
              <a:custGeom>
                <a:avLst/>
                <a:gdLst/>
                <a:ahLst/>
                <a:cxnLst/>
                <a:rect l="l" t="t" r="r" b="b"/>
                <a:pathLst>
                  <a:path w="4599368" h="1202719">
                    <a:moveTo>
                      <a:pt x="0" y="0"/>
                    </a:moveTo>
                    <a:lnTo>
                      <a:pt x="4599368" y="0"/>
                    </a:lnTo>
                    <a:lnTo>
                      <a:pt x="4599368" y="1202719"/>
                    </a:lnTo>
                    <a:lnTo>
                      <a:pt x="0" y="1202719"/>
                    </a:lnTo>
                    <a:close/>
                  </a:path>
                </a:pathLst>
              </a:custGeom>
              <a:blipFill>
                <a:blip r:embed="rId5">
                  <a:alphaModFix amt="0"/>
                </a:blip>
                <a:stretch>
                  <a:fillRect t="-20011" r="-27861" b="-70536"/>
                </a:stretch>
              </a:blipFill>
            </p:spPr>
          </p:sp>
          <p:sp>
            <p:nvSpPr>
              <p:cNvPr id="45" name="TextBox 45"/>
              <p:cNvSpPr txBox="1"/>
              <p:nvPr/>
            </p:nvSpPr>
            <p:spPr>
              <a:xfrm>
                <a:off x="0" y="9525"/>
                <a:ext cx="4599366" cy="1193192"/>
              </a:xfrm>
              <a:prstGeom prst="rect">
                <a:avLst/>
              </a:prstGeom>
            </p:spPr>
            <p:txBody>
              <a:bodyPr lIns="0" tIns="0" rIns="0" bIns="0" rtlCol="0" anchor="b"/>
              <a:lstStyle/>
              <a:p>
                <a:pPr algn="ctr">
                  <a:lnSpc>
                    <a:spcPts val="4320"/>
                  </a:lnSpc>
                </a:pPr>
                <a:r>
                  <a:rPr lang="en-US" sz="3600">
                    <a:solidFill>
                      <a:srgbClr val="191919"/>
                    </a:solidFill>
                    <a:latin typeface="Lexend Peta"/>
                    <a:ea typeface="Lexend Peta"/>
                    <a:cs typeface="Lexend Peta"/>
                    <a:sym typeface="Lexend Peta"/>
                  </a:rPr>
                  <a:t>Methology</a:t>
                </a:r>
              </a:p>
            </p:txBody>
          </p:sp>
        </p:grpSp>
      </p:grpSp>
      <p:grpSp>
        <p:nvGrpSpPr>
          <p:cNvPr id="46" name="Group 46"/>
          <p:cNvGrpSpPr/>
          <p:nvPr/>
        </p:nvGrpSpPr>
        <p:grpSpPr>
          <a:xfrm>
            <a:off x="10298115" y="5610420"/>
            <a:ext cx="2765218" cy="2837950"/>
            <a:chOff x="0" y="0"/>
            <a:chExt cx="3686958" cy="3783934"/>
          </a:xfrm>
        </p:grpSpPr>
        <p:grpSp>
          <p:nvGrpSpPr>
            <p:cNvPr id="47" name="Group 47"/>
            <p:cNvGrpSpPr/>
            <p:nvPr/>
          </p:nvGrpSpPr>
          <p:grpSpPr>
            <a:xfrm>
              <a:off x="0" y="1256228"/>
              <a:ext cx="3686958" cy="2527706"/>
              <a:chOff x="0" y="0"/>
              <a:chExt cx="3686958" cy="2527706"/>
            </a:xfrm>
          </p:grpSpPr>
          <p:sp>
            <p:nvSpPr>
              <p:cNvPr id="48" name="Freeform 48"/>
              <p:cNvSpPr/>
              <p:nvPr/>
            </p:nvSpPr>
            <p:spPr>
              <a:xfrm>
                <a:off x="0" y="0"/>
                <a:ext cx="3686959" cy="2527709"/>
              </a:xfrm>
              <a:custGeom>
                <a:avLst/>
                <a:gdLst/>
                <a:ahLst/>
                <a:cxnLst/>
                <a:rect l="l" t="t" r="r" b="b"/>
                <a:pathLst>
                  <a:path w="3686959" h="2527709">
                    <a:moveTo>
                      <a:pt x="0" y="0"/>
                    </a:moveTo>
                    <a:lnTo>
                      <a:pt x="3686959" y="0"/>
                    </a:lnTo>
                    <a:lnTo>
                      <a:pt x="3686959" y="2527709"/>
                    </a:lnTo>
                    <a:lnTo>
                      <a:pt x="0" y="2527709"/>
                    </a:lnTo>
                    <a:close/>
                  </a:path>
                </a:pathLst>
              </a:custGeom>
              <a:blipFill>
                <a:blip r:embed="rId5">
                  <a:alphaModFix amt="0"/>
                </a:blip>
                <a:stretch>
                  <a:fillRect t="-9521" r="-59502" b="18856"/>
                </a:stretch>
              </a:blipFill>
            </p:spPr>
          </p:sp>
          <p:sp>
            <p:nvSpPr>
              <p:cNvPr id="49" name="TextBox 49"/>
              <p:cNvSpPr txBox="1"/>
              <p:nvPr/>
            </p:nvSpPr>
            <p:spPr>
              <a:xfrm>
                <a:off x="0" y="9525"/>
                <a:ext cx="3686958" cy="2518181"/>
              </a:xfrm>
              <a:prstGeom prst="rect">
                <a:avLst/>
              </a:prstGeom>
            </p:spPr>
            <p:txBody>
              <a:bodyPr lIns="0" tIns="0" rIns="0" bIns="0" rtlCol="0" anchor="b"/>
              <a:lstStyle/>
              <a:p>
                <a:pPr algn="ctr">
                  <a:lnSpc>
                    <a:spcPts val="4320"/>
                  </a:lnSpc>
                </a:pPr>
                <a:r>
                  <a:rPr lang="en-US" sz="3600">
                    <a:solidFill>
                      <a:srgbClr val="191919"/>
                    </a:solidFill>
                    <a:latin typeface="Lexend Peta"/>
                    <a:ea typeface="Lexend Peta"/>
                    <a:cs typeface="Lexend Peta"/>
                    <a:sym typeface="Lexend Peta"/>
                  </a:rPr>
                  <a:t>Results &amp; Analysis</a:t>
                </a:r>
              </a:p>
            </p:txBody>
          </p:sp>
        </p:grpSp>
        <p:grpSp>
          <p:nvGrpSpPr>
            <p:cNvPr id="50" name="Group 50"/>
            <p:cNvGrpSpPr/>
            <p:nvPr/>
          </p:nvGrpSpPr>
          <p:grpSpPr>
            <a:xfrm>
              <a:off x="1227227" y="0"/>
              <a:ext cx="1295853" cy="1439875"/>
              <a:chOff x="0" y="0"/>
              <a:chExt cx="1295853" cy="1439875"/>
            </a:xfrm>
          </p:grpSpPr>
          <p:sp>
            <p:nvSpPr>
              <p:cNvPr id="51" name="Freeform 51"/>
              <p:cNvSpPr/>
              <p:nvPr/>
            </p:nvSpPr>
            <p:spPr>
              <a:xfrm>
                <a:off x="0" y="0"/>
                <a:ext cx="1295851" cy="1439878"/>
              </a:xfrm>
              <a:custGeom>
                <a:avLst/>
                <a:gdLst/>
                <a:ahLst/>
                <a:cxnLst/>
                <a:rect l="l" t="t" r="r" b="b"/>
                <a:pathLst>
                  <a:path w="1295851" h="1439878">
                    <a:moveTo>
                      <a:pt x="0" y="0"/>
                    </a:moveTo>
                    <a:lnTo>
                      <a:pt x="1295851" y="0"/>
                    </a:lnTo>
                    <a:lnTo>
                      <a:pt x="1295851" y="1439878"/>
                    </a:lnTo>
                    <a:lnTo>
                      <a:pt x="0" y="1439878"/>
                    </a:lnTo>
                    <a:close/>
                  </a:path>
                </a:pathLst>
              </a:custGeom>
              <a:blipFill>
                <a:blip r:embed="rId5">
                  <a:alphaModFix amt="0"/>
                </a:blip>
                <a:stretch>
                  <a:fillRect l="-42584" r="-93774" b="17104"/>
                </a:stretch>
              </a:blipFill>
            </p:spPr>
          </p:sp>
          <p:sp>
            <p:nvSpPr>
              <p:cNvPr id="52" name="TextBox 52"/>
              <p:cNvSpPr txBox="1"/>
              <p:nvPr/>
            </p:nvSpPr>
            <p:spPr>
              <a:xfrm>
                <a:off x="0" y="9525"/>
                <a:ext cx="1295853" cy="1430350"/>
              </a:xfrm>
              <a:prstGeom prst="rect">
                <a:avLst/>
              </a:prstGeom>
            </p:spPr>
            <p:txBody>
              <a:bodyPr lIns="0" tIns="0" rIns="0" bIns="0" rtlCol="0" anchor="b"/>
              <a:lstStyle/>
              <a:p>
                <a:pPr algn="ctr">
                  <a:lnSpc>
                    <a:spcPts val="5759"/>
                  </a:lnSpc>
                </a:pPr>
                <a:r>
                  <a:rPr lang="en-US" sz="4800">
                    <a:solidFill>
                      <a:srgbClr val="BF4428"/>
                    </a:solidFill>
                    <a:latin typeface="Lexend Peta"/>
                    <a:ea typeface="Lexend Peta"/>
                    <a:cs typeface="Lexend Peta"/>
                    <a:sym typeface="Lexend Peta"/>
                  </a:rPr>
                  <a:t>07</a:t>
                </a:r>
              </a:p>
            </p:txBody>
          </p:sp>
        </p:grpSp>
      </p:grpSp>
      <p:grpSp>
        <p:nvGrpSpPr>
          <p:cNvPr id="53" name="Group 53"/>
          <p:cNvGrpSpPr/>
          <p:nvPr/>
        </p:nvGrpSpPr>
        <p:grpSpPr>
          <a:xfrm>
            <a:off x="14482559" y="5610420"/>
            <a:ext cx="2302985" cy="2403693"/>
            <a:chOff x="0" y="0"/>
            <a:chExt cx="3070647" cy="3204924"/>
          </a:xfrm>
        </p:grpSpPr>
        <p:grpSp>
          <p:nvGrpSpPr>
            <p:cNvPr id="54" name="Group 54"/>
            <p:cNvGrpSpPr/>
            <p:nvPr/>
          </p:nvGrpSpPr>
          <p:grpSpPr>
            <a:xfrm>
              <a:off x="884574" y="0"/>
              <a:ext cx="1301498" cy="1528702"/>
              <a:chOff x="0" y="0"/>
              <a:chExt cx="1301498" cy="1528702"/>
            </a:xfrm>
          </p:grpSpPr>
          <p:sp>
            <p:nvSpPr>
              <p:cNvPr id="55" name="Freeform 55"/>
              <p:cNvSpPr/>
              <p:nvPr/>
            </p:nvSpPr>
            <p:spPr>
              <a:xfrm>
                <a:off x="0" y="0"/>
                <a:ext cx="1301496" cy="1528705"/>
              </a:xfrm>
              <a:custGeom>
                <a:avLst/>
                <a:gdLst/>
                <a:ahLst/>
                <a:cxnLst/>
                <a:rect l="l" t="t" r="r" b="b"/>
                <a:pathLst>
                  <a:path w="1301496" h="1528705">
                    <a:moveTo>
                      <a:pt x="0" y="0"/>
                    </a:moveTo>
                    <a:lnTo>
                      <a:pt x="1301496" y="0"/>
                    </a:lnTo>
                    <a:lnTo>
                      <a:pt x="1301496" y="1528705"/>
                    </a:lnTo>
                    <a:lnTo>
                      <a:pt x="0" y="1528705"/>
                    </a:lnTo>
                    <a:close/>
                  </a:path>
                </a:pathLst>
              </a:custGeom>
              <a:blipFill>
                <a:blip r:embed="rId5">
                  <a:alphaModFix amt="0"/>
                </a:blip>
                <a:stretch>
                  <a:fillRect l="-42399" r="-92934" b="21921"/>
                </a:stretch>
              </a:blipFill>
            </p:spPr>
          </p:sp>
          <p:sp>
            <p:nvSpPr>
              <p:cNvPr id="56" name="TextBox 56"/>
              <p:cNvSpPr txBox="1"/>
              <p:nvPr/>
            </p:nvSpPr>
            <p:spPr>
              <a:xfrm>
                <a:off x="0" y="9525"/>
                <a:ext cx="1301498" cy="1519177"/>
              </a:xfrm>
              <a:prstGeom prst="rect">
                <a:avLst/>
              </a:prstGeom>
            </p:spPr>
            <p:txBody>
              <a:bodyPr lIns="0" tIns="0" rIns="0" bIns="0" rtlCol="0" anchor="b"/>
              <a:lstStyle/>
              <a:p>
                <a:pPr algn="l">
                  <a:lnSpc>
                    <a:spcPts val="5759"/>
                  </a:lnSpc>
                </a:pPr>
                <a:r>
                  <a:rPr lang="en-US" sz="4800">
                    <a:solidFill>
                      <a:srgbClr val="BF4428"/>
                    </a:solidFill>
                    <a:latin typeface="Lexend Peta"/>
                    <a:ea typeface="Lexend Peta"/>
                    <a:cs typeface="Lexend Peta"/>
                    <a:sym typeface="Lexend Peta"/>
                  </a:rPr>
                  <a:t>08</a:t>
                </a:r>
              </a:p>
            </p:txBody>
          </p:sp>
        </p:grpSp>
        <p:grpSp>
          <p:nvGrpSpPr>
            <p:cNvPr id="57" name="Group 57"/>
            <p:cNvGrpSpPr/>
            <p:nvPr/>
          </p:nvGrpSpPr>
          <p:grpSpPr>
            <a:xfrm>
              <a:off x="0" y="1289840"/>
              <a:ext cx="3070647" cy="1915085"/>
              <a:chOff x="0" y="0"/>
              <a:chExt cx="3070647" cy="1915085"/>
            </a:xfrm>
          </p:grpSpPr>
          <p:sp>
            <p:nvSpPr>
              <p:cNvPr id="58" name="Freeform 58"/>
              <p:cNvSpPr/>
              <p:nvPr/>
            </p:nvSpPr>
            <p:spPr>
              <a:xfrm>
                <a:off x="0" y="0"/>
                <a:ext cx="3070648" cy="1915087"/>
              </a:xfrm>
              <a:custGeom>
                <a:avLst/>
                <a:gdLst/>
                <a:ahLst/>
                <a:cxnLst/>
                <a:rect l="l" t="t" r="r" b="b"/>
                <a:pathLst>
                  <a:path w="3070648" h="1915087">
                    <a:moveTo>
                      <a:pt x="0" y="0"/>
                    </a:moveTo>
                    <a:lnTo>
                      <a:pt x="3070648" y="0"/>
                    </a:lnTo>
                    <a:lnTo>
                      <a:pt x="3070648" y="1915087"/>
                    </a:lnTo>
                    <a:lnTo>
                      <a:pt x="0" y="1915087"/>
                    </a:lnTo>
                    <a:close/>
                  </a:path>
                </a:pathLst>
              </a:custGeom>
              <a:blipFill>
                <a:blip r:embed="rId5">
                  <a:alphaModFix amt="0"/>
                </a:blip>
                <a:stretch>
                  <a:fillRect t="-12567" r="-91516" b="-7100"/>
                </a:stretch>
              </a:blipFill>
            </p:spPr>
          </p:sp>
          <p:sp>
            <p:nvSpPr>
              <p:cNvPr id="59" name="TextBox 59"/>
              <p:cNvSpPr txBox="1"/>
              <p:nvPr/>
            </p:nvSpPr>
            <p:spPr>
              <a:xfrm>
                <a:off x="0" y="9525"/>
                <a:ext cx="3070647" cy="1905560"/>
              </a:xfrm>
              <a:prstGeom prst="rect">
                <a:avLst/>
              </a:prstGeom>
            </p:spPr>
            <p:txBody>
              <a:bodyPr lIns="0" tIns="0" rIns="0" bIns="0" rtlCol="0" anchor="b"/>
              <a:lstStyle/>
              <a:p>
                <a:pPr algn="ctr">
                  <a:lnSpc>
                    <a:spcPts val="4320"/>
                  </a:lnSpc>
                </a:pPr>
                <a:r>
                  <a:rPr lang="en-US" sz="3600">
                    <a:solidFill>
                      <a:srgbClr val="191919"/>
                    </a:solidFill>
                    <a:latin typeface="Lexend Peta"/>
                    <a:ea typeface="Lexend Peta"/>
                    <a:cs typeface="Lexend Peta"/>
                    <a:sym typeface="Lexend Peta"/>
                  </a:rPr>
                  <a:t>Future Scope</a:t>
                </a:r>
              </a:p>
            </p:txBody>
          </p:sp>
        </p:grpSp>
      </p:grpSp>
      <p:grpSp>
        <p:nvGrpSpPr>
          <p:cNvPr id="60" name="Group 60"/>
          <p:cNvGrpSpPr/>
          <p:nvPr/>
        </p:nvGrpSpPr>
        <p:grpSpPr>
          <a:xfrm>
            <a:off x="5037719" y="5610420"/>
            <a:ext cx="3844156" cy="2648652"/>
            <a:chOff x="0" y="0"/>
            <a:chExt cx="5125542" cy="3531536"/>
          </a:xfrm>
        </p:grpSpPr>
        <p:grpSp>
          <p:nvGrpSpPr>
            <p:cNvPr id="61" name="Group 61"/>
            <p:cNvGrpSpPr/>
            <p:nvPr/>
          </p:nvGrpSpPr>
          <p:grpSpPr>
            <a:xfrm>
              <a:off x="1834921" y="0"/>
              <a:ext cx="1455699" cy="1439875"/>
              <a:chOff x="0" y="0"/>
              <a:chExt cx="1455699" cy="1439875"/>
            </a:xfrm>
          </p:grpSpPr>
          <p:sp>
            <p:nvSpPr>
              <p:cNvPr id="62" name="Freeform 62"/>
              <p:cNvSpPr/>
              <p:nvPr/>
            </p:nvSpPr>
            <p:spPr>
              <a:xfrm>
                <a:off x="0" y="0"/>
                <a:ext cx="1455697" cy="1439878"/>
              </a:xfrm>
              <a:custGeom>
                <a:avLst/>
                <a:gdLst/>
                <a:ahLst/>
                <a:cxnLst/>
                <a:rect l="l" t="t" r="r" b="b"/>
                <a:pathLst>
                  <a:path w="1455697" h="1439878">
                    <a:moveTo>
                      <a:pt x="0" y="0"/>
                    </a:moveTo>
                    <a:lnTo>
                      <a:pt x="1455697" y="0"/>
                    </a:lnTo>
                    <a:lnTo>
                      <a:pt x="1455697" y="1439878"/>
                    </a:lnTo>
                    <a:lnTo>
                      <a:pt x="0" y="1439878"/>
                    </a:lnTo>
                    <a:close/>
                  </a:path>
                </a:pathLst>
              </a:custGeom>
              <a:blipFill>
                <a:blip r:embed="rId5">
                  <a:alphaModFix amt="0"/>
                </a:blip>
                <a:stretch>
                  <a:fillRect l="-37908" r="-72496" b="17104"/>
                </a:stretch>
              </a:blipFill>
            </p:spPr>
          </p:sp>
          <p:sp>
            <p:nvSpPr>
              <p:cNvPr id="63" name="TextBox 63"/>
              <p:cNvSpPr txBox="1"/>
              <p:nvPr/>
            </p:nvSpPr>
            <p:spPr>
              <a:xfrm>
                <a:off x="0" y="9525"/>
                <a:ext cx="1455699" cy="1430350"/>
              </a:xfrm>
              <a:prstGeom prst="rect">
                <a:avLst/>
              </a:prstGeom>
            </p:spPr>
            <p:txBody>
              <a:bodyPr lIns="0" tIns="0" rIns="0" bIns="0" rtlCol="0" anchor="b"/>
              <a:lstStyle/>
              <a:p>
                <a:pPr algn="ctr">
                  <a:lnSpc>
                    <a:spcPts val="5759"/>
                  </a:lnSpc>
                </a:pPr>
                <a:r>
                  <a:rPr lang="en-US" sz="4800">
                    <a:solidFill>
                      <a:srgbClr val="BF4428"/>
                    </a:solidFill>
                    <a:latin typeface="Lexend Peta"/>
                    <a:ea typeface="Lexend Peta"/>
                    <a:cs typeface="Lexend Peta"/>
                    <a:sym typeface="Lexend Peta"/>
                  </a:rPr>
                  <a:t>06</a:t>
                </a:r>
              </a:p>
            </p:txBody>
          </p:sp>
        </p:grpSp>
        <p:grpSp>
          <p:nvGrpSpPr>
            <p:cNvPr id="64" name="Group 64"/>
            <p:cNvGrpSpPr/>
            <p:nvPr/>
          </p:nvGrpSpPr>
          <p:grpSpPr>
            <a:xfrm>
              <a:off x="0" y="1727730"/>
              <a:ext cx="5125542" cy="1803806"/>
              <a:chOff x="0" y="0"/>
              <a:chExt cx="5125542" cy="1803806"/>
            </a:xfrm>
          </p:grpSpPr>
          <p:sp>
            <p:nvSpPr>
              <p:cNvPr id="65" name="Freeform 65"/>
              <p:cNvSpPr/>
              <p:nvPr/>
            </p:nvSpPr>
            <p:spPr>
              <a:xfrm>
                <a:off x="0" y="0"/>
                <a:ext cx="5125543" cy="1803809"/>
              </a:xfrm>
              <a:custGeom>
                <a:avLst/>
                <a:gdLst/>
                <a:ahLst/>
                <a:cxnLst/>
                <a:rect l="l" t="t" r="r" b="b"/>
                <a:pathLst>
                  <a:path w="5125543" h="1803809">
                    <a:moveTo>
                      <a:pt x="0" y="0"/>
                    </a:moveTo>
                    <a:lnTo>
                      <a:pt x="5125543" y="0"/>
                    </a:lnTo>
                    <a:lnTo>
                      <a:pt x="5125543" y="1803809"/>
                    </a:lnTo>
                    <a:lnTo>
                      <a:pt x="0" y="1803809"/>
                    </a:lnTo>
                    <a:close/>
                  </a:path>
                </a:pathLst>
              </a:custGeom>
              <a:blipFill>
                <a:blip r:embed="rId5">
                  <a:alphaModFix amt="0"/>
                </a:blip>
                <a:stretch>
                  <a:fillRect t="-13342" r="-14735" b="-13707"/>
                </a:stretch>
              </a:blipFill>
            </p:spPr>
          </p:sp>
          <p:sp>
            <p:nvSpPr>
              <p:cNvPr id="66" name="TextBox 66"/>
              <p:cNvSpPr txBox="1"/>
              <p:nvPr/>
            </p:nvSpPr>
            <p:spPr>
              <a:xfrm>
                <a:off x="0" y="9525"/>
                <a:ext cx="5125542" cy="1794281"/>
              </a:xfrm>
              <a:prstGeom prst="rect">
                <a:avLst/>
              </a:prstGeom>
            </p:spPr>
            <p:txBody>
              <a:bodyPr lIns="0" tIns="0" rIns="0" bIns="0" rtlCol="0" anchor="b"/>
              <a:lstStyle/>
              <a:p>
                <a:pPr algn="ctr">
                  <a:lnSpc>
                    <a:spcPts val="4320"/>
                  </a:lnSpc>
                </a:pPr>
                <a:r>
                  <a:rPr lang="en-US" sz="3600">
                    <a:solidFill>
                      <a:srgbClr val="191919"/>
                    </a:solidFill>
                    <a:latin typeface="Lexend Peta"/>
                    <a:ea typeface="Lexend Peta"/>
                    <a:cs typeface="Lexend Peta"/>
                    <a:sym typeface="Lexend Peta"/>
                  </a:rPr>
                  <a:t>Technology Aspects</a:t>
                </a:r>
              </a:p>
            </p:txBody>
          </p:sp>
        </p:grpSp>
      </p:grpSp>
      <p:sp>
        <p:nvSpPr>
          <p:cNvPr id="67" name="Freeform 67"/>
          <p:cNvSpPr/>
          <p:nvPr/>
        </p:nvSpPr>
        <p:spPr>
          <a:xfrm>
            <a:off x="14479573" y="7826305"/>
            <a:ext cx="3808427" cy="2460695"/>
          </a:xfrm>
          <a:custGeom>
            <a:avLst/>
            <a:gdLst/>
            <a:ahLst/>
            <a:cxnLst/>
            <a:rect l="l" t="t" r="r" b="b"/>
            <a:pathLst>
              <a:path w="3808427" h="2460695">
                <a:moveTo>
                  <a:pt x="0" y="0"/>
                </a:moveTo>
                <a:lnTo>
                  <a:pt x="3808427" y="0"/>
                </a:lnTo>
                <a:lnTo>
                  <a:pt x="3808427" y="2460695"/>
                </a:lnTo>
                <a:lnTo>
                  <a:pt x="0" y="2460695"/>
                </a:lnTo>
                <a:lnTo>
                  <a:pt x="0" y="0"/>
                </a:lnTo>
                <a:close/>
              </a:path>
            </a:pathLst>
          </a:custGeom>
          <a:blipFill>
            <a:blip>
              <a:extLst>
                <a:ext uri="{96DAC541-7B7A-43D3-8B79-37D633B846F1}">
                  <asvg:svgBlip xmlns:asvg="http://schemas.microsoft.com/office/drawing/2016/SVG/main" r:embed="rId7"/>
                </a:ext>
              </a:extLst>
            </a:blip>
            <a:stretch>
              <a:fillRect t="-87926"/>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Freeform 4"/>
          <p:cNvSpPr/>
          <p:nvPr/>
        </p:nvSpPr>
        <p:spPr>
          <a:xfrm>
            <a:off x="-1705038" y="-2975353"/>
            <a:ext cx="20530918" cy="13397417"/>
          </a:xfrm>
          <a:custGeom>
            <a:avLst/>
            <a:gdLst/>
            <a:ahLst/>
            <a:cxnLst/>
            <a:rect l="l" t="t" r="r" b="b"/>
            <a:pathLst>
              <a:path w="20530918" h="13397417">
                <a:moveTo>
                  <a:pt x="0" y="0"/>
                </a:moveTo>
                <a:lnTo>
                  <a:pt x="20530918" y="0"/>
                </a:lnTo>
                <a:lnTo>
                  <a:pt x="20530918" y="13397417"/>
                </a:lnTo>
                <a:lnTo>
                  <a:pt x="0" y="1339741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6429492" y="213389"/>
            <a:ext cx="856640" cy="856621"/>
            <a:chOff x="0" y="0"/>
            <a:chExt cx="1142187" cy="1142162"/>
          </a:xfrm>
        </p:grpSpPr>
        <p:sp>
          <p:nvSpPr>
            <p:cNvPr id="6" name="Freeform 6"/>
            <p:cNvSpPr/>
            <p:nvPr/>
          </p:nvSpPr>
          <p:spPr>
            <a:xfrm>
              <a:off x="0" y="0"/>
              <a:ext cx="1142238" cy="1142111"/>
            </a:xfrm>
            <a:custGeom>
              <a:avLst/>
              <a:gdLst/>
              <a:ahLst/>
              <a:cxnLst/>
              <a:rect l="l" t="t" r="r" b="b"/>
              <a:pathLst>
                <a:path w="1142238" h="1142111">
                  <a:moveTo>
                    <a:pt x="0" y="0"/>
                  </a:moveTo>
                  <a:lnTo>
                    <a:pt x="1142238" y="0"/>
                  </a:lnTo>
                  <a:lnTo>
                    <a:pt x="1142238" y="1142111"/>
                  </a:lnTo>
                  <a:lnTo>
                    <a:pt x="0" y="1142111"/>
                  </a:lnTo>
                  <a:lnTo>
                    <a:pt x="0" y="0"/>
                  </a:lnTo>
                  <a:close/>
                </a:path>
              </a:pathLst>
            </a:custGeom>
            <a:blipFill>
              <a:blip r:embed="rId5"/>
              <a:stretch>
                <a:fillRect r="4" b="-5"/>
              </a:stretch>
            </a:blipFill>
          </p:spPr>
        </p:sp>
      </p:grpSp>
      <p:sp>
        <p:nvSpPr>
          <p:cNvPr id="7" name="TextBox 7"/>
          <p:cNvSpPr txBox="1"/>
          <p:nvPr/>
        </p:nvSpPr>
        <p:spPr>
          <a:xfrm>
            <a:off x="1028700" y="383164"/>
            <a:ext cx="5595417" cy="923925"/>
          </a:xfrm>
          <a:prstGeom prst="rect">
            <a:avLst/>
          </a:prstGeom>
        </p:spPr>
        <p:txBody>
          <a:bodyPr lIns="0" tIns="0" rIns="0" bIns="0" rtlCol="0" anchor="t">
            <a:spAutoFit/>
          </a:bodyPr>
          <a:lstStyle/>
          <a:p>
            <a:pPr algn="l">
              <a:lnSpc>
                <a:spcPts val="7200"/>
              </a:lnSpc>
            </a:pPr>
            <a:r>
              <a:rPr lang="en-US" sz="6000">
                <a:solidFill>
                  <a:srgbClr val="191919"/>
                </a:solidFill>
                <a:latin typeface="Lexend Peta"/>
                <a:ea typeface="Lexend Peta"/>
                <a:cs typeface="Lexend Peta"/>
                <a:sym typeface="Lexend Peta"/>
              </a:rPr>
              <a:t>PROBLEM: </a:t>
            </a:r>
          </a:p>
        </p:txBody>
      </p:sp>
      <p:sp>
        <p:nvSpPr>
          <p:cNvPr id="8" name="TextBox 8"/>
          <p:cNvSpPr txBox="1"/>
          <p:nvPr/>
        </p:nvSpPr>
        <p:spPr>
          <a:xfrm>
            <a:off x="761513" y="4352595"/>
            <a:ext cx="17223239" cy="5191127"/>
          </a:xfrm>
          <a:prstGeom prst="rect">
            <a:avLst/>
          </a:prstGeom>
        </p:spPr>
        <p:txBody>
          <a:bodyPr lIns="0" tIns="0" rIns="0" bIns="0" rtlCol="0" anchor="t">
            <a:spAutoFit/>
          </a:bodyPr>
          <a:lstStyle/>
          <a:p>
            <a:pPr algn="l">
              <a:lnSpc>
                <a:spcPts val="5999"/>
              </a:lnSpc>
            </a:pPr>
            <a:r>
              <a:rPr lang="en-US" sz="2999">
                <a:solidFill>
                  <a:srgbClr val="191919"/>
                </a:solidFill>
                <a:latin typeface="DM Sans"/>
                <a:ea typeface="DM Sans"/>
                <a:cs typeface="DM Sans"/>
                <a:sym typeface="DM Sans"/>
              </a:rPr>
              <a:t>     Traffic signals often operate on predetermined timings that may not reflect the actual number of vehicles waiting in each lane. </a:t>
            </a:r>
          </a:p>
          <a:p>
            <a:pPr algn="l">
              <a:lnSpc>
                <a:spcPts val="5999"/>
              </a:lnSpc>
            </a:pPr>
            <a:r>
              <a:rPr lang="en-US" sz="2999" b="1">
                <a:solidFill>
                  <a:srgbClr val="191919"/>
                </a:solidFill>
                <a:latin typeface="DM Sans Bold"/>
                <a:ea typeface="DM Sans Bold"/>
                <a:cs typeface="DM Sans Bold"/>
                <a:sym typeface="DM Sans Bold"/>
              </a:rPr>
              <a:t>1. Fixed Timers:</a:t>
            </a:r>
            <a:r>
              <a:rPr lang="en-US" sz="2999">
                <a:solidFill>
                  <a:srgbClr val="191919"/>
                </a:solidFill>
                <a:latin typeface="DM Sans"/>
                <a:ea typeface="DM Sans"/>
                <a:cs typeface="DM Sans"/>
                <a:sym typeface="DM Sans"/>
              </a:rPr>
              <a:t> Traffic lights run on a set countdown, changing colors even if no one is there.</a:t>
            </a:r>
          </a:p>
          <a:p>
            <a:pPr algn="l">
              <a:lnSpc>
                <a:spcPts val="5999"/>
              </a:lnSpc>
            </a:pPr>
            <a:r>
              <a:rPr lang="en-US" sz="2999" b="1">
                <a:solidFill>
                  <a:srgbClr val="191919"/>
                </a:solidFill>
                <a:latin typeface="DM Sans Bold"/>
                <a:ea typeface="DM Sans Bold"/>
                <a:cs typeface="DM Sans Bold"/>
                <a:sym typeface="DM Sans Bold"/>
              </a:rPr>
              <a:t>2. Long waiting times:</a:t>
            </a:r>
            <a:r>
              <a:rPr lang="en-US" sz="2999">
                <a:solidFill>
                  <a:srgbClr val="191919"/>
                </a:solidFill>
                <a:latin typeface="DM Sans"/>
                <a:ea typeface="DM Sans"/>
                <a:cs typeface="DM Sans"/>
                <a:sym typeface="DM Sans"/>
              </a:rPr>
              <a:t> Vehicles wait even when traffic demand differs between lanes. </a:t>
            </a:r>
          </a:p>
          <a:p>
            <a:pPr algn="l">
              <a:lnSpc>
                <a:spcPts val="5999"/>
              </a:lnSpc>
            </a:pPr>
            <a:r>
              <a:rPr lang="en-US" sz="2999" b="1">
                <a:solidFill>
                  <a:srgbClr val="191919"/>
                </a:solidFill>
                <a:latin typeface="DM Sans Bold"/>
                <a:ea typeface="DM Sans Bold"/>
                <a:cs typeface="DM Sans Bold"/>
                <a:sym typeface="DM Sans Bold"/>
              </a:rPr>
              <a:t>3. Emergency delays:</a:t>
            </a:r>
            <a:r>
              <a:rPr lang="en-US" sz="2999">
                <a:solidFill>
                  <a:srgbClr val="191919"/>
                </a:solidFill>
                <a:latin typeface="DM Sans"/>
                <a:ea typeface="DM Sans"/>
                <a:cs typeface="DM Sans"/>
                <a:sym typeface="DM Sans"/>
              </a:rPr>
              <a:t> Congestion can delay emergency vehicles travelling through intersections.</a:t>
            </a:r>
          </a:p>
          <a:p>
            <a:pPr algn="l">
              <a:lnSpc>
                <a:spcPts val="5999"/>
              </a:lnSpc>
            </a:pPr>
            <a:r>
              <a:rPr lang="en-US" sz="2999" b="1">
                <a:solidFill>
                  <a:srgbClr val="191919"/>
                </a:solidFill>
                <a:latin typeface="DM Sans Bold"/>
                <a:ea typeface="DM Sans Bold"/>
                <a:cs typeface="DM Sans Bold"/>
                <a:sym typeface="DM Sans Bold"/>
              </a:rPr>
              <a:t>4. Blind System:</a:t>
            </a:r>
            <a:r>
              <a:rPr lang="en-US" sz="2999">
                <a:solidFill>
                  <a:srgbClr val="191919"/>
                </a:solidFill>
                <a:latin typeface="DM Sans"/>
                <a:ea typeface="DM Sans"/>
                <a:cs typeface="DM Sans"/>
                <a:sym typeface="DM Sans"/>
              </a:rPr>
              <a:t> Because the lights cannot "see" the cars, you often get stuck waiting at a red      light while the green light is given to a completely empty road.</a:t>
            </a:r>
          </a:p>
        </p:txBody>
      </p:sp>
      <p:grpSp>
        <p:nvGrpSpPr>
          <p:cNvPr id="9" name="Group 9"/>
          <p:cNvGrpSpPr/>
          <p:nvPr/>
        </p:nvGrpSpPr>
        <p:grpSpPr>
          <a:xfrm>
            <a:off x="857391" y="1695253"/>
            <a:ext cx="16573218" cy="2497779"/>
            <a:chOff x="0" y="0"/>
            <a:chExt cx="22097624" cy="3330372"/>
          </a:xfrm>
        </p:grpSpPr>
        <p:grpSp>
          <p:nvGrpSpPr>
            <p:cNvPr id="10" name="Group 10"/>
            <p:cNvGrpSpPr/>
            <p:nvPr/>
          </p:nvGrpSpPr>
          <p:grpSpPr>
            <a:xfrm>
              <a:off x="3067446" y="0"/>
              <a:ext cx="15962732" cy="3330372"/>
              <a:chOff x="0" y="0"/>
              <a:chExt cx="3153132" cy="657851"/>
            </a:xfrm>
          </p:grpSpPr>
          <p:sp>
            <p:nvSpPr>
              <p:cNvPr id="11" name="Freeform 11"/>
              <p:cNvSpPr/>
              <p:nvPr/>
            </p:nvSpPr>
            <p:spPr>
              <a:xfrm>
                <a:off x="0" y="0"/>
                <a:ext cx="3153132" cy="657851"/>
              </a:xfrm>
              <a:custGeom>
                <a:avLst/>
                <a:gdLst/>
                <a:ahLst/>
                <a:cxnLst/>
                <a:rect l="l" t="t" r="r" b="b"/>
                <a:pathLst>
                  <a:path w="3153132" h="657851">
                    <a:moveTo>
                      <a:pt x="3073714" y="0"/>
                    </a:moveTo>
                    <a:lnTo>
                      <a:pt x="79418" y="0"/>
                    </a:lnTo>
                    <a:cubicBezTo>
                      <a:pt x="79418" y="43699"/>
                      <a:pt x="44079" y="79418"/>
                      <a:pt x="0" y="79418"/>
                    </a:cubicBezTo>
                    <a:lnTo>
                      <a:pt x="0" y="578433"/>
                    </a:lnTo>
                    <a:cubicBezTo>
                      <a:pt x="43699" y="578433"/>
                      <a:pt x="79418" y="613772"/>
                      <a:pt x="79418" y="657851"/>
                    </a:cubicBezTo>
                    <a:lnTo>
                      <a:pt x="3073714" y="657851"/>
                    </a:lnTo>
                    <a:cubicBezTo>
                      <a:pt x="3073714" y="614152"/>
                      <a:pt x="3109053" y="578433"/>
                      <a:pt x="3153132" y="578433"/>
                    </a:cubicBezTo>
                    <a:lnTo>
                      <a:pt x="3153132" y="79418"/>
                    </a:lnTo>
                    <a:cubicBezTo>
                      <a:pt x="3109433" y="79418"/>
                      <a:pt x="3073714" y="44079"/>
                      <a:pt x="3073714" y="0"/>
                    </a:cubicBezTo>
                    <a:close/>
                  </a:path>
                </a:pathLst>
              </a:custGeom>
              <a:solidFill>
                <a:srgbClr val="CFD9E0"/>
              </a:solidFill>
              <a:ln w="57150" cap="sq">
                <a:solidFill>
                  <a:srgbClr val="000000"/>
                </a:solidFill>
                <a:prstDash val="solid"/>
                <a:miter/>
              </a:ln>
            </p:spPr>
          </p:sp>
          <p:sp>
            <p:nvSpPr>
              <p:cNvPr id="12" name="TextBox 12"/>
              <p:cNvSpPr txBox="1"/>
              <p:nvPr/>
            </p:nvSpPr>
            <p:spPr>
              <a:xfrm>
                <a:off x="38100" y="0"/>
                <a:ext cx="3076932" cy="619751"/>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0" y="201510"/>
              <a:ext cx="22097624" cy="2727327"/>
            </a:xfrm>
            <a:prstGeom prst="rect">
              <a:avLst/>
            </a:prstGeom>
          </p:spPr>
          <p:txBody>
            <a:bodyPr lIns="0" tIns="0" rIns="0" bIns="0" rtlCol="0" anchor="t">
              <a:spAutoFit/>
            </a:bodyPr>
            <a:lstStyle/>
            <a:p>
              <a:pPr algn="ctr">
                <a:lnSpc>
                  <a:spcPts val="6299"/>
                </a:lnSpc>
              </a:pPr>
              <a:r>
                <a:rPr lang="en-US" sz="3499" b="1">
                  <a:solidFill>
                    <a:srgbClr val="191919"/>
                  </a:solidFill>
                  <a:latin typeface="DM Sans Bold"/>
                  <a:ea typeface="DM Sans Bold"/>
                  <a:cs typeface="DM Sans Bold"/>
                  <a:sym typeface="DM Sans Bold"/>
                </a:rPr>
                <a:t>-: Problem Statement :-</a:t>
              </a:r>
            </a:p>
            <a:p>
              <a:pPr algn="ctr">
                <a:lnSpc>
                  <a:spcPts val="5399"/>
                </a:lnSpc>
              </a:pPr>
              <a:r>
                <a:rPr lang="en-US" sz="2999">
                  <a:solidFill>
                    <a:srgbClr val="191919"/>
                  </a:solidFill>
                  <a:latin typeface="DM Sans"/>
                  <a:ea typeface="DM Sans"/>
                  <a:cs typeface="DM Sans"/>
                  <a:sym typeface="DM Sans"/>
                </a:rPr>
                <a:t>Smart Traffic Management System for Urban Congestion Control.</a:t>
              </a:r>
            </a:p>
            <a:p>
              <a:pPr algn="ctr">
                <a:lnSpc>
                  <a:spcPts val="5399"/>
                </a:lnSpc>
              </a:pPr>
              <a:r>
                <a:rPr lang="en-US" sz="2999">
                  <a:solidFill>
                    <a:srgbClr val="191919"/>
                  </a:solidFill>
                  <a:latin typeface="DM Sans"/>
                  <a:ea typeface="DM Sans"/>
                  <a:cs typeface="DM Sans"/>
                  <a:sym typeface="DM Sans"/>
                </a:rPr>
                <a:t>SIH 25050 - Software edition - Government of Odisha.</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78327"/>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Freeform 4"/>
          <p:cNvSpPr/>
          <p:nvPr/>
        </p:nvSpPr>
        <p:spPr>
          <a:xfrm>
            <a:off x="3724165" y="8939438"/>
            <a:ext cx="1129966" cy="1129966"/>
          </a:xfrm>
          <a:custGeom>
            <a:avLst/>
            <a:gdLst/>
            <a:ahLst/>
            <a:cxnLst/>
            <a:rect l="l" t="t" r="r" b="b"/>
            <a:pathLst>
              <a:path w="1129966" h="1129966">
                <a:moveTo>
                  <a:pt x="0" y="0"/>
                </a:moveTo>
                <a:lnTo>
                  <a:pt x="1129966" y="0"/>
                </a:lnTo>
                <a:lnTo>
                  <a:pt x="1129966" y="1129966"/>
                </a:lnTo>
                <a:lnTo>
                  <a:pt x="0" y="112996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5400000" flipV="1">
            <a:off x="-230868" y="-3901770"/>
            <a:ext cx="15946530" cy="15738839"/>
          </a:xfrm>
          <a:custGeom>
            <a:avLst/>
            <a:gdLst/>
            <a:ahLst/>
            <a:cxnLst/>
            <a:rect l="l" t="t" r="r" b="b"/>
            <a:pathLst>
              <a:path w="15946530" h="15738839">
                <a:moveTo>
                  <a:pt x="0" y="15738839"/>
                </a:moveTo>
                <a:lnTo>
                  <a:pt x="15946530" y="15738839"/>
                </a:lnTo>
                <a:lnTo>
                  <a:pt x="15946530" y="0"/>
                </a:lnTo>
                <a:lnTo>
                  <a:pt x="0" y="0"/>
                </a:lnTo>
                <a:lnTo>
                  <a:pt x="0" y="15738839"/>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rot="3969396" flipV="1">
            <a:off x="6736775" y="206809"/>
            <a:ext cx="15946530" cy="15738839"/>
          </a:xfrm>
          <a:custGeom>
            <a:avLst/>
            <a:gdLst/>
            <a:ahLst/>
            <a:cxnLst/>
            <a:rect l="l" t="t" r="r" b="b"/>
            <a:pathLst>
              <a:path w="15946530" h="15738839">
                <a:moveTo>
                  <a:pt x="0" y="15738839"/>
                </a:moveTo>
                <a:lnTo>
                  <a:pt x="15946530" y="15738839"/>
                </a:lnTo>
                <a:lnTo>
                  <a:pt x="15946530" y="0"/>
                </a:lnTo>
                <a:lnTo>
                  <a:pt x="0" y="0"/>
                </a:lnTo>
                <a:lnTo>
                  <a:pt x="0" y="15738839"/>
                </a:lnTo>
                <a:close/>
              </a:path>
            </a:pathLst>
          </a:custGeom>
          <a:blipFill>
            <a:blip>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539325" y="8768901"/>
            <a:ext cx="978751" cy="978799"/>
            <a:chOff x="0" y="0"/>
            <a:chExt cx="1305001" cy="1305065"/>
          </a:xfrm>
        </p:grpSpPr>
        <p:sp>
          <p:nvSpPr>
            <p:cNvPr id="8" name="Freeform 8"/>
            <p:cNvSpPr/>
            <p:nvPr/>
          </p:nvSpPr>
          <p:spPr>
            <a:xfrm>
              <a:off x="0" y="0"/>
              <a:ext cx="1305052" cy="1305052"/>
            </a:xfrm>
            <a:custGeom>
              <a:avLst/>
              <a:gdLst/>
              <a:ahLst/>
              <a:cxnLst/>
              <a:rect l="l" t="t" r="r" b="b"/>
              <a:pathLst>
                <a:path w="1305052" h="1305052">
                  <a:moveTo>
                    <a:pt x="0" y="0"/>
                  </a:moveTo>
                  <a:lnTo>
                    <a:pt x="1305052" y="0"/>
                  </a:lnTo>
                  <a:lnTo>
                    <a:pt x="1305052" y="1305052"/>
                  </a:lnTo>
                  <a:lnTo>
                    <a:pt x="0" y="1305052"/>
                  </a:lnTo>
                  <a:lnTo>
                    <a:pt x="0" y="0"/>
                  </a:lnTo>
                  <a:close/>
                </a:path>
              </a:pathLst>
            </a:custGeom>
            <a:blipFill>
              <a:blip r:embed="rId6"/>
              <a:stretch>
                <a:fillRect l="-2" r="1"/>
              </a:stretch>
            </a:blipFill>
          </p:spPr>
        </p:sp>
      </p:grpSp>
      <p:sp>
        <p:nvSpPr>
          <p:cNvPr id="9" name="Freeform 9"/>
          <p:cNvSpPr/>
          <p:nvPr/>
        </p:nvSpPr>
        <p:spPr>
          <a:xfrm>
            <a:off x="10874287" y="321665"/>
            <a:ext cx="940749" cy="1297585"/>
          </a:xfrm>
          <a:custGeom>
            <a:avLst/>
            <a:gdLst/>
            <a:ahLst/>
            <a:cxnLst/>
            <a:rect l="l" t="t" r="r" b="b"/>
            <a:pathLst>
              <a:path w="940749" h="1297585">
                <a:moveTo>
                  <a:pt x="0" y="0"/>
                </a:moveTo>
                <a:lnTo>
                  <a:pt x="940750" y="0"/>
                </a:lnTo>
                <a:lnTo>
                  <a:pt x="940750" y="1297585"/>
                </a:lnTo>
                <a:lnTo>
                  <a:pt x="0" y="1297585"/>
                </a:lnTo>
                <a:lnTo>
                  <a:pt x="0" y="0"/>
                </a:lnTo>
                <a:close/>
              </a:path>
            </a:pathLst>
          </a:custGeom>
          <a:blipFill>
            <a:blip>
              <a:extLst>
                <a:ext uri="{96DAC541-7B7A-43D3-8B79-37D633B846F1}">
                  <asvg:svgBlip xmlns:asvg="http://schemas.microsoft.com/office/drawing/2016/SVG/main" r:embed="rId7"/>
                </a:ext>
              </a:extLst>
            </a:blip>
            <a:stretch>
              <a:fillRect/>
            </a:stretch>
          </a:blipFill>
          <a:ln w="19050" cap="sq">
            <a:solidFill>
              <a:srgbClr val="000000"/>
            </a:solidFill>
            <a:prstDash val="solid"/>
            <a:miter/>
          </a:ln>
        </p:spPr>
      </p:sp>
      <p:grpSp>
        <p:nvGrpSpPr>
          <p:cNvPr id="10" name="Group 10"/>
          <p:cNvGrpSpPr/>
          <p:nvPr/>
        </p:nvGrpSpPr>
        <p:grpSpPr>
          <a:xfrm>
            <a:off x="15085936" y="1108106"/>
            <a:ext cx="1051760" cy="1051750"/>
            <a:chOff x="0" y="0"/>
            <a:chExt cx="1402347" cy="1402334"/>
          </a:xfrm>
        </p:grpSpPr>
        <p:sp>
          <p:nvSpPr>
            <p:cNvPr id="11" name="Freeform 11"/>
            <p:cNvSpPr/>
            <p:nvPr/>
          </p:nvSpPr>
          <p:spPr>
            <a:xfrm>
              <a:off x="0" y="0"/>
              <a:ext cx="1402334" cy="1402334"/>
            </a:xfrm>
            <a:custGeom>
              <a:avLst/>
              <a:gdLst/>
              <a:ahLst/>
              <a:cxnLst/>
              <a:rect l="l" t="t" r="r" b="b"/>
              <a:pathLst>
                <a:path w="1402334" h="1402334">
                  <a:moveTo>
                    <a:pt x="0" y="0"/>
                  </a:moveTo>
                  <a:lnTo>
                    <a:pt x="1402334" y="0"/>
                  </a:lnTo>
                  <a:lnTo>
                    <a:pt x="1402334" y="1402334"/>
                  </a:lnTo>
                  <a:lnTo>
                    <a:pt x="0" y="1402334"/>
                  </a:lnTo>
                  <a:lnTo>
                    <a:pt x="0" y="0"/>
                  </a:lnTo>
                  <a:close/>
                </a:path>
              </a:pathLst>
            </a:custGeom>
            <a:blipFill>
              <a:blip r:embed="rId8"/>
              <a:stretch>
                <a:fillRect/>
              </a:stretch>
            </a:blipFill>
          </p:spPr>
        </p:sp>
      </p:grpSp>
      <p:grpSp>
        <p:nvGrpSpPr>
          <p:cNvPr id="12" name="Group 12"/>
          <p:cNvGrpSpPr/>
          <p:nvPr/>
        </p:nvGrpSpPr>
        <p:grpSpPr>
          <a:xfrm>
            <a:off x="6966153" y="1949735"/>
            <a:ext cx="4043523" cy="8450154"/>
            <a:chOff x="0" y="0"/>
            <a:chExt cx="3462528" cy="7235990"/>
          </a:xfrm>
        </p:grpSpPr>
        <p:sp>
          <p:nvSpPr>
            <p:cNvPr id="13" name="Freeform 13"/>
            <p:cNvSpPr/>
            <p:nvPr/>
          </p:nvSpPr>
          <p:spPr>
            <a:xfrm>
              <a:off x="0" y="0"/>
              <a:ext cx="3462528" cy="7235952"/>
            </a:xfrm>
            <a:custGeom>
              <a:avLst/>
              <a:gdLst/>
              <a:ahLst/>
              <a:cxnLst/>
              <a:rect l="l" t="t" r="r" b="b"/>
              <a:pathLst>
                <a:path w="3462528" h="7235952">
                  <a:moveTo>
                    <a:pt x="0" y="0"/>
                  </a:moveTo>
                  <a:lnTo>
                    <a:pt x="3462528" y="0"/>
                  </a:lnTo>
                  <a:lnTo>
                    <a:pt x="3462528" y="7235952"/>
                  </a:lnTo>
                  <a:lnTo>
                    <a:pt x="0" y="7235952"/>
                  </a:lnTo>
                  <a:lnTo>
                    <a:pt x="0" y="0"/>
                  </a:lnTo>
                  <a:close/>
                </a:path>
              </a:pathLst>
            </a:custGeom>
            <a:blipFill>
              <a:blip r:embed="rId9"/>
              <a:stretch>
                <a:fillRect/>
              </a:stretch>
            </a:blipFill>
          </p:spPr>
        </p:sp>
      </p:grpSp>
      <p:sp>
        <p:nvSpPr>
          <p:cNvPr id="14" name="TextBox 14"/>
          <p:cNvSpPr txBox="1"/>
          <p:nvPr/>
        </p:nvSpPr>
        <p:spPr>
          <a:xfrm>
            <a:off x="787407" y="685800"/>
            <a:ext cx="13423146" cy="685800"/>
          </a:xfrm>
          <a:prstGeom prst="rect">
            <a:avLst/>
          </a:prstGeom>
        </p:spPr>
        <p:txBody>
          <a:bodyPr lIns="0" tIns="0" rIns="0" bIns="0" rtlCol="0" anchor="t">
            <a:spAutoFit/>
          </a:bodyPr>
          <a:lstStyle/>
          <a:p>
            <a:pPr algn="l">
              <a:lnSpc>
                <a:spcPts val="5400"/>
              </a:lnSpc>
            </a:pPr>
            <a:r>
              <a:rPr lang="en-US" sz="4500">
                <a:solidFill>
                  <a:srgbClr val="000000"/>
                </a:solidFill>
                <a:latin typeface="Lexend Peta"/>
                <a:ea typeface="Lexend Peta"/>
                <a:cs typeface="Lexend Peta"/>
                <a:sym typeface="Lexend Peta"/>
              </a:rPr>
              <a:t>EXISTING SOLUTION:</a:t>
            </a:r>
          </a:p>
        </p:txBody>
      </p:sp>
      <p:grpSp>
        <p:nvGrpSpPr>
          <p:cNvPr id="15" name="Group 15"/>
          <p:cNvGrpSpPr/>
          <p:nvPr/>
        </p:nvGrpSpPr>
        <p:grpSpPr>
          <a:xfrm>
            <a:off x="787407" y="1949735"/>
            <a:ext cx="6178746" cy="2677274"/>
            <a:chOff x="0" y="0"/>
            <a:chExt cx="1627324" cy="705126"/>
          </a:xfrm>
        </p:grpSpPr>
        <p:sp>
          <p:nvSpPr>
            <p:cNvPr id="16" name="Freeform 16"/>
            <p:cNvSpPr/>
            <p:nvPr/>
          </p:nvSpPr>
          <p:spPr>
            <a:xfrm>
              <a:off x="0" y="0"/>
              <a:ext cx="1627324" cy="705126"/>
            </a:xfrm>
            <a:custGeom>
              <a:avLst/>
              <a:gdLst/>
              <a:ahLst/>
              <a:cxnLst/>
              <a:rect l="l" t="t" r="r" b="b"/>
              <a:pathLst>
                <a:path w="1627324" h="705126">
                  <a:moveTo>
                    <a:pt x="63903" y="0"/>
                  </a:moveTo>
                  <a:lnTo>
                    <a:pt x="1563421" y="0"/>
                  </a:lnTo>
                  <a:cubicBezTo>
                    <a:pt x="1580369" y="0"/>
                    <a:pt x="1596623" y="6733"/>
                    <a:pt x="1608607" y="18717"/>
                  </a:cubicBezTo>
                  <a:cubicBezTo>
                    <a:pt x="1620591" y="30701"/>
                    <a:pt x="1627324" y="46955"/>
                    <a:pt x="1627324" y="63903"/>
                  </a:cubicBezTo>
                  <a:lnTo>
                    <a:pt x="1627324" y="641223"/>
                  </a:lnTo>
                  <a:cubicBezTo>
                    <a:pt x="1627324" y="658171"/>
                    <a:pt x="1620591" y="674425"/>
                    <a:pt x="1608607" y="686409"/>
                  </a:cubicBezTo>
                  <a:cubicBezTo>
                    <a:pt x="1596623" y="698393"/>
                    <a:pt x="1580369" y="705126"/>
                    <a:pt x="1563421" y="705126"/>
                  </a:cubicBezTo>
                  <a:lnTo>
                    <a:pt x="63903" y="705126"/>
                  </a:lnTo>
                  <a:cubicBezTo>
                    <a:pt x="28610" y="705126"/>
                    <a:pt x="0" y="676515"/>
                    <a:pt x="0" y="641223"/>
                  </a:cubicBezTo>
                  <a:lnTo>
                    <a:pt x="0" y="63903"/>
                  </a:lnTo>
                  <a:cubicBezTo>
                    <a:pt x="0" y="46955"/>
                    <a:pt x="6733" y="30701"/>
                    <a:pt x="18717" y="18717"/>
                  </a:cubicBezTo>
                  <a:cubicBezTo>
                    <a:pt x="30701" y="6733"/>
                    <a:pt x="46955" y="0"/>
                    <a:pt x="63903" y="0"/>
                  </a:cubicBezTo>
                  <a:close/>
                </a:path>
              </a:pathLst>
            </a:custGeom>
            <a:solidFill>
              <a:srgbClr val="FFFFFF"/>
            </a:solidFill>
            <a:ln w="57150" cap="rnd">
              <a:solidFill>
                <a:srgbClr val="000000"/>
              </a:solidFill>
              <a:prstDash val="lgDash"/>
              <a:round/>
            </a:ln>
          </p:spPr>
        </p:sp>
        <p:sp>
          <p:nvSpPr>
            <p:cNvPr id="17" name="TextBox 17"/>
            <p:cNvSpPr txBox="1"/>
            <p:nvPr/>
          </p:nvSpPr>
          <p:spPr>
            <a:xfrm>
              <a:off x="0" y="-38100"/>
              <a:ext cx="1627324" cy="7432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0511774" y="7018076"/>
            <a:ext cx="7263211" cy="2836810"/>
            <a:chOff x="0" y="0"/>
            <a:chExt cx="1912944" cy="747143"/>
          </a:xfrm>
        </p:grpSpPr>
        <p:sp>
          <p:nvSpPr>
            <p:cNvPr id="19" name="Freeform 19"/>
            <p:cNvSpPr/>
            <p:nvPr/>
          </p:nvSpPr>
          <p:spPr>
            <a:xfrm>
              <a:off x="0" y="0"/>
              <a:ext cx="1912944" cy="747143"/>
            </a:xfrm>
            <a:custGeom>
              <a:avLst/>
              <a:gdLst/>
              <a:ahLst/>
              <a:cxnLst/>
              <a:rect l="l" t="t" r="r" b="b"/>
              <a:pathLst>
                <a:path w="1912944" h="747143">
                  <a:moveTo>
                    <a:pt x="54361" y="0"/>
                  </a:moveTo>
                  <a:lnTo>
                    <a:pt x="1858583" y="0"/>
                  </a:lnTo>
                  <a:cubicBezTo>
                    <a:pt x="1873001" y="0"/>
                    <a:pt x="1886828" y="5727"/>
                    <a:pt x="1897022" y="15922"/>
                  </a:cubicBezTo>
                  <a:cubicBezTo>
                    <a:pt x="1907217" y="26117"/>
                    <a:pt x="1912944" y="39944"/>
                    <a:pt x="1912944" y="54361"/>
                  </a:cubicBezTo>
                  <a:lnTo>
                    <a:pt x="1912944" y="692782"/>
                  </a:lnTo>
                  <a:cubicBezTo>
                    <a:pt x="1912944" y="707200"/>
                    <a:pt x="1907217" y="721027"/>
                    <a:pt x="1897022" y="731221"/>
                  </a:cubicBezTo>
                  <a:cubicBezTo>
                    <a:pt x="1886828" y="741416"/>
                    <a:pt x="1873001" y="747143"/>
                    <a:pt x="1858583" y="747143"/>
                  </a:cubicBezTo>
                  <a:lnTo>
                    <a:pt x="54361" y="747143"/>
                  </a:lnTo>
                  <a:cubicBezTo>
                    <a:pt x="39944" y="747143"/>
                    <a:pt x="26117" y="741416"/>
                    <a:pt x="15922" y="731221"/>
                  </a:cubicBezTo>
                  <a:cubicBezTo>
                    <a:pt x="5727" y="721027"/>
                    <a:pt x="0" y="707200"/>
                    <a:pt x="0" y="692782"/>
                  </a:cubicBezTo>
                  <a:lnTo>
                    <a:pt x="0" y="54361"/>
                  </a:lnTo>
                  <a:cubicBezTo>
                    <a:pt x="0" y="39944"/>
                    <a:pt x="5727" y="26117"/>
                    <a:pt x="15922" y="15922"/>
                  </a:cubicBezTo>
                  <a:cubicBezTo>
                    <a:pt x="26117" y="5727"/>
                    <a:pt x="39944" y="0"/>
                    <a:pt x="54361" y="0"/>
                  </a:cubicBezTo>
                  <a:close/>
                </a:path>
              </a:pathLst>
            </a:custGeom>
            <a:solidFill>
              <a:srgbClr val="FFFFFF"/>
            </a:solidFill>
            <a:ln w="57150" cap="rnd">
              <a:solidFill>
                <a:srgbClr val="000000"/>
              </a:solidFill>
              <a:prstDash val="lgDash"/>
              <a:round/>
            </a:ln>
          </p:spPr>
        </p:sp>
        <p:sp>
          <p:nvSpPr>
            <p:cNvPr id="20" name="TextBox 20"/>
            <p:cNvSpPr txBox="1"/>
            <p:nvPr/>
          </p:nvSpPr>
          <p:spPr>
            <a:xfrm>
              <a:off x="0" y="-38100"/>
              <a:ext cx="1912944" cy="785243"/>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0617744" y="3711428"/>
            <a:ext cx="7291590" cy="2883575"/>
            <a:chOff x="0" y="0"/>
            <a:chExt cx="1920419" cy="759460"/>
          </a:xfrm>
        </p:grpSpPr>
        <p:sp>
          <p:nvSpPr>
            <p:cNvPr id="22" name="Freeform 22"/>
            <p:cNvSpPr/>
            <p:nvPr/>
          </p:nvSpPr>
          <p:spPr>
            <a:xfrm>
              <a:off x="0" y="0"/>
              <a:ext cx="1920419" cy="759460"/>
            </a:xfrm>
            <a:custGeom>
              <a:avLst/>
              <a:gdLst/>
              <a:ahLst/>
              <a:cxnLst/>
              <a:rect l="l" t="t" r="r" b="b"/>
              <a:pathLst>
                <a:path w="1920419" h="759460">
                  <a:moveTo>
                    <a:pt x="54150" y="0"/>
                  </a:moveTo>
                  <a:lnTo>
                    <a:pt x="1866269" y="0"/>
                  </a:lnTo>
                  <a:cubicBezTo>
                    <a:pt x="1880630" y="0"/>
                    <a:pt x="1894404" y="5705"/>
                    <a:pt x="1904559" y="15860"/>
                  </a:cubicBezTo>
                  <a:cubicBezTo>
                    <a:pt x="1914714" y="26015"/>
                    <a:pt x="1920419" y="39788"/>
                    <a:pt x="1920419" y="54150"/>
                  </a:cubicBezTo>
                  <a:lnTo>
                    <a:pt x="1920419" y="705310"/>
                  </a:lnTo>
                  <a:cubicBezTo>
                    <a:pt x="1920419" y="719672"/>
                    <a:pt x="1914714" y="733445"/>
                    <a:pt x="1904559" y="743600"/>
                  </a:cubicBezTo>
                  <a:cubicBezTo>
                    <a:pt x="1894404" y="753755"/>
                    <a:pt x="1880630" y="759460"/>
                    <a:pt x="1866269" y="759460"/>
                  </a:cubicBezTo>
                  <a:lnTo>
                    <a:pt x="54150" y="759460"/>
                  </a:lnTo>
                  <a:cubicBezTo>
                    <a:pt x="39788" y="759460"/>
                    <a:pt x="26015" y="753755"/>
                    <a:pt x="15860" y="743600"/>
                  </a:cubicBezTo>
                  <a:cubicBezTo>
                    <a:pt x="5705" y="733445"/>
                    <a:pt x="0" y="719672"/>
                    <a:pt x="0" y="705310"/>
                  </a:cubicBezTo>
                  <a:lnTo>
                    <a:pt x="0" y="54150"/>
                  </a:lnTo>
                  <a:cubicBezTo>
                    <a:pt x="0" y="39788"/>
                    <a:pt x="5705" y="26015"/>
                    <a:pt x="15860" y="15860"/>
                  </a:cubicBezTo>
                  <a:cubicBezTo>
                    <a:pt x="26015" y="5705"/>
                    <a:pt x="39788" y="0"/>
                    <a:pt x="54150" y="0"/>
                  </a:cubicBezTo>
                  <a:close/>
                </a:path>
              </a:pathLst>
            </a:custGeom>
            <a:solidFill>
              <a:srgbClr val="FFFFFF"/>
            </a:solidFill>
            <a:ln w="57150" cap="rnd">
              <a:solidFill>
                <a:srgbClr val="000000"/>
              </a:solidFill>
              <a:prstDash val="lgDash"/>
              <a:round/>
            </a:ln>
          </p:spPr>
        </p:sp>
        <p:sp>
          <p:nvSpPr>
            <p:cNvPr id="23" name="TextBox 23"/>
            <p:cNvSpPr txBox="1"/>
            <p:nvPr/>
          </p:nvSpPr>
          <p:spPr>
            <a:xfrm>
              <a:off x="0" y="-38100"/>
              <a:ext cx="1920419" cy="797560"/>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787407" y="5221827"/>
            <a:ext cx="6299121" cy="3512556"/>
            <a:chOff x="0" y="0"/>
            <a:chExt cx="1659028" cy="874370"/>
          </a:xfrm>
        </p:grpSpPr>
        <p:sp>
          <p:nvSpPr>
            <p:cNvPr id="25" name="Freeform 25"/>
            <p:cNvSpPr/>
            <p:nvPr/>
          </p:nvSpPr>
          <p:spPr>
            <a:xfrm>
              <a:off x="0" y="0"/>
              <a:ext cx="1659028" cy="874370"/>
            </a:xfrm>
            <a:custGeom>
              <a:avLst/>
              <a:gdLst/>
              <a:ahLst/>
              <a:cxnLst/>
              <a:rect l="l" t="t" r="r" b="b"/>
              <a:pathLst>
                <a:path w="1659028" h="874370">
                  <a:moveTo>
                    <a:pt x="62681" y="0"/>
                  </a:moveTo>
                  <a:lnTo>
                    <a:pt x="1596346" y="0"/>
                  </a:lnTo>
                  <a:cubicBezTo>
                    <a:pt x="1612970" y="0"/>
                    <a:pt x="1628914" y="6604"/>
                    <a:pt x="1640669" y="18359"/>
                  </a:cubicBezTo>
                  <a:cubicBezTo>
                    <a:pt x="1652424" y="30114"/>
                    <a:pt x="1659028" y="46057"/>
                    <a:pt x="1659028" y="62681"/>
                  </a:cubicBezTo>
                  <a:lnTo>
                    <a:pt x="1659028" y="811689"/>
                  </a:lnTo>
                  <a:cubicBezTo>
                    <a:pt x="1659028" y="846307"/>
                    <a:pt x="1630964" y="874370"/>
                    <a:pt x="1596346" y="874370"/>
                  </a:cubicBezTo>
                  <a:lnTo>
                    <a:pt x="62681" y="874370"/>
                  </a:lnTo>
                  <a:cubicBezTo>
                    <a:pt x="28063" y="874370"/>
                    <a:pt x="0" y="846307"/>
                    <a:pt x="0" y="811689"/>
                  </a:cubicBezTo>
                  <a:lnTo>
                    <a:pt x="0" y="62681"/>
                  </a:lnTo>
                  <a:cubicBezTo>
                    <a:pt x="0" y="46057"/>
                    <a:pt x="6604" y="30114"/>
                    <a:pt x="18359" y="18359"/>
                  </a:cubicBezTo>
                  <a:cubicBezTo>
                    <a:pt x="30114" y="6604"/>
                    <a:pt x="46057" y="0"/>
                    <a:pt x="62681" y="0"/>
                  </a:cubicBezTo>
                  <a:close/>
                </a:path>
              </a:pathLst>
            </a:custGeom>
            <a:solidFill>
              <a:srgbClr val="FFFFFF"/>
            </a:solidFill>
            <a:ln w="57150" cap="rnd">
              <a:solidFill>
                <a:srgbClr val="000000"/>
              </a:solidFill>
              <a:prstDash val="lgDash"/>
              <a:round/>
            </a:ln>
          </p:spPr>
        </p:sp>
        <p:sp>
          <p:nvSpPr>
            <p:cNvPr id="26" name="TextBox 26"/>
            <p:cNvSpPr txBox="1"/>
            <p:nvPr/>
          </p:nvSpPr>
          <p:spPr>
            <a:xfrm>
              <a:off x="0" y="-38100"/>
              <a:ext cx="1659028" cy="912470"/>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787407" y="2322501"/>
            <a:ext cx="6299121" cy="5644659"/>
            <a:chOff x="0" y="0"/>
            <a:chExt cx="8398827" cy="7526213"/>
          </a:xfrm>
        </p:grpSpPr>
        <p:sp>
          <p:nvSpPr>
            <p:cNvPr id="28" name="TextBox 28"/>
            <p:cNvSpPr txBox="1"/>
            <p:nvPr/>
          </p:nvSpPr>
          <p:spPr>
            <a:xfrm>
              <a:off x="780763" y="4130486"/>
              <a:ext cx="7618064" cy="3395727"/>
            </a:xfrm>
            <a:prstGeom prst="rect">
              <a:avLst/>
            </a:prstGeom>
          </p:spPr>
          <p:txBody>
            <a:bodyPr lIns="0" tIns="0" rIns="0" bIns="0" rtlCol="0" anchor="t">
              <a:spAutoFit/>
            </a:bodyPr>
            <a:lstStyle/>
            <a:p>
              <a:pPr algn="l">
                <a:lnSpc>
                  <a:spcPts val="5303"/>
                </a:lnSpc>
              </a:pPr>
              <a:r>
                <a:rPr lang="en-US" sz="2599" spc="44" dirty="0">
                  <a:solidFill>
                    <a:srgbClr val="191919"/>
                  </a:solidFill>
                  <a:latin typeface="DM Sans"/>
                  <a:ea typeface="DM Sans"/>
                  <a:cs typeface="DM Sans"/>
                  <a:sym typeface="DM Sans"/>
                </a:rPr>
                <a:t>                                               </a:t>
              </a:r>
            </a:p>
            <a:p>
              <a:pPr algn="l">
                <a:lnSpc>
                  <a:spcPts val="5303"/>
                </a:lnSpc>
              </a:pPr>
              <a:r>
                <a:rPr lang="en-US" sz="2599" b="1" spc="44" dirty="0">
                  <a:solidFill>
                    <a:srgbClr val="191919"/>
                  </a:solidFill>
                  <a:latin typeface="DM Sans Bold"/>
                  <a:ea typeface="DM Sans Bold"/>
                  <a:cs typeface="DM Sans Bold"/>
                  <a:sym typeface="DM Sans Bold"/>
                </a:rPr>
                <a:t>Limitation </a:t>
              </a:r>
              <a:r>
                <a:rPr lang="en-US" sz="2599" spc="44" dirty="0">
                  <a:solidFill>
                    <a:srgbClr val="191919"/>
                  </a:solidFill>
                  <a:latin typeface="DM Sans"/>
                  <a:ea typeface="DM Sans"/>
                  <a:cs typeface="DM Sans"/>
                  <a:sym typeface="DM Sans"/>
                </a:rPr>
                <a:t>: Requires continuous human monitoring and intervention.(microcontroller based timers).</a:t>
              </a:r>
            </a:p>
          </p:txBody>
        </p:sp>
        <p:sp>
          <p:nvSpPr>
            <p:cNvPr id="29" name="TextBox 29"/>
            <p:cNvSpPr txBox="1"/>
            <p:nvPr/>
          </p:nvSpPr>
          <p:spPr>
            <a:xfrm>
              <a:off x="0" y="-314325"/>
              <a:ext cx="7818749" cy="5202979"/>
            </a:xfrm>
            <a:prstGeom prst="rect">
              <a:avLst/>
            </a:prstGeom>
          </p:spPr>
          <p:txBody>
            <a:bodyPr lIns="0" tIns="0" rIns="0" bIns="0" rtlCol="0" anchor="t">
              <a:spAutoFit/>
            </a:bodyPr>
            <a:lstStyle/>
            <a:p>
              <a:pPr marL="561339" lvl="1" indent="-280669" algn="l">
                <a:lnSpc>
                  <a:spcPts val="6499"/>
                </a:lnSpc>
                <a:buAutoNum type="arabicPeriod"/>
              </a:pPr>
              <a:r>
                <a:rPr lang="en-US" sz="2599" b="1" spc="44">
                  <a:solidFill>
                    <a:srgbClr val="191919"/>
                  </a:solidFill>
                  <a:latin typeface="DM Sans Bold"/>
                  <a:ea typeface="DM Sans Bold"/>
                  <a:cs typeface="DM Sans Bold"/>
                  <a:sym typeface="DM Sans Bold"/>
                </a:rPr>
                <a:t>Fixed-Time Signals:</a:t>
              </a:r>
            </a:p>
            <a:p>
              <a:pPr algn="l">
                <a:lnSpc>
                  <a:spcPts val="6499"/>
                </a:lnSpc>
              </a:pPr>
              <a:endParaRPr lang="en-US" sz="2599" b="1" spc="44">
                <a:solidFill>
                  <a:srgbClr val="191919"/>
                </a:solidFill>
                <a:latin typeface="DM Sans Bold"/>
                <a:ea typeface="DM Sans Bold"/>
                <a:cs typeface="DM Sans Bold"/>
                <a:sym typeface="DM Sans Bold"/>
              </a:endParaRPr>
            </a:p>
            <a:p>
              <a:pPr algn="l">
                <a:lnSpc>
                  <a:spcPts val="6499"/>
                </a:lnSpc>
              </a:pPr>
              <a:endParaRPr lang="en-US" sz="2599" b="1" spc="44">
                <a:solidFill>
                  <a:srgbClr val="191919"/>
                </a:solidFill>
                <a:latin typeface="DM Sans Bold"/>
                <a:ea typeface="DM Sans Bold"/>
                <a:cs typeface="DM Sans Bold"/>
                <a:sym typeface="DM Sans Bold"/>
              </a:endParaRPr>
            </a:p>
            <a:p>
              <a:pPr algn="l">
                <a:lnSpc>
                  <a:spcPts val="6499"/>
                </a:lnSpc>
              </a:pPr>
              <a:endParaRPr lang="en-US" sz="2599" b="1" spc="44">
                <a:solidFill>
                  <a:srgbClr val="191919"/>
                </a:solidFill>
                <a:latin typeface="DM Sans Bold"/>
                <a:ea typeface="DM Sans Bold"/>
                <a:cs typeface="DM Sans Bold"/>
                <a:sym typeface="DM Sans Bold"/>
              </a:endParaRPr>
            </a:p>
            <a:p>
              <a:pPr marL="561339" lvl="1" indent="-280669" algn="l">
                <a:lnSpc>
                  <a:spcPts val="6499"/>
                </a:lnSpc>
                <a:buAutoNum type="arabicPeriod"/>
              </a:pPr>
              <a:r>
                <a:rPr lang="en-US" sz="2599" b="1" spc="44">
                  <a:solidFill>
                    <a:srgbClr val="191919"/>
                  </a:solidFill>
                  <a:latin typeface="DM Sans Bold"/>
                  <a:ea typeface="DM Sans Bold"/>
                  <a:cs typeface="DM Sans Bold"/>
                  <a:sym typeface="DM Sans Bold"/>
                </a:rPr>
                <a:t>Manual Traffic Control:</a:t>
              </a:r>
            </a:p>
          </p:txBody>
        </p:sp>
      </p:grpSp>
      <p:grpSp>
        <p:nvGrpSpPr>
          <p:cNvPr id="30" name="Group 30"/>
          <p:cNvGrpSpPr/>
          <p:nvPr/>
        </p:nvGrpSpPr>
        <p:grpSpPr>
          <a:xfrm>
            <a:off x="10617744" y="4008746"/>
            <a:ext cx="7291590" cy="4332131"/>
            <a:chOff x="0" y="0"/>
            <a:chExt cx="9722119" cy="5776175"/>
          </a:xfrm>
        </p:grpSpPr>
        <p:sp>
          <p:nvSpPr>
            <p:cNvPr id="31" name="TextBox 31"/>
            <p:cNvSpPr txBox="1"/>
            <p:nvPr/>
          </p:nvSpPr>
          <p:spPr>
            <a:xfrm>
              <a:off x="0" y="-314325"/>
              <a:ext cx="8940150" cy="5202979"/>
            </a:xfrm>
            <a:prstGeom prst="rect">
              <a:avLst/>
            </a:prstGeom>
          </p:spPr>
          <p:txBody>
            <a:bodyPr lIns="0" tIns="0" rIns="0" bIns="0" rtlCol="0" anchor="t">
              <a:spAutoFit/>
            </a:bodyPr>
            <a:lstStyle/>
            <a:p>
              <a:pPr marL="561339" lvl="1" indent="-280669" algn="l">
                <a:lnSpc>
                  <a:spcPts val="6499"/>
                </a:lnSpc>
                <a:buAutoNum type="arabicPeriod"/>
              </a:pPr>
              <a:r>
                <a:rPr lang="en-US" sz="2599" b="1" spc="44">
                  <a:solidFill>
                    <a:srgbClr val="191919"/>
                  </a:solidFill>
                  <a:latin typeface="DM Sans Bold"/>
                  <a:ea typeface="DM Sans Bold"/>
                  <a:cs typeface="DM Sans Bold"/>
                  <a:sym typeface="DM Sans Bold"/>
                </a:rPr>
                <a:t>Sensor Based Traffic Control : </a:t>
              </a:r>
            </a:p>
            <a:p>
              <a:pPr algn="l">
                <a:lnSpc>
                  <a:spcPts val="6499"/>
                </a:lnSpc>
              </a:pPr>
              <a:endParaRPr lang="en-US" sz="2599" b="1" spc="44">
                <a:solidFill>
                  <a:srgbClr val="191919"/>
                </a:solidFill>
                <a:latin typeface="DM Sans Bold"/>
                <a:ea typeface="DM Sans Bold"/>
                <a:cs typeface="DM Sans Bold"/>
                <a:sym typeface="DM Sans Bold"/>
              </a:endParaRPr>
            </a:p>
            <a:p>
              <a:pPr algn="l">
                <a:lnSpc>
                  <a:spcPts val="6499"/>
                </a:lnSpc>
              </a:pPr>
              <a:endParaRPr lang="en-US" sz="2599" b="1" spc="44">
                <a:solidFill>
                  <a:srgbClr val="191919"/>
                </a:solidFill>
                <a:latin typeface="DM Sans Bold"/>
                <a:ea typeface="DM Sans Bold"/>
                <a:cs typeface="DM Sans Bold"/>
                <a:sym typeface="DM Sans Bold"/>
              </a:endParaRPr>
            </a:p>
            <a:p>
              <a:pPr algn="l">
                <a:lnSpc>
                  <a:spcPts val="6499"/>
                </a:lnSpc>
              </a:pPr>
              <a:endParaRPr lang="en-US" sz="2599" b="1" spc="44">
                <a:solidFill>
                  <a:srgbClr val="191919"/>
                </a:solidFill>
                <a:latin typeface="DM Sans Bold"/>
                <a:ea typeface="DM Sans Bold"/>
                <a:cs typeface="DM Sans Bold"/>
                <a:sym typeface="DM Sans Bold"/>
              </a:endParaRPr>
            </a:p>
            <a:p>
              <a:pPr marL="561339" lvl="1" indent="-280669" algn="l">
                <a:lnSpc>
                  <a:spcPts val="6499"/>
                </a:lnSpc>
                <a:buAutoNum type="arabicPeriod"/>
              </a:pPr>
              <a:r>
                <a:rPr lang="en-US" sz="2599" b="1" spc="44">
                  <a:solidFill>
                    <a:srgbClr val="191919"/>
                  </a:solidFill>
                  <a:latin typeface="DM Sans Bold"/>
                  <a:ea typeface="DM Sans Bold"/>
                  <a:cs typeface="DM Sans Bold"/>
                  <a:sym typeface="DM Sans Bold"/>
                </a:rPr>
                <a:t>Metro City Dynamic Signals:</a:t>
              </a:r>
            </a:p>
          </p:txBody>
        </p:sp>
        <p:sp>
          <p:nvSpPr>
            <p:cNvPr id="32" name="TextBox 32"/>
            <p:cNvSpPr txBox="1"/>
            <p:nvPr/>
          </p:nvSpPr>
          <p:spPr>
            <a:xfrm>
              <a:off x="781969" y="1665395"/>
              <a:ext cx="8940150" cy="4110779"/>
            </a:xfrm>
            <a:prstGeom prst="rect">
              <a:avLst/>
            </a:prstGeom>
          </p:spPr>
          <p:txBody>
            <a:bodyPr lIns="0" tIns="0" rIns="0" bIns="0" rtlCol="0" anchor="t">
              <a:spAutoFit/>
            </a:bodyPr>
            <a:lstStyle/>
            <a:p>
              <a:pPr algn="l">
                <a:lnSpc>
                  <a:spcPts val="6499"/>
                </a:lnSpc>
              </a:pPr>
              <a:endParaRPr/>
            </a:p>
            <a:p>
              <a:pPr algn="l">
                <a:lnSpc>
                  <a:spcPts val="6499"/>
                </a:lnSpc>
              </a:pPr>
              <a:endParaRPr/>
            </a:p>
            <a:p>
              <a:pPr algn="l">
                <a:lnSpc>
                  <a:spcPts val="6499"/>
                </a:lnSpc>
              </a:pPr>
              <a:endParaRPr/>
            </a:p>
            <a:p>
              <a:pPr algn="l">
                <a:lnSpc>
                  <a:spcPts val="6499"/>
                </a:lnSpc>
              </a:pPr>
              <a:endParaRPr/>
            </a:p>
          </p:txBody>
        </p:sp>
      </p:grpSp>
      <p:sp>
        <p:nvSpPr>
          <p:cNvPr id="33" name="TextBox 33"/>
          <p:cNvSpPr txBox="1"/>
          <p:nvPr/>
        </p:nvSpPr>
        <p:spPr>
          <a:xfrm>
            <a:off x="1270104" y="2112951"/>
            <a:ext cx="5523939" cy="1957706"/>
          </a:xfrm>
          <a:prstGeom prst="rect">
            <a:avLst/>
          </a:prstGeom>
        </p:spPr>
        <p:txBody>
          <a:bodyPr lIns="0" tIns="0" rIns="0" bIns="0" rtlCol="0" anchor="t">
            <a:spAutoFit/>
          </a:bodyPr>
          <a:lstStyle/>
          <a:p>
            <a:pPr algn="l">
              <a:lnSpc>
                <a:spcPts val="5329"/>
              </a:lnSpc>
            </a:pPr>
            <a:r>
              <a:rPr lang="en-US" sz="2599" spc="44">
                <a:solidFill>
                  <a:srgbClr val="191919"/>
                </a:solidFill>
                <a:latin typeface="DM Sans"/>
                <a:ea typeface="DM Sans"/>
                <a:cs typeface="DM Sans"/>
                <a:sym typeface="DM Sans"/>
              </a:rPr>
              <a:t>                                           </a:t>
            </a:r>
            <a:r>
              <a:rPr lang="en-US" sz="2599" b="1" spc="44">
                <a:solidFill>
                  <a:srgbClr val="191919"/>
                </a:solidFill>
                <a:latin typeface="DM Sans Bold"/>
                <a:ea typeface="DM Sans Bold"/>
                <a:cs typeface="DM Sans Bold"/>
                <a:sym typeface="DM Sans Bold"/>
              </a:rPr>
              <a:t>Limitation </a:t>
            </a:r>
            <a:r>
              <a:rPr lang="en-US" sz="2599" spc="44">
                <a:solidFill>
                  <a:srgbClr val="191919"/>
                </a:solidFill>
                <a:latin typeface="DM Sans"/>
                <a:ea typeface="DM Sans"/>
                <a:cs typeface="DM Sans"/>
                <a:sym typeface="DM Sans"/>
              </a:rPr>
              <a:t>: Do not adapt their timing to changing traffic demand.</a:t>
            </a:r>
          </a:p>
        </p:txBody>
      </p:sp>
      <p:sp>
        <p:nvSpPr>
          <p:cNvPr id="34" name="TextBox 34"/>
          <p:cNvSpPr txBox="1"/>
          <p:nvPr/>
        </p:nvSpPr>
        <p:spPr>
          <a:xfrm>
            <a:off x="11155956" y="4417458"/>
            <a:ext cx="6553858" cy="1932433"/>
          </a:xfrm>
          <a:prstGeom prst="rect">
            <a:avLst/>
          </a:prstGeom>
        </p:spPr>
        <p:txBody>
          <a:bodyPr lIns="0" tIns="0" rIns="0" bIns="0" rtlCol="0" anchor="t">
            <a:spAutoFit/>
          </a:bodyPr>
          <a:lstStyle/>
          <a:p>
            <a:pPr algn="l">
              <a:lnSpc>
                <a:spcPts val="5303"/>
              </a:lnSpc>
            </a:pPr>
            <a:r>
              <a:rPr lang="en-US" sz="2599" b="1" spc="44">
                <a:solidFill>
                  <a:srgbClr val="191919"/>
                </a:solidFill>
                <a:latin typeface="DM Sans Bold"/>
                <a:ea typeface="DM Sans Bold"/>
                <a:cs typeface="DM Sans Bold"/>
                <a:sym typeface="DM Sans Bold"/>
              </a:rPr>
              <a:t>Limitation :</a:t>
            </a:r>
            <a:r>
              <a:rPr lang="en-US" sz="2599" spc="44">
                <a:solidFill>
                  <a:srgbClr val="191919"/>
                </a:solidFill>
                <a:latin typeface="DM Sans"/>
                <a:ea typeface="DM Sans"/>
                <a:cs typeface="DM Sans"/>
                <a:sym typeface="DM Sans"/>
              </a:rPr>
              <a:t> Sensors may provide limited information about vehicle position and movement</a:t>
            </a:r>
          </a:p>
        </p:txBody>
      </p:sp>
      <p:sp>
        <p:nvSpPr>
          <p:cNvPr id="35" name="TextBox 35"/>
          <p:cNvSpPr txBox="1"/>
          <p:nvPr/>
        </p:nvSpPr>
        <p:spPr>
          <a:xfrm>
            <a:off x="11155956" y="7754488"/>
            <a:ext cx="6423517" cy="1847850"/>
          </a:xfrm>
          <a:prstGeom prst="rect">
            <a:avLst/>
          </a:prstGeom>
        </p:spPr>
        <p:txBody>
          <a:bodyPr lIns="0" tIns="0" rIns="0" bIns="0" rtlCol="0" anchor="t">
            <a:spAutoFit/>
          </a:bodyPr>
          <a:lstStyle/>
          <a:p>
            <a:pPr algn="l">
              <a:lnSpc>
                <a:spcPts val="5069"/>
              </a:lnSpc>
            </a:pPr>
            <a:r>
              <a:rPr lang="en-US" sz="2599" b="1" spc="44">
                <a:solidFill>
                  <a:srgbClr val="191919"/>
                </a:solidFill>
                <a:latin typeface="DM Sans Bold"/>
                <a:ea typeface="DM Sans Bold"/>
                <a:cs typeface="DM Sans Bold"/>
                <a:sym typeface="DM Sans Bold"/>
              </a:rPr>
              <a:t>Limitation : </a:t>
            </a:r>
            <a:r>
              <a:rPr lang="en-US" sz="2599" spc="44">
                <a:solidFill>
                  <a:srgbClr val="191919"/>
                </a:solidFill>
                <a:latin typeface="DM Sans"/>
                <a:ea typeface="DM Sans"/>
                <a:cs typeface="DM Sans"/>
                <a:sym typeface="DM Sans"/>
              </a:rPr>
              <a:t>Pune, bengaluru dynamic signal has not considered the type of vehicle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Freeform 4"/>
          <p:cNvSpPr/>
          <p:nvPr/>
        </p:nvSpPr>
        <p:spPr>
          <a:xfrm>
            <a:off x="-1705038" y="-2975353"/>
            <a:ext cx="20530918" cy="13397417"/>
          </a:xfrm>
          <a:custGeom>
            <a:avLst/>
            <a:gdLst/>
            <a:ahLst/>
            <a:cxnLst/>
            <a:rect l="l" t="t" r="r" b="b"/>
            <a:pathLst>
              <a:path w="20530918" h="13397417">
                <a:moveTo>
                  <a:pt x="0" y="0"/>
                </a:moveTo>
                <a:lnTo>
                  <a:pt x="20530918" y="0"/>
                </a:lnTo>
                <a:lnTo>
                  <a:pt x="20530918" y="13397417"/>
                </a:lnTo>
                <a:lnTo>
                  <a:pt x="0" y="1339741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6429492" y="213389"/>
            <a:ext cx="856640" cy="856621"/>
            <a:chOff x="0" y="0"/>
            <a:chExt cx="1142187" cy="1142162"/>
          </a:xfrm>
        </p:grpSpPr>
        <p:sp>
          <p:nvSpPr>
            <p:cNvPr id="6" name="Freeform 6"/>
            <p:cNvSpPr/>
            <p:nvPr/>
          </p:nvSpPr>
          <p:spPr>
            <a:xfrm>
              <a:off x="0" y="0"/>
              <a:ext cx="1142238" cy="1142111"/>
            </a:xfrm>
            <a:custGeom>
              <a:avLst/>
              <a:gdLst/>
              <a:ahLst/>
              <a:cxnLst/>
              <a:rect l="l" t="t" r="r" b="b"/>
              <a:pathLst>
                <a:path w="1142238" h="1142111">
                  <a:moveTo>
                    <a:pt x="0" y="0"/>
                  </a:moveTo>
                  <a:lnTo>
                    <a:pt x="1142238" y="0"/>
                  </a:lnTo>
                  <a:lnTo>
                    <a:pt x="1142238" y="1142111"/>
                  </a:lnTo>
                  <a:lnTo>
                    <a:pt x="0" y="1142111"/>
                  </a:lnTo>
                  <a:lnTo>
                    <a:pt x="0" y="0"/>
                  </a:lnTo>
                  <a:close/>
                </a:path>
              </a:pathLst>
            </a:custGeom>
            <a:blipFill>
              <a:blip r:embed="rId5"/>
              <a:stretch>
                <a:fillRect r="4" b="-5"/>
              </a:stretch>
            </a:blipFill>
          </p:spPr>
        </p:sp>
      </p:grpSp>
      <p:sp>
        <p:nvSpPr>
          <p:cNvPr id="7" name="TextBox 7"/>
          <p:cNvSpPr txBox="1"/>
          <p:nvPr/>
        </p:nvSpPr>
        <p:spPr>
          <a:xfrm>
            <a:off x="1028700" y="4243556"/>
            <a:ext cx="6296773" cy="2355850"/>
          </a:xfrm>
          <a:prstGeom prst="rect">
            <a:avLst/>
          </a:prstGeom>
        </p:spPr>
        <p:txBody>
          <a:bodyPr lIns="0" tIns="0" rIns="0" bIns="0" rtlCol="0" anchor="t">
            <a:spAutoFit/>
          </a:bodyPr>
          <a:lstStyle/>
          <a:p>
            <a:pPr algn="ctr">
              <a:lnSpc>
                <a:spcPts val="4759"/>
              </a:lnSpc>
            </a:pPr>
            <a:r>
              <a:rPr lang="en-US" sz="2799" b="1">
                <a:solidFill>
                  <a:srgbClr val="191919"/>
                </a:solidFill>
                <a:latin typeface="DM Sans Bold"/>
                <a:ea typeface="DM Sans Bold"/>
                <a:cs typeface="DM Sans Bold"/>
                <a:sym typeface="DM Sans Bold"/>
              </a:rPr>
              <a:t>1. Traffic-responsive signals: </a:t>
            </a:r>
          </a:p>
          <a:p>
            <a:pPr algn="ctr">
              <a:lnSpc>
                <a:spcPts val="4759"/>
              </a:lnSpc>
            </a:pPr>
            <a:r>
              <a:rPr lang="en-US" sz="2799">
                <a:solidFill>
                  <a:srgbClr val="191919"/>
                </a:solidFill>
                <a:latin typeface="DM Sans"/>
                <a:ea typeface="DM Sans"/>
                <a:cs typeface="DM Sans"/>
                <a:sym typeface="DM Sans"/>
              </a:rPr>
              <a:t>Green-light duration changes based on simulated traffic conditions rather than relying only on fixed timings.</a:t>
            </a:r>
          </a:p>
        </p:txBody>
      </p:sp>
      <p:grpSp>
        <p:nvGrpSpPr>
          <p:cNvPr id="8" name="Group 8"/>
          <p:cNvGrpSpPr/>
          <p:nvPr/>
        </p:nvGrpSpPr>
        <p:grpSpPr>
          <a:xfrm>
            <a:off x="15863523" y="4603754"/>
            <a:ext cx="1544888" cy="5426993"/>
            <a:chOff x="0" y="0"/>
            <a:chExt cx="2059851" cy="7235990"/>
          </a:xfrm>
        </p:grpSpPr>
        <p:sp>
          <p:nvSpPr>
            <p:cNvPr id="9" name="Freeform 9"/>
            <p:cNvSpPr/>
            <p:nvPr/>
          </p:nvSpPr>
          <p:spPr>
            <a:xfrm>
              <a:off x="0" y="0"/>
              <a:ext cx="2059813" cy="7235952"/>
            </a:xfrm>
            <a:custGeom>
              <a:avLst/>
              <a:gdLst/>
              <a:ahLst/>
              <a:cxnLst/>
              <a:rect l="l" t="t" r="r" b="b"/>
              <a:pathLst>
                <a:path w="2059813" h="7235952">
                  <a:moveTo>
                    <a:pt x="0" y="0"/>
                  </a:moveTo>
                  <a:lnTo>
                    <a:pt x="2059813" y="0"/>
                  </a:lnTo>
                  <a:lnTo>
                    <a:pt x="2059813" y="7235952"/>
                  </a:lnTo>
                  <a:lnTo>
                    <a:pt x="0" y="7235952"/>
                  </a:lnTo>
                  <a:lnTo>
                    <a:pt x="0" y="0"/>
                  </a:lnTo>
                  <a:close/>
                </a:path>
              </a:pathLst>
            </a:custGeom>
            <a:blipFill>
              <a:blip r:embed="rId6"/>
              <a:stretch>
                <a:fillRect r="-1"/>
              </a:stretch>
            </a:blipFill>
          </p:spPr>
        </p:sp>
      </p:grpSp>
      <p:grpSp>
        <p:nvGrpSpPr>
          <p:cNvPr id="10" name="Group 10"/>
          <p:cNvGrpSpPr/>
          <p:nvPr/>
        </p:nvGrpSpPr>
        <p:grpSpPr>
          <a:xfrm>
            <a:off x="12378240" y="1070010"/>
            <a:ext cx="3406910" cy="2536417"/>
            <a:chOff x="0" y="0"/>
            <a:chExt cx="882150" cy="656754"/>
          </a:xfrm>
        </p:grpSpPr>
        <p:sp>
          <p:nvSpPr>
            <p:cNvPr id="11" name="Freeform 11"/>
            <p:cNvSpPr/>
            <p:nvPr/>
          </p:nvSpPr>
          <p:spPr>
            <a:xfrm>
              <a:off x="0" y="0"/>
              <a:ext cx="881560" cy="656754"/>
            </a:xfrm>
            <a:custGeom>
              <a:avLst/>
              <a:gdLst/>
              <a:ahLst/>
              <a:cxnLst/>
              <a:rect l="l" t="t" r="r" b="b"/>
              <a:pathLst>
                <a:path w="881560" h="656754">
                  <a:moveTo>
                    <a:pt x="478034" y="0"/>
                  </a:moveTo>
                  <a:cubicBezTo>
                    <a:pt x="537560" y="0"/>
                    <a:pt x="581271" y="38054"/>
                    <a:pt x="611163" y="82049"/>
                  </a:cubicBezTo>
                  <a:cubicBezTo>
                    <a:pt x="665403" y="68495"/>
                    <a:pt x="710900" y="73179"/>
                    <a:pt x="747443" y="106902"/>
                  </a:cubicBezTo>
                  <a:cubicBezTo>
                    <a:pt x="777351" y="134505"/>
                    <a:pt x="790520" y="173846"/>
                    <a:pt x="787209" y="213745"/>
                  </a:cubicBezTo>
                  <a:cubicBezTo>
                    <a:pt x="855291" y="250001"/>
                    <a:pt x="892639" y="317836"/>
                    <a:pt x="878644" y="382973"/>
                  </a:cubicBezTo>
                  <a:cubicBezTo>
                    <a:pt x="860962" y="455604"/>
                    <a:pt x="772483" y="502288"/>
                    <a:pt x="692485" y="490559"/>
                  </a:cubicBezTo>
                  <a:cubicBezTo>
                    <a:pt x="669639" y="533701"/>
                    <a:pt x="628505" y="567594"/>
                    <a:pt x="576357" y="580397"/>
                  </a:cubicBezTo>
                  <a:cubicBezTo>
                    <a:pt x="506798" y="597471"/>
                    <a:pt x="437016" y="572327"/>
                    <a:pt x="395531" y="521655"/>
                  </a:cubicBezTo>
                  <a:lnTo>
                    <a:pt x="168263" y="656754"/>
                  </a:lnTo>
                  <a:cubicBezTo>
                    <a:pt x="202920" y="616495"/>
                    <a:pt x="237097" y="580397"/>
                    <a:pt x="247359" y="517879"/>
                  </a:cubicBezTo>
                  <a:cubicBezTo>
                    <a:pt x="218775" y="526054"/>
                    <a:pt x="185633" y="523772"/>
                    <a:pt x="154849" y="509065"/>
                  </a:cubicBezTo>
                  <a:cubicBezTo>
                    <a:pt x="100623" y="483159"/>
                    <a:pt x="76487" y="426184"/>
                    <a:pt x="84416" y="378053"/>
                  </a:cubicBezTo>
                  <a:cubicBezTo>
                    <a:pt x="53542" y="357691"/>
                    <a:pt x="0" y="328307"/>
                    <a:pt x="0" y="258755"/>
                  </a:cubicBezTo>
                  <a:cubicBezTo>
                    <a:pt x="0" y="194266"/>
                    <a:pt x="70110" y="144759"/>
                    <a:pt x="135936" y="146070"/>
                  </a:cubicBezTo>
                  <a:cubicBezTo>
                    <a:pt x="143058" y="119650"/>
                    <a:pt x="158403" y="95346"/>
                    <a:pt x="181512" y="77307"/>
                  </a:cubicBezTo>
                  <a:cubicBezTo>
                    <a:pt x="230530" y="39056"/>
                    <a:pt x="305933" y="45664"/>
                    <a:pt x="346459" y="78779"/>
                  </a:cubicBezTo>
                  <a:cubicBezTo>
                    <a:pt x="374767" y="30444"/>
                    <a:pt x="419857" y="0"/>
                    <a:pt x="478034" y="0"/>
                  </a:cubicBezTo>
                  <a:close/>
                </a:path>
              </a:pathLst>
            </a:custGeom>
            <a:solidFill>
              <a:srgbClr val="EDD0BA"/>
            </a:solidFill>
          </p:spPr>
        </p:sp>
        <p:sp>
          <p:nvSpPr>
            <p:cNvPr id="12" name="TextBox 12"/>
            <p:cNvSpPr txBox="1"/>
            <p:nvPr/>
          </p:nvSpPr>
          <p:spPr>
            <a:xfrm>
              <a:off x="164469" y="49395"/>
              <a:ext cx="568165" cy="435707"/>
            </a:xfrm>
            <a:prstGeom prst="rect">
              <a:avLst/>
            </a:prstGeom>
          </p:spPr>
          <p:txBody>
            <a:bodyPr lIns="50800" tIns="50800" rIns="50800" bIns="50800" rtlCol="0" anchor="ctr"/>
            <a:lstStyle/>
            <a:p>
              <a:pPr algn="ctr">
                <a:lnSpc>
                  <a:spcPts val="3639"/>
                </a:lnSpc>
              </a:pPr>
              <a:r>
                <a:rPr lang="en-US" sz="2599">
                  <a:solidFill>
                    <a:srgbClr val="000000"/>
                  </a:solidFill>
                  <a:latin typeface="DM Sans"/>
                  <a:ea typeface="DM Sans"/>
                  <a:cs typeface="DM Sans"/>
                  <a:sym typeface="DM Sans"/>
                </a:rPr>
                <a:t>What is Unique/</a:t>
              </a:r>
            </a:p>
            <a:p>
              <a:pPr algn="ctr">
                <a:lnSpc>
                  <a:spcPts val="3639"/>
                </a:lnSpc>
              </a:pPr>
              <a:r>
                <a:rPr lang="en-US" sz="2599">
                  <a:solidFill>
                    <a:srgbClr val="000000"/>
                  </a:solidFill>
                  <a:latin typeface="DM Sans"/>
                  <a:ea typeface="DM Sans"/>
                  <a:cs typeface="DM Sans"/>
                  <a:sym typeface="DM Sans"/>
                </a:rPr>
                <a:t>Innovative?</a:t>
              </a:r>
            </a:p>
          </p:txBody>
        </p:sp>
      </p:grpSp>
      <p:sp>
        <p:nvSpPr>
          <p:cNvPr id="13" name="TextBox 13"/>
          <p:cNvSpPr txBox="1"/>
          <p:nvPr/>
        </p:nvSpPr>
        <p:spPr>
          <a:xfrm>
            <a:off x="1028700" y="392689"/>
            <a:ext cx="5253410" cy="866775"/>
          </a:xfrm>
          <a:prstGeom prst="rect">
            <a:avLst/>
          </a:prstGeom>
        </p:spPr>
        <p:txBody>
          <a:bodyPr lIns="0" tIns="0" rIns="0" bIns="0" rtlCol="0" anchor="t">
            <a:spAutoFit/>
          </a:bodyPr>
          <a:lstStyle/>
          <a:p>
            <a:pPr algn="l">
              <a:lnSpc>
                <a:spcPts val="6840"/>
              </a:lnSpc>
            </a:pPr>
            <a:r>
              <a:rPr lang="en-US" sz="5700">
                <a:solidFill>
                  <a:srgbClr val="191919"/>
                </a:solidFill>
                <a:latin typeface="Lexend Peta"/>
                <a:ea typeface="Lexend Peta"/>
                <a:cs typeface="Lexend Peta"/>
                <a:sym typeface="Lexend Peta"/>
              </a:rPr>
              <a:t>OUR IDEA:</a:t>
            </a:r>
          </a:p>
        </p:txBody>
      </p:sp>
      <p:sp>
        <p:nvSpPr>
          <p:cNvPr id="14" name="TextBox 14"/>
          <p:cNvSpPr txBox="1"/>
          <p:nvPr/>
        </p:nvSpPr>
        <p:spPr>
          <a:xfrm>
            <a:off x="797840" y="1693386"/>
            <a:ext cx="11580400" cy="1866901"/>
          </a:xfrm>
          <a:prstGeom prst="rect">
            <a:avLst/>
          </a:prstGeom>
        </p:spPr>
        <p:txBody>
          <a:bodyPr lIns="0" tIns="0" rIns="0" bIns="0" rtlCol="0" anchor="t">
            <a:spAutoFit/>
          </a:bodyPr>
          <a:lstStyle/>
          <a:p>
            <a:pPr algn="l">
              <a:lnSpc>
                <a:spcPts val="5099"/>
              </a:lnSpc>
            </a:pPr>
            <a:r>
              <a:rPr lang="en-US" sz="2999">
                <a:solidFill>
                  <a:srgbClr val="191919"/>
                </a:solidFill>
                <a:latin typeface="DM Sans"/>
                <a:ea typeface="DM Sans"/>
                <a:cs typeface="DM Sans"/>
                <a:sym typeface="DM Sans"/>
              </a:rPr>
              <a:t>A SUMO-based traffic system that dynamically adjusts signal timings and prioritizes emergency vehicles using Python and TraCI.</a:t>
            </a:r>
          </a:p>
        </p:txBody>
      </p:sp>
      <p:sp>
        <p:nvSpPr>
          <p:cNvPr id="15" name="TextBox 15"/>
          <p:cNvSpPr txBox="1"/>
          <p:nvPr/>
        </p:nvSpPr>
        <p:spPr>
          <a:xfrm>
            <a:off x="2572975" y="7233288"/>
            <a:ext cx="5567858" cy="2355850"/>
          </a:xfrm>
          <a:prstGeom prst="rect">
            <a:avLst/>
          </a:prstGeom>
        </p:spPr>
        <p:txBody>
          <a:bodyPr lIns="0" tIns="0" rIns="0" bIns="0" rtlCol="0" anchor="t">
            <a:spAutoFit/>
          </a:bodyPr>
          <a:lstStyle/>
          <a:p>
            <a:pPr algn="ctr">
              <a:lnSpc>
                <a:spcPts val="4759"/>
              </a:lnSpc>
            </a:pPr>
            <a:r>
              <a:rPr lang="en-US" sz="2799" b="1">
                <a:solidFill>
                  <a:srgbClr val="191919"/>
                </a:solidFill>
                <a:latin typeface="DM Sans Bold"/>
                <a:ea typeface="DM Sans Bold"/>
                <a:cs typeface="DM Sans Bold"/>
                <a:sym typeface="DM Sans Bold"/>
              </a:rPr>
              <a:t>2. Emergency-vehicle priority: </a:t>
            </a:r>
          </a:p>
          <a:p>
            <a:pPr algn="ctr">
              <a:lnSpc>
                <a:spcPts val="4759"/>
              </a:lnSpc>
            </a:pPr>
            <a:r>
              <a:rPr lang="en-US" sz="2799">
                <a:solidFill>
                  <a:srgbClr val="191919"/>
                </a:solidFill>
                <a:latin typeface="DM Sans"/>
                <a:ea typeface="DM Sans"/>
                <a:cs typeface="DM Sans"/>
                <a:sym typeface="DM Sans"/>
              </a:rPr>
              <a:t>Includes a rule-based priority mechanism for emergency vehicles in the simulation</a:t>
            </a:r>
          </a:p>
        </p:txBody>
      </p:sp>
      <p:sp>
        <p:nvSpPr>
          <p:cNvPr id="16" name="TextBox 16"/>
          <p:cNvSpPr txBox="1"/>
          <p:nvPr/>
        </p:nvSpPr>
        <p:spPr>
          <a:xfrm>
            <a:off x="8506573" y="4243556"/>
            <a:ext cx="5760697" cy="2355850"/>
          </a:xfrm>
          <a:prstGeom prst="rect">
            <a:avLst/>
          </a:prstGeom>
        </p:spPr>
        <p:txBody>
          <a:bodyPr lIns="0" tIns="0" rIns="0" bIns="0" rtlCol="0" anchor="t">
            <a:spAutoFit/>
          </a:bodyPr>
          <a:lstStyle/>
          <a:p>
            <a:pPr algn="ctr">
              <a:lnSpc>
                <a:spcPts val="4760"/>
              </a:lnSpc>
            </a:pPr>
            <a:r>
              <a:rPr lang="en-US" sz="2800" b="1">
                <a:solidFill>
                  <a:srgbClr val="191919"/>
                </a:solidFill>
                <a:latin typeface="DM Sans Bold"/>
                <a:ea typeface="DM Sans Bold"/>
                <a:cs typeface="DM Sans Bold"/>
                <a:sym typeface="DM Sans Bold"/>
              </a:rPr>
              <a:t>3. Timer calculation according to type and count of vehicle: </a:t>
            </a:r>
          </a:p>
          <a:p>
            <a:pPr algn="ctr">
              <a:lnSpc>
                <a:spcPts val="4760"/>
              </a:lnSpc>
            </a:pPr>
            <a:r>
              <a:rPr lang="en-US" sz="2800">
                <a:solidFill>
                  <a:srgbClr val="191919"/>
                </a:solidFill>
                <a:latin typeface="DM Sans"/>
                <a:ea typeface="DM Sans"/>
                <a:cs typeface="DM Sans"/>
                <a:sym typeface="DM Sans"/>
              </a:rPr>
              <a:t>According to PCU factor given by IRC (Indian road congress)</a:t>
            </a:r>
          </a:p>
        </p:txBody>
      </p:sp>
      <p:sp>
        <p:nvSpPr>
          <p:cNvPr id="17" name="TextBox 17"/>
          <p:cNvSpPr txBox="1"/>
          <p:nvPr/>
        </p:nvSpPr>
        <p:spPr>
          <a:xfrm>
            <a:off x="9294087" y="7233288"/>
            <a:ext cx="6569436" cy="2355850"/>
          </a:xfrm>
          <a:prstGeom prst="rect">
            <a:avLst/>
          </a:prstGeom>
        </p:spPr>
        <p:txBody>
          <a:bodyPr lIns="0" tIns="0" rIns="0" bIns="0" rtlCol="0" anchor="t">
            <a:spAutoFit/>
          </a:bodyPr>
          <a:lstStyle/>
          <a:p>
            <a:pPr algn="ctr">
              <a:lnSpc>
                <a:spcPts val="4760"/>
              </a:lnSpc>
            </a:pPr>
            <a:r>
              <a:rPr lang="en-US" sz="2800" b="1">
                <a:solidFill>
                  <a:srgbClr val="191919"/>
                </a:solidFill>
                <a:latin typeface="DM Sans Bold"/>
                <a:ea typeface="DM Sans Bold"/>
                <a:cs typeface="DM Sans Bold"/>
                <a:sym typeface="DM Sans Bold"/>
              </a:rPr>
              <a:t>4. Testable simulation environment: </a:t>
            </a:r>
            <a:r>
              <a:rPr lang="en-US" sz="2800">
                <a:solidFill>
                  <a:srgbClr val="191919"/>
                </a:solidFill>
                <a:latin typeface="DM Sans"/>
                <a:ea typeface="DM Sans"/>
                <a:cs typeface="DM Sans"/>
                <a:sym typeface="DM Sans"/>
              </a:rPr>
              <a:t>SUMO and TraCI allow traffic scenarios and signal-control decisions to be tested in a simulated road network.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Freeform 4"/>
          <p:cNvSpPr/>
          <p:nvPr/>
        </p:nvSpPr>
        <p:spPr>
          <a:xfrm>
            <a:off x="-1820536" y="-3020289"/>
            <a:ext cx="21267468" cy="14031173"/>
          </a:xfrm>
          <a:custGeom>
            <a:avLst/>
            <a:gdLst/>
            <a:ahLst/>
            <a:cxnLst/>
            <a:rect l="l" t="t" r="r" b="b"/>
            <a:pathLst>
              <a:path w="21267468" h="14031173">
                <a:moveTo>
                  <a:pt x="0" y="0"/>
                </a:moveTo>
                <a:lnTo>
                  <a:pt x="21267467" y="0"/>
                </a:lnTo>
                <a:lnTo>
                  <a:pt x="21267467" y="14031173"/>
                </a:lnTo>
                <a:lnTo>
                  <a:pt x="0" y="14031173"/>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7055856" y="8250203"/>
            <a:ext cx="1051760" cy="1051750"/>
            <a:chOff x="0" y="0"/>
            <a:chExt cx="1402347" cy="1402334"/>
          </a:xfrm>
        </p:grpSpPr>
        <p:sp>
          <p:nvSpPr>
            <p:cNvPr id="6" name="Freeform 6"/>
            <p:cNvSpPr/>
            <p:nvPr/>
          </p:nvSpPr>
          <p:spPr>
            <a:xfrm>
              <a:off x="0" y="0"/>
              <a:ext cx="1402334" cy="1402334"/>
            </a:xfrm>
            <a:custGeom>
              <a:avLst/>
              <a:gdLst/>
              <a:ahLst/>
              <a:cxnLst/>
              <a:rect l="l" t="t" r="r" b="b"/>
              <a:pathLst>
                <a:path w="1402334" h="1402334">
                  <a:moveTo>
                    <a:pt x="0" y="0"/>
                  </a:moveTo>
                  <a:lnTo>
                    <a:pt x="1402334" y="0"/>
                  </a:lnTo>
                  <a:lnTo>
                    <a:pt x="1402334" y="1402334"/>
                  </a:lnTo>
                  <a:lnTo>
                    <a:pt x="0" y="1402334"/>
                  </a:lnTo>
                  <a:lnTo>
                    <a:pt x="0" y="0"/>
                  </a:lnTo>
                  <a:close/>
                </a:path>
              </a:pathLst>
            </a:custGeom>
            <a:blipFill>
              <a:blip r:embed="rId5"/>
              <a:stretch>
                <a:fillRect/>
              </a:stretch>
            </a:blipFill>
          </p:spPr>
        </p:sp>
      </p:grpSp>
      <p:grpSp>
        <p:nvGrpSpPr>
          <p:cNvPr id="7" name="Group 7"/>
          <p:cNvGrpSpPr/>
          <p:nvPr/>
        </p:nvGrpSpPr>
        <p:grpSpPr>
          <a:xfrm>
            <a:off x="1748027" y="8108314"/>
            <a:ext cx="5776615" cy="1335529"/>
            <a:chOff x="0" y="0"/>
            <a:chExt cx="7099718" cy="1641424"/>
          </a:xfrm>
        </p:grpSpPr>
        <p:sp>
          <p:nvSpPr>
            <p:cNvPr id="8" name="Freeform 8"/>
            <p:cNvSpPr/>
            <p:nvPr/>
          </p:nvSpPr>
          <p:spPr>
            <a:xfrm>
              <a:off x="0" y="0"/>
              <a:ext cx="7099724" cy="1641423"/>
            </a:xfrm>
            <a:custGeom>
              <a:avLst/>
              <a:gdLst/>
              <a:ahLst/>
              <a:cxnLst/>
              <a:rect l="l" t="t" r="r" b="b"/>
              <a:pathLst>
                <a:path w="7099724" h="1641423">
                  <a:moveTo>
                    <a:pt x="0" y="0"/>
                  </a:moveTo>
                  <a:lnTo>
                    <a:pt x="7099724" y="0"/>
                  </a:lnTo>
                  <a:lnTo>
                    <a:pt x="7099724" y="1641423"/>
                  </a:lnTo>
                  <a:lnTo>
                    <a:pt x="0" y="1641423"/>
                  </a:lnTo>
                  <a:close/>
                </a:path>
              </a:pathLst>
            </a:custGeom>
            <a:blipFill>
              <a:blip r:embed="rId6">
                <a:alphaModFix amt="0"/>
              </a:blip>
              <a:stretch>
                <a:fillRect t="-34198" r="7635" b="-21489"/>
              </a:stretch>
            </a:blipFill>
          </p:spPr>
        </p:sp>
        <p:sp>
          <p:nvSpPr>
            <p:cNvPr id="9" name="TextBox 9"/>
            <p:cNvSpPr txBox="1"/>
            <p:nvPr/>
          </p:nvSpPr>
          <p:spPr>
            <a:xfrm>
              <a:off x="0" y="0"/>
              <a:ext cx="7099718" cy="1641424"/>
            </a:xfrm>
            <a:prstGeom prst="rect">
              <a:avLst/>
            </a:prstGeom>
          </p:spPr>
          <p:txBody>
            <a:bodyPr lIns="0" tIns="0" rIns="0" bIns="0" rtlCol="0" anchor="b"/>
            <a:lstStyle/>
            <a:p>
              <a:pPr algn="ctr">
                <a:lnSpc>
                  <a:spcPts val="3960"/>
                </a:lnSpc>
              </a:pPr>
              <a:r>
                <a:rPr lang="en-US" sz="3300">
                  <a:solidFill>
                    <a:srgbClr val="BF4428"/>
                  </a:solidFill>
                  <a:latin typeface="Lexend Peta"/>
                  <a:ea typeface="Lexend Peta"/>
                  <a:cs typeface="Lexend Peta"/>
                  <a:sym typeface="Lexend Peta"/>
                </a:rPr>
                <a:t> Give Priority to</a:t>
              </a:r>
            </a:p>
            <a:p>
              <a:pPr algn="ctr">
                <a:lnSpc>
                  <a:spcPts val="3960"/>
                </a:lnSpc>
              </a:pPr>
              <a:r>
                <a:rPr lang="en-US" sz="3300">
                  <a:solidFill>
                    <a:srgbClr val="BF4428"/>
                  </a:solidFill>
                  <a:latin typeface="Lexend Peta"/>
                  <a:ea typeface="Lexend Peta"/>
                  <a:cs typeface="Lexend Peta"/>
                  <a:sym typeface="Lexend Peta"/>
                </a:rPr>
                <a:t>Evergency Vehicles </a:t>
              </a:r>
            </a:p>
          </p:txBody>
        </p:sp>
      </p:grpSp>
      <p:grpSp>
        <p:nvGrpSpPr>
          <p:cNvPr id="10" name="Group 10"/>
          <p:cNvGrpSpPr/>
          <p:nvPr/>
        </p:nvGrpSpPr>
        <p:grpSpPr>
          <a:xfrm>
            <a:off x="13166512" y="3899638"/>
            <a:ext cx="4415223" cy="1870992"/>
            <a:chOff x="0" y="0"/>
            <a:chExt cx="5426507" cy="2299533"/>
          </a:xfrm>
        </p:grpSpPr>
        <p:sp>
          <p:nvSpPr>
            <p:cNvPr id="11" name="Freeform 11"/>
            <p:cNvSpPr/>
            <p:nvPr/>
          </p:nvSpPr>
          <p:spPr>
            <a:xfrm>
              <a:off x="0" y="0"/>
              <a:ext cx="5426512" cy="2299531"/>
            </a:xfrm>
            <a:custGeom>
              <a:avLst/>
              <a:gdLst/>
              <a:ahLst/>
              <a:cxnLst/>
              <a:rect l="l" t="t" r="r" b="b"/>
              <a:pathLst>
                <a:path w="5426512" h="2299531">
                  <a:moveTo>
                    <a:pt x="0" y="0"/>
                  </a:moveTo>
                  <a:lnTo>
                    <a:pt x="5426512" y="0"/>
                  </a:lnTo>
                  <a:lnTo>
                    <a:pt x="5426512" y="2299531"/>
                  </a:lnTo>
                  <a:lnTo>
                    <a:pt x="0" y="2299531"/>
                  </a:lnTo>
                  <a:close/>
                </a:path>
              </a:pathLst>
            </a:custGeom>
            <a:blipFill>
              <a:blip r:embed="rId6">
                <a:alphaModFix amt="0"/>
              </a:blip>
              <a:stretch>
                <a:fillRect t="-24411" r="-20843" b="13280"/>
              </a:stretch>
            </a:blipFill>
          </p:spPr>
        </p:sp>
        <p:sp>
          <p:nvSpPr>
            <p:cNvPr id="12" name="TextBox 12"/>
            <p:cNvSpPr txBox="1"/>
            <p:nvPr/>
          </p:nvSpPr>
          <p:spPr>
            <a:xfrm>
              <a:off x="0" y="0"/>
              <a:ext cx="5426507" cy="2299533"/>
            </a:xfrm>
            <a:prstGeom prst="rect">
              <a:avLst/>
            </a:prstGeom>
          </p:spPr>
          <p:txBody>
            <a:bodyPr lIns="0" tIns="0" rIns="0" bIns="0" rtlCol="0" anchor="b"/>
            <a:lstStyle/>
            <a:p>
              <a:pPr algn="ctr">
                <a:lnSpc>
                  <a:spcPts val="3960"/>
                </a:lnSpc>
              </a:pPr>
              <a:r>
                <a:rPr lang="en-US" sz="3300">
                  <a:solidFill>
                    <a:srgbClr val="BF4428"/>
                  </a:solidFill>
                  <a:latin typeface="Lexend Peta"/>
                  <a:ea typeface="Lexend Peta"/>
                  <a:cs typeface="Lexend Peta"/>
                  <a:sym typeface="Lexend Peta"/>
                </a:rPr>
                <a:t> Develop Smart Traffic Signals</a:t>
              </a:r>
            </a:p>
          </p:txBody>
        </p:sp>
      </p:grpSp>
      <p:grpSp>
        <p:nvGrpSpPr>
          <p:cNvPr id="13" name="Group 13"/>
          <p:cNvGrpSpPr/>
          <p:nvPr/>
        </p:nvGrpSpPr>
        <p:grpSpPr>
          <a:xfrm>
            <a:off x="10498752" y="8016511"/>
            <a:ext cx="5335521" cy="1235355"/>
            <a:chOff x="0" y="0"/>
            <a:chExt cx="6557594" cy="1518306"/>
          </a:xfrm>
        </p:grpSpPr>
        <p:sp>
          <p:nvSpPr>
            <p:cNvPr id="14" name="Freeform 14"/>
            <p:cNvSpPr/>
            <p:nvPr/>
          </p:nvSpPr>
          <p:spPr>
            <a:xfrm>
              <a:off x="0" y="0"/>
              <a:ext cx="6557600" cy="1518305"/>
            </a:xfrm>
            <a:custGeom>
              <a:avLst/>
              <a:gdLst/>
              <a:ahLst/>
              <a:cxnLst/>
              <a:rect l="l" t="t" r="r" b="b"/>
              <a:pathLst>
                <a:path w="6557600" h="1518305">
                  <a:moveTo>
                    <a:pt x="0" y="0"/>
                  </a:moveTo>
                  <a:lnTo>
                    <a:pt x="6557600" y="0"/>
                  </a:lnTo>
                  <a:lnTo>
                    <a:pt x="6557600" y="1518305"/>
                  </a:lnTo>
                  <a:lnTo>
                    <a:pt x="0" y="1518305"/>
                  </a:lnTo>
                  <a:close/>
                </a:path>
              </a:pathLst>
            </a:custGeom>
            <a:blipFill>
              <a:blip r:embed="rId6">
                <a:alphaModFix amt="0"/>
              </a:blip>
              <a:stretch>
                <a:fillRect t="-36972" b="-31340"/>
              </a:stretch>
            </a:blipFill>
          </p:spPr>
        </p:sp>
        <p:sp>
          <p:nvSpPr>
            <p:cNvPr id="15" name="TextBox 15"/>
            <p:cNvSpPr txBox="1"/>
            <p:nvPr/>
          </p:nvSpPr>
          <p:spPr>
            <a:xfrm>
              <a:off x="0" y="0"/>
              <a:ext cx="6557594" cy="1518306"/>
            </a:xfrm>
            <a:prstGeom prst="rect">
              <a:avLst/>
            </a:prstGeom>
          </p:spPr>
          <p:txBody>
            <a:bodyPr lIns="0" tIns="0" rIns="0" bIns="0" rtlCol="0" anchor="b"/>
            <a:lstStyle/>
            <a:p>
              <a:pPr algn="ctr">
                <a:lnSpc>
                  <a:spcPts val="3960"/>
                </a:lnSpc>
              </a:pPr>
              <a:r>
                <a:rPr lang="en-US" sz="3300">
                  <a:solidFill>
                    <a:srgbClr val="BF4428"/>
                  </a:solidFill>
                  <a:latin typeface="Lexend Peta"/>
                  <a:ea typeface="Lexend Peta"/>
                  <a:cs typeface="Lexend Peta"/>
                  <a:sym typeface="Lexend Peta"/>
                </a:rPr>
                <a:t>Evaluate System Performance</a:t>
              </a:r>
            </a:p>
          </p:txBody>
        </p:sp>
      </p:grpSp>
      <p:grpSp>
        <p:nvGrpSpPr>
          <p:cNvPr id="16" name="Group 16"/>
          <p:cNvGrpSpPr/>
          <p:nvPr/>
        </p:nvGrpSpPr>
        <p:grpSpPr>
          <a:xfrm>
            <a:off x="519932" y="4157961"/>
            <a:ext cx="5335521" cy="1348406"/>
            <a:chOff x="0" y="0"/>
            <a:chExt cx="6557594" cy="1657251"/>
          </a:xfrm>
        </p:grpSpPr>
        <p:sp>
          <p:nvSpPr>
            <p:cNvPr id="17" name="Freeform 17"/>
            <p:cNvSpPr/>
            <p:nvPr/>
          </p:nvSpPr>
          <p:spPr>
            <a:xfrm>
              <a:off x="0" y="0"/>
              <a:ext cx="6557600" cy="1657250"/>
            </a:xfrm>
            <a:custGeom>
              <a:avLst/>
              <a:gdLst/>
              <a:ahLst/>
              <a:cxnLst/>
              <a:rect l="l" t="t" r="r" b="b"/>
              <a:pathLst>
                <a:path w="6557600" h="1657250">
                  <a:moveTo>
                    <a:pt x="0" y="0"/>
                  </a:moveTo>
                  <a:lnTo>
                    <a:pt x="6557600" y="0"/>
                  </a:lnTo>
                  <a:lnTo>
                    <a:pt x="6557600" y="1657250"/>
                  </a:lnTo>
                  <a:lnTo>
                    <a:pt x="0" y="1657250"/>
                  </a:lnTo>
                  <a:close/>
                </a:path>
              </a:pathLst>
            </a:custGeom>
            <a:blipFill>
              <a:blip r:embed="rId7">
                <a:alphaModFix amt="0"/>
              </a:blip>
              <a:stretch>
                <a:fillRect t="-147845" b="-147845"/>
              </a:stretch>
            </a:blipFill>
          </p:spPr>
        </p:sp>
        <p:sp>
          <p:nvSpPr>
            <p:cNvPr id="18" name="TextBox 18"/>
            <p:cNvSpPr txBox="1"/>
            <p:nvPr/>
          </p:nvSpPr>
          <p:spPr>
            <a:xfrm>
              <a:off x="0" y="0"/>
              <a:ext cx="6557594" cy="1657251"/>
            </a:xfrm>
            <a:prstGeom prst="rect">
              <a:avLst/>
            </a:prstGeom>
          </p:spPr>
          <p:txBody>
            <a:bodyPr lIns="0" tIns="0" rIns="0" bIns="0" rtlCol="0" anchor="b"/>
            <a:lstStyle/>
            <a:p>
              <a:pPr algn="ctr">
                <a:lnSpc>
                  <a:spcPts val="3960"/>
                </a:lnSpc>
              </a:pPr>
              <a:r>
                <a:rPr lang="en-US" sz="3300">
                  <a:solidFill>
                    <a:srgbClr val="BF4428"/>
                  </a:solidFill>
                  <a:latin typeface="Lexend Peta"/>
                  <a:ea typeface="Lexend Peta"/>
                  <a:cs typeface="Lexend Peta"/>
                  <a:sym typeface="Lexend Peta"/>
                </a:rPr>
                <a:t> Build Traffic Simulation </a:t>
              </a:r>
            </a:p>
          </p:txBody>
        </p:sp>
      </p:grpSp>
      <p:grpSp>
        <p:nvGrpSpPr>
          <p:cNvPr id="19" name="Group 19"/>
          <p:cNvGrpSpPr/>
          <p:nvPr/>
        </p:nvGrpSpPr>
        <p:grpSpPr>
          <a:xfrm>
            <a:off x="6769717" y="3796912"/>
            <a:ext cx="5262983" cy="2406455"/>
            <a:chOff x="0" y="0"/>
            <a:chExt cx="6468441" cy="2957641"/>
          </a:xfrm>
        </p:grpSpPr>
        <p:sp>
          <p:nvSpPr>
            <p:cNvPr id="20" name="Freeform 20"/>
            <p:cNvSpPr/>
            <p:nvPr/>
          </p:nvSpPr>
          <p:spPr>
            <a:xfrm>
              <a:off x="0" y="0"/>
              <a:ext cx="6468447" cy="2957638"/>
            </a:xfrm>
            <a:custGeom>
              <a:avLst/>
              <a:gdLst/>
              <a:ahLst/>
              <a:cxnLst/>
              <a:rect l="l" t="t" r="r" b="b"/>
              <a:pathLst>
                <a:path w="6468447" h="2957638">
                  <a:moveTo>
                    <a:pt x="0" y="0"/>
                  </a:moveTo>
                  <a:lnTo>
                    <a:pt x="6468447" y="0"/>
                  </a:lnTo>
                  <a:lnTo>
                    <a:pt x="6468447" y="2957638"/>
                  </a:lnTo>
                  <a:lnTo>
                    <a:pt x="0" y="2957638"/>
                  </a:lnTo>
                  <a:close/>
                </a:path>
              </a:pathLst>
            </a:custGeom>
            <a:blipFill>
              <a:blip r:embed="rId6">
                <a:alphaModFix amt="0"/>
              </a:blip>
              <a:stretch>
                <a:fillRect t="-18979" r="-1378" b="32576"/>
              </a:stretch>
            </a:blipFill>
          </p:spPr>
        </p:sp>
        <p:sp>
          <p:nvSpPr>
            <p:cNvPr id="21" name="TextBox 21"/>
            <p:cNvSpPr txBox="1"/>
            <p:nvPr/>
          </p:nvSpPr>
          <p:spPr>
            <a:xfrm>
              <a:off x="0" y="0"/>
              <a:ext cx="6468441" cy="2957641"/>
            </a:xfrm>
            <a:prstGeom prst="rect">
              <a:avLst/>
            </a:prstGeom>
          </p:spPr>
          <p:txBody>
            <a:bodyPr lIns="0" tIns="0" rIns="0" bIns="0" rtlCol="0" anchor="b"/>
            <a:lstStyle/>
            <a:p>
              <a:pPr algn="ctr">
                <a:lnSpc>
                  <a:spcPts val="3960"/>
                </a:lnSpc>
              </a:pPr>
              <a:r>
                <a:rPr lang="en-US" sz="3300">
                  <a:solidFill>
                    <a:srgbClr val="BF4428"/>
                  </a:solidFill>
                  <a:latin typeface="Lexend Peta"/>
                  <a:ea typeface="Lexend Peta"/>
                  <a:cs typeface="Lexend Peta"/>
                  <a:sym typeface="Lexend Peta"/>
                </a:rPr>
                <a:t> Develop a rule based logic model to manage congestion </a:t>
              </a:r>
            </a:p>
          </p:txBody>
        </p:sp>
      </p:grpSp>
      <p:sp>
        <p:nvSpPr>
          <p:cNvPr id="22" name="Freeform 22"/>
          <p:cNvSpPr/>
          <p:nvPr/>
        </p:nvSpPr>
        <p:spPr>
          <a:xfrm>
            <a:off x="1215792" y="267346"/>
            <a:ext cx="1064471" cy="1356014"/>
          </a:xfrm>
          <a:custGeom>
            <a:avLst/>
            <a:gdLst/>
            <a:ahLst/>
            <a:cxnLst/>
            <a:rect l="l" t="t" r="r" b="b"/>
            <a:pathLst>
              <a:path w="1064471" h="1356014">
                <a:moveTo>
                  <a:pt x="0" y="0"/>
                </a:moveTo>
                <a:lnTo>
                  <a:pt x="1064470" y="0"/>
                </a:lnTo>
                <a:lnTo>
                  <a:pt x="1064470" y="1356014"/>
                </a:lnTo>
                <a:lnTo>
                  <a:pt x="0" y="1356014"/>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3" name="Freeform 23"/>
          <p:cNvSpPr/>
          <p:nvPr/>
        </p:nvSpPr>
        <p:spPr>
          <a:xfrm>
            <a:off x="2476618" y="2484228"/>
            <a:ext cx="1690640" cy="1673733"/>
          </a:xfrm>
          <a:custGeom>
            <a:avLst/>
            <a:gdLst/>
            <a:ahLst/>
            <a:cxnLst/>
            <a:rect l="l" t="t" r="r" b="b"/>
            <a:pathLst>
              <a:path w="1690640" h="1673733">
                <a:moveTo>
                  <a:pt x="0" y="0"/>
                </a:moveTo>
                <a:lnTo>
                  <a:pt x="1690640" y="0"/>
                </a:lnTo>
                <a:lnTo>
                  <a:pt x="1690640" y="1673733"/>
                </a:lnTo>
                <a:lnTo>
                  <a:pt x="0" y="1673733"/>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24" name="Freeform 24"/>
          <p:cNvSpPr/>
          <p:nvPr/>
        </p:nvSpPr>
        <p:spPr>
          <a:xfrm>
            <a:off x="8240246" y="2117239"/>
            <a:ext cx="1784404" cy="1721950"/>
          </a:xfrm>
          <a:custGeom>
            <a:avLst/>
            <a:gdLst/>
            <a:ahLst/>
            <a:cxnLst/>
            <a:rect l="l" t="t" r="r" b="b"/>
            <a:pathLst>
              <a:path w="1784404" h="1721950">
                <a:moveTo>
                  <a:pt x="0" y="0"/>
                </a:moveTo>
                <a:lnTo>
                  <a:pt x="1784405" y="0"/>
                </a:lnTo>
                <a:lnTo>
                  <a:pt x="1784405" y="1721951"/>
                </a:lnTo>
                <a:lnTo>
                  <a:pt x="0" y="1721951"/>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25" name="Freeform 25"/>
          <p:cNvSpPr/>
          <p:nvPr/>
        </p:nvSpPr>
        <p:spPr>
          <a:xfrm>
            <a:off x="14570732" y="2219965"/>
            <a:ext cx="1606784" cy="1673733"/>
          </a:xfrm>
          <a:custGeom>
            <a:avLst/>
            <a:gdLst/>
            <a:ahLst/>
            <a:cxnLst/>
            <a:rect l="l" t="t" r="r" b="b"/>
            <a:pathLst>
              <a:path w="1606784" h="1673733">
                <a:moveTo>
                  <a:pt x="0" y="0"/>
                </a:moveTo>
                <a:lnTo>
                  <a:pt x="1606784" y="0"/>
                </a:lnTo>
                <a:lnTo>
                  <a:pt x="1606784" y="1673733"/>
                </a:lnTo>
                <a:lnTo>
                  <a:pt x="0" y="1673733"/>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26" name="Freeform 26"/>
          <p:cNvSpPr/>
          <p:nvPr/>
        </p:nvSpPr>
        <p:spPr>
          <a:xfrm>
            <a:off x="12316120" y="6573436"/>
            <a:ext cx="1700785" cy="1369132"/>
          </a:xfrm>
          <a:custGeom>
            <a:avLst/>
            <a:gdLst/>
            <a:ahLst/>
            <a:cxnLst/>
            <a:rect l="l" t="t" r="r" b="b"/>
            <a:pathLst>
              <a:path w="1700785" h="1369132">
                <a:moveTo>
                  <a:pt x="0" y="0"/>
                </a:moveTo>
                <a:lnTo>
                  <a:pt x="1700785" y="0"/>
                </a:lnTo>
                <a:lnTo>
                  <a:pt x="1700785" y="1369131"/>
                </a:lnTo>
                <a:lnTo>
                  <a:pt x="0" y="1369131"/>
                </a:lnTo>
                <a:lnTo>
                  <a:pt x="0" y="0"/>
                </a:lnTo>
                <a:close/>
              </a:path>
            </a:pathLst>
          </a:custGeom>
          <a:blipFill>
            <a:blip>
              <a:extLst>
                <a:ext uri="{96DAC541-7B7A-43D3-8B79-37D633B846F1}">
                  <asvg:svgBlip xmlns:asvg="http://schemas.microsoft.com/office/drawing/2016/SVG/main" r:embed="rId12"/>
                </a:ext>
              </a:extLst>
            </a:blip>
            <a:stretch>
              <a:fillRect/>
            </a:stretch>
          </a:blipFill>
        </p:spPr>
      </p:sp>
      <p:grpSp>
        <p:nvGrpSpPr>
          <p:cNvPr id="27" name="Group 27"/>
          <p:cNvGrpSpPr/>
          <p:nvPr/>
        </p:nvGrpSpPr>
        <p:grpSpPr>
          <a:xfrm>
            <a:off x="3478330" y="6355524"/>
            <a:ext cx="2064847" cy="1610901"/>
            <a:chOff x="0" y="0"/>
            <a:chExt cx="1041844" cy="812800"/>
          </a:xfrm>
        </p:grpSpPr>
        <p:sp>
          <p:nvSpPr>
            <p:cNvPr id="28" name="Freeform 28"/>
            <p:cNvSpPr/>
            <p:nvPr/>
          </p:nvSpPr>
          <p:spPr>
            <a:xfrm>
              <a:off x="0" y="0"/>
              <a:ext cx="1041844" cy="812800"/>
            </a:xfrm>
            <a:custGeom>
              <a:avLst/>
              <a:gdLst/>
              <a:ahLst/>
              <a:cxnLst/>
              <a:rect l="l" t="t" r="r" b="b"/>
              <a:pathLst>
                <a:path w="1041844" h="812800">
                  <a:moveTo>
                    <a:pt x="0" y="0"/>
                  </a:moveTo>
                  <a:lnTo>
                    <a:pt x="1041844" y="0"/>
                  </a:lnTo>
                  <a:lnTo>
                    <a:pt x="1041844" y="812800"/>
                  </a:lnTo>
                  <a:lnTo>
                    <a:pt x="0" y="812800"/>
                  </a:lnTo>
                  <a:close/>
                </a:path>
              </a:pathLst>
            </a:custGeom>
            <a:blipFill>
              <a:blip r:embed="rId13"/>
              <a:stretch>
                <a:fillRect l="-659" r="-659"/>
              </a:stretch>
            </a:blipFill>
          </p:spPr>
        </p:sp>
      </p:grpSp>
      <p:sp>
        <p:nvSpPr>
          <p:cNvPr id="29" name="TextBox 29"/>
          <p:cNvSpPr txBox="1"/>
          <p:nvPr/>
        </p:nvSpPr>
        <p:spPr>
          <a:xfrm>
            <a:off x="2498336" y="572146"/>
            <a:ext cx="6493263" cy="866775"/>
          </a:xfrm>
          <a:prstGeom prst="rect">
            <a:avLst/>
          </a:prstGeom>
        </p:spPr>
        <p:txBody>
          <a:bodyPr wrap="square" lIns="0" tIns="0" rIns="0" bIns="0" rtlCol="0" anchor="t">
            <a:spAutoFit/>
          </a:bodyPr>
          <a:lstStyle/>
          <a:p>
            <a:pPr algn="l">
              <a:lnSpc>
                <a:spcPts val="6960"/>
              </a:lnSpc>
            </a:pPr>
            <a:r>
              <a:rPr lang="en-US" sz="5800" dirty="0">
                <a:solidFill>
                  <a:srgbClr val="191919"/>
                </a:solidFill>
                <a:latin typeface="Lexend Peta"/>
                <a:ea typeface="Lexend Peta"/>
                <a:cs typeface="Lexend Peta"/>
                <a:sym typeface="Lexend Peta"/>
              </a:rPr>
              <a:t>OBJECTIVE: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15073901" y="4177598"/>
            <a:ext cx="3706406" cy="6109402"/>
          </a:xfrm>
          <a:custGeom>
            <a:avLst/>
            <a:gdLst/>
            <a:ahLst/>
            <a:cxnLst/>
            <a:rect l="l" t="t" r="r" b="b"/>
            <a:pathLst>
              <a:path w="3706406" h="6109402">
                <a:moveTo>
                  <a:pt x="0" y="0"/>
                </a:moveTo>
                <a:lnTo>
                  <a:pt x="3706406" y="0"/>
                </a:lnTo>
                <a:lnTo>
                  <a:pt x="3706406" y="6109402"/>
                </a:lnTo>
                <a:lnTo>
                  <a:pt x="0" y="6109402"/>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7201950" y="-2416997"/>
            <a:ext cx="826903" cy="7560497"/>
            <a:chOff x="0" y="0"/>
            <a:chExt cx="1102538" cy="10080663"/>
          </a:xfrm>
        </p:grpSpPr>
        <p:sp>
          <p:nvSpPr>
            <p:cNvPr id="4" name="Freeform 4"/>
            <p:cNvSpPr/>
            <p:nvPr/>
          </p:nvSpPr>
          <p:spPr>
            <a:xfrm>
              <a:off x="0" y="0"/>
              <a:ext cx="1102487" cy="10080625"/>
            </a:xfrm>
            <a:custGeom>
              <a:avLst/>
              <a:gdLst/>
              <a:ahLst/>
              <a:cxnLst/>
              <a:rect l="l" t="t" r="r" b="b"/>
              <a:pathLst>
                <a:path w="1102487" h="10080625">
                  <a:moveTo>
                    <a:pt x="0" y="0"/>
                  </a:moveTo>
                  <a:lnTo>
                    <a:pt x="1102487" y="0"/>
                  </a:lnTo>
                  <a:lnTo>
                    <a:pt x="1102487" y="10080625"/>
                  </a:lnTo>
                  <a:lnTo>
                    <a:pt x="0" y="10080625"/>
                  </a:lnTo>
                  <a:lnTo>
                    <a:pt x="0" y="0"/>
                  </a:lnTo>
                  <a:close/>
                </a:path>
              </a:pathLst>
            </a:custGeom>
            <a:blipFill>
              <a:blip r:embed="rId4"/>
              <a:stretch>
                <a:fillRect l="-2" r="-5"/>
              </a:stretch>
            </a:blipFill>
          </p:spPr>
        </p:sp>
      </p:grpSp>
      <p:grpSp>
        <p:nvGrpSpPr>
          <p:cNvPr id="5" name="Group 5"/>
          <p:cNvGrpSpPr/>
          <p:nvPr/>
        </p:nvGrpSpPr>
        <p:grpSpPr>
          <a:xfrm>
            <a:off x="397038" y="1501233"/>
            <a:ext cx="14676863" cy="8255735"/>
            <a:chOff x="0" y="0"/>
            <a:chExt cx="19569150" cy="11007647"/>
          </a:xfrm>
        </p:grpSpPr>
        <p:grpSp>
          <p:nvGrpSpPr>
            <p:cNvPr id="6" name="Group 6"/>
            <p:cNvGrpSpPr/>
            <p:nvPr/>
          </p:nvGrpSpPr>
          <p:grpSpPr>
            <a:xfrm>
              <a:off x="0" y="0"/>
              <a:ext cx="19569150" cy="11007647"/>
              <a:chOff x="0" y="0"/>
              <a:chExt cx="24384000" cy="13716000"/>
            </a:xfrm>
          </p:grpSpPr>
          <p:sp>
            <p:nvSpPr>
              <p:cNvPr id="7" name="Freeform 7"/>
              <p:cNvSpPr/>
              <p:nvPr/>
            </p:nvSpPr>
            <p:spPr>
              <a:xfrm>
                <a:off x="0" y="0"/>
                <a:ext cx="24384000" cy="13716000"/>
              </a:xfrm>
              <a:custGeom>
                <a:avLst/>
                <a:gdLst/>
                <a:ahLst/>
                <a:cxnLst/>
                <a:rect l="l" t="t" r="r" b="b"/>
                <a:pathLst>
                  <a:path w="24384000" h="13716000">
                    <a:moveTo>
                      <a:pt x="1700687" y="0"/>
                    </a:moveTo>
                    <a:lnTo>
                      <a:pt x="22683313" y="0"/>
                    </a:lnTo>
                    <a:cubicBezTo>
                      <a:pt x="23134363" y="0"/>
                      <a:pt x="23566940" y="179179"/>
                      <a:pt x="23885880" y="498120"/>
                    </a:cubicBezTo>
                    <a:cubicBezTo>
                      <a:pt x="24204822" y="817061"/>
                      <a:pt x="24384000" y="1249637"/>
                      <a:pt x="24384000" y="1700687"/>
                    </a:cubicBezTo>
                    <a:lnTo>
                      <a:pt x="24384000" y="12015312"/>
                    </a:lnTo>
                    <a:cubicBezTo>
                      <a:pt x="24384000" y="12466363"/>
                      <a:pt x="24204822" y="12898940"/>
                      <a:pt x="23885880" y="13217880"/>
                    </a:cubicBezTo>
                    <a:cubicBezTo>
                      <a:pt x="23566940" y="13536822"/>
                      <a:pt x="23134363" y="13716000"/>
                      <a:pt x="22683313" y="13716000"/>
                    </a:cubicBezTo>
                    <a:lnTo>
                      <a:pt x="1700687" y="13716000"/>
                    </a:lnTo>
                    <a:cubicBezTo>
                      <a:pt x="1249637" y="13716000"/>
                      <a:pt x="817061" y="13536822"/>
                      <a:pt x="498120" y="13217880"/>
                    </a:cubicBezTo>
                    <a:cubicBezTo>
                      <a:pt x="179179" y="12898940"/>
                      <a:pt x="0" y="12466363"/>
                      <a:pt x="0" y="12015312"/>
                    </a:cubicBezTo>
                    <a:lnTo>
                      <a:pt x="0" y="1700687"/>
                    </a:lnTo>
                    <a:cubicBezTo>
                      <a:pt x="0" y="1249637"/>
                      <a:pt x="179179" y="817061"/>
                      <a:pt x="498120" y="498120"/>
                    </a:cubicBezTo>
                    <a:cubicBezTo>
                      <a:pt x="817061" y="179179"/>
                      <a:pt x="1249637" y="0"/>
                      <a:pt x="1700687" y="0"/>
                    </a:cubicBezTo>
                    <a:close/>
                  </a:path>
                </a:pathLst>
              </a:custGeom>
              <a:blipFill>
                <a:blip r:embed="rId5"/>
                <a:stretch>
                  <a:fillRect t="-222" b="-222"/>
                </a:stretch>
              </a:blipFill>
            </p:spPr>
          </p:sp>
        </p:grpSp>
        <p:grpSp>
          <p:nvGrpSpPr>
            <p:cNvPr id="8" name="Group 8"/>
            <p:cNvGrpSpPr/>
            <p:nvPr/>
          </p:nvGrpSpPr>
          <p:grpSpPr>
            <a:xfrm>
              <a:off x="1060194" y="2215115"/>
              <a:ext cx="265686" cy="367768"/>
              <a:chOff x="0" y="0"/>
              <a:chExt cx="48833" cy="67596"/>
            </a:xfrm>
          </p:grpSpPr>
          <p:sp>
            <p:nvSpPr>
              <p:cNvPr id="9" name="Freeform 9"/>
              <p:cNvSpPr/>
              <p:nvPr/>
            </p:nvSpPr>
            <p:spPr>
              <a:xfrm>
                <a:off x="0" y="0"/>
                <a:ext cx="48833" cy="67596"/>
              </a:xfrm>
              <a:custGeom>
                <a:avLst/>
                <a:gdLst/>
                <a:ahLst/>
                <a:cxnLst/>
                <a:rect l="l" t="t" r="r" b="b"/>
                <a:pathLst>
                  <a:path w="48833" h="67596">
                    <a:moveTo>
                      <a:pt x="24417" y="0"/>
                    </a:moveTo>
                    <a:lnTo>
                      <a:pt x="24417" y="0"/>
                    </a:lnTo>
                    <a:cubicBezTo>
                      <a:pt x="37902" y="0"/>
                      <a:pt x="48833" y="10932"/>
                      <a:pt x="48833" y="24417"/>
                    </a:cubicBezTo>
                    <a:lnTo>
                      <a:pt x="48833" y="43179"/>
                    </a:lnTo>
                    <a:cubicBezTo>
                      <a:pt x="48833" y="56664"/>
                      <a:pt x="37902" y="67596"/>
                      <a:pt x="24417" y="67596"/>
                    </a:cubicBezTo>
                    <a:lnTo>
                      <a:pt x="24417" y="67596"/>
                    </a:lnTo>
                    <a:cubicBezTo>
                      <a:pt x="17941" y="67596"/>
                      <a:pt x="11730" y="65024"/>
                      <a:pt x="7151" y="60445"/>
                    </a:cubicBezTo>
                    <a:cubicBezTo>
                      <a:pt x="2572" y="55866"/>
                      <a:pt x="0" y="49655"/>
                      <a:pt x="0" y="43179"/>
                    </a:cubicBezTo>
                    <a:lnTo>
                      <a:pt x="0" y="24417"/>
                    </a:lnTo>
                    <a:cubicBezTo>
                      <a:pt x="0" y="17941"/>
                      <a:pt x="2572" y="11730"/>
                      <a:pt x="7151" y="7151"/>
                    </a:cubicBezTo>
                    <a:cubicBezTo>
                      <a:pt x="11730" y="2572"/>
                      <a:pt x="17941" y="0"/>
                      <a:pt x="24417" y="0"/>
                    </a:cubicBezTo>
                    <a:close/>
                  </a:path>
                </a:pathLst>
              </a:custGeom>
              <a:solidFill>
                <a:srgbClr val="FFFFFF"/>
              </a:solidFill>
            </p:spPr>
          </p:sp>
          <p:sp>
            <p:nvSpPr>
              <p:cNvPr id="10" name="TextBox 10"/>
              <p:cNvSpPr txBox="1"/>
              <p:nvPr/>
            </p:nvSpPr>
            <p:spPr>
              <a:xfrm>
                <a:off x="0" y="-38100"/>
                <a:ext cx="48833" cy="105696"/>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6081247" y="3214181"/>
              <a:ext cx="2875442" cy="245369"/>
              <a:chOff x="0" y="0"/>
              <a:chExt cx="528508" cy="45099"/>
            </a:xfrm>
          </p:grpSpPr>
          <p:sp>
            <p:nvSpPr>
              <p:cNvPr id="12" name="Freeform 12"/>
              <p:cNvSpPr/>
              <p:nvPr/>
            </p:nvSpPr>
            <p:spPr>
              <a:xfrm>
                <a:off x="0" y="0"/>
                <a:ext cx="528508" cy="45099"/>
              </a:xfrm>
              <a:custGeom>
                <a:avLst/>
                <a:gdLst/>
                <a:ahLst/>
                <a:cxnLst/>
                <a:rect l="l" t="t" r="r" b="b"/>
                <a:pathLst>
                  <a:path w="528508" h="45099">
                    <a:moveTo>
                      <a:pt x="22550" y="0"/>
                    </a:moveTo>
                    <a:lnTo>
                      <a:pt x="505959" y="0"/>
                    </a:lnTo>
                    <a:cubicBezTo>
                      <a:pt x="511939" y="0"/>
                      <a:pt x="517675" y="2376"/>
                      <a:pt x="521904" y="6605"/>
                    </a:cubicBezTo>
                    <a:cubicBezTo>
                      <a:pt x="526133" y="10833"/>
                      <a:pt x="528508" y="16569"/>
                      <a:pt x="528508" y="22550"/>
                    </a:cubicBezTo>
                    <a:lnTo>
                      <a:pt x="528508" y="22550"/>
                    </a:lnTo>
                    <a:cubicBezTo>
                      <a:pt x="528508" y="35003"/>
                      <a:pt x="518413" y="45099"/>
                      <a:pt x="505959" y="45099"/>
                    </a:cubicBezTo>
                    <a:lnTo>
                      <a:pt x="22550" y="45099"/>
                    </a:lnTo>
                    <a:cubicBezTo>
                      <a:pt x="10096" y="45099"/>
                      <a:pt x="0" y="35003"/>
                      <a:pt x="0" y="22550"/>
                    </a:cubicBezTo>
                    <a:lnTo>
                      <a:pt x="0" y="22550"/>
                    </a:lnTo>
                    <a:cubicBezTo>
                      <a:pt x="0" y="10096"/>
                      <a:pt x="10096" y="0"/>
                      <a:pt x="22550" y="0"/>
                    </a:cubicBezTo>
                    <a:close/>
                  </a:path>
                </a:pathLst>
              </a:custGeom>
              <a:solidFill>
                <a:srgbClr val="FFFFFF"/>
              </a:solidFill>
            </p:spPr>
          </p:sp>
          <p:sp>
            <p:nvSpPr>
              <p:cNvPr id="13" name="TextBox 13"/>
              <p:cNvSpPr txBox="1"/>
              <p:nvPr/>
            </p:nvSpPr>
            <p:spPr>
              <a:xfrm>
                <a:off x="0" y="-38100"/>
                <a:ext cx="528508" cy="83199"/>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8154643" y="3214181"/>
              <a:ext cx="169699" cy="555296"/>
              <a:chOff x="0" y="0"/>
              <a:chExt cx="31191" cy="102064"/>
            </a:xfrm>
          </p:grpSpPr>
          <p:sp>
            <p:nvSpPr>
              <p:cNvPr id="15" name="Freeform 15"/>
              <p:cNvSpPr/>
              <p:nvPr/>
            </p:nvSpPr>
            <p:spPr>
              <a:xfrm>
                <a:off x="0" y="0"/>
                <a:ext cx="31191" cy="102064"/>
              </a:xfrm>
              <a:custGeom>
                <a:avLst/>
                <a:gdLst/>
                <a:ahLst/>
                <a:cxnLst/>
                <a:rect l="l" t="t" r="r" b="b"/>
                <a:pathLst>
                  <a:path w="31191" h="102064">
                    <a:moveTo>
                      <a:pt x="15595" y="0"/>
                    </a:moveTo>
                    <a:lnTo>
                      <a:pt x="15595" y="0"/>
                    </a:lnTo>
                    <a:cubicBezTo>
                      <a:pt x="24208" y="0"/>
                      <a:pt x="31191" y="6982"/>
                      <a:pt x="31191" y="15595"/>
                    </a:cubicBezTo>
                    <a:lnTo>
                      <a:pt x="31191" y="86468"/>
                    </a:lnTo>
                    <a:cubicBezTo>
                      <a:pt x="31191" y="90605"/>
                      <a:pt x="29548" y="94571"/>
                      <a:pt x="26623" y="97496"/>
                    </a:cubicBezTo>
                    <a:cubicBezTo>
                      <a:pt x="23698" y="100421"/>
                      <a:pt x="19732" y="102064"/>
                      <a:pt x="15595" y="102064"/>
                    </a:cubicBezTo>
                    <a:lnTo>
                      <a:pt x="15595" y="102064"/>
                    </a:lnTo>
                    <a:cubicBezTo>
                      <a:pt x="11459" y="102064"/>
                      <a:pt x="7492" y="100421"/>
                      <a:pt x="4568" y="97496"/>
                    </a:cubicBezTo>
                    <a:cubicBezTo>
                      <a:pt x="1643" y="94571"/>
                      <a:pt x="0" y="90605"/>
                      <a:pt x="0" y="86468"/>
                    </a:cubicBezTo>
                    <a:lnTo>
                      <a:pt x="0" y="15595"/>
                    </a:lnTo>
                    <a:cubicBezTo>
                      <a:pt x="0" y="11459"/>
                      <a:pt x="1643" y="7492"/>
                      <a:pt x="4568" y="4568"/>
                    </a:cubicBezTo>
                    <a:cubicBezTo>
                      <a:pt x="7492" y="1643"/>
                      <a:pt x="11459" y="0"/>
                      <a:pt x="15595" y="0"/>
                    </a:cubicBezTo>
                    <a:close/>
                  </a:path>
                </a:pathLst>
              </a:custGeom>
              <a:solidFill>
                <a:srgbClr val="FFFFFF"/>
              </a:solidFill>
            </p:spPr>
          </p:sp>
          <p:sp>
            <p:nvSpPr>
              <p:cNvPr id="16" name="TextBox 16"/>
              <p:cNvSpPr txBox="1"/>
              <p:nvPr/>
            </p:nvSpPr>
            <p:spPr>
              <a:xfrm>
                <a:off x="0" y="-38100"/>
                <a:ext cx="31191" cy="140164"/>
              </a:xfrm>
              <a:prstGeom prst="rect">
                <a:avLst/>
              </a:prstGeom>
            </p:spPr>
            <p:txBody>
              <a:bodyPr lIns="50800" tIns="50800" rIns="50800" bIns="50800" rtlCol="0" anchor="ctr"/>
              <a:lstStyle/>
              <a:p>
                <a:pPr algn="ctr">
                  <a:lnSpc>
                    <a:spcPts val="2659"/>
                  </a:lnSpc>
                </a:pPr>
                <a:endParaRPr/>
              </a:p>
            </p:txBody>
          </p:sp>
        </p:grpSp>
        <p:sp>
          <p:nvSpPr>
            <p:cNvPr id="17" name="AutoShape 17"/>
            <p:cNvSpPr/>
            <p:nvPr/>
          </p:nvSpPr>
          <p:spPr>
            <a:xfrm>
              <a:off x="16055462" y="3298069"/>
              <a:ext cx="0" cy="645132"/>
            </a:xfrm>
            <a:prstGeom prst="line">
              <a:avLst/>
            </a:prstGeom>
            <a:ln w="27297" cap="flat">
              <a:solidFill>
                <a:srgbClr val="000000"/>
              </a:solidFill>
              <a:prstDash val="solid"/>
              <a:headEnd type="none" w="sm" len="sm"/>
              <a:tailEnd type="triangle" w="lg" len="med"/>
            </a:ln>
          </p:spPr>
        </p:sp>
        <p:grpSp>
          <p:nvGrpSpPr>
            <p:cNvPr id="18" name="Group 18"/>
            <p:cNvGrpSpPr/>
            <p:nvPr/>
          </p:nvGrpSpPr>
          <p:grpSpPr>
            <a:xfrm>
              <a:off x="1060194" y="2621664"/>
              <a:ext cx="265686" cy="2100808"/>
              <a:chOff x="0" y="0"/>
              <a:chExt cx="48833" cy="386130"/>
            </a:xfrm>
          </p:grpSpPr>
          <p:sp>
            <p:nvSpPr>
              <p:cNvPr id="19" name="Freeform 19"/>
              <p:cNvSpPr/>
              <p:nvPr/>
            </p:nvSpPr>
            <p:spPr>
              <a:xfrm>
                <a:off x="0" y="0"/>
                <a:ext cx="48833" cy="386130"/>
              </a:xfrm>
              <a:custGeom>
                <a:avLst/>
                <a:gdLst/>
                <a:ahLst/>
                <a:cxnLst/>
                <a:rect l="l" t="t" r="r" b="b"/>
                <a:pathLst>
                  <a:path w="48833" h="386130">
                    <a:moveTo>
                      <a:pt x="24417" y="0"/>
                    </a:moveTo>
                    <a:lnTo>
                      <a:pt x="24417" y="0"/>
                    </a:lnTo>
                    <a:cubicBezTo>
                      <a:pt x="37902" y="0"/>
                      <a:pt x="48833" y="10932"/>
                      <a:pt x="48833" y="24417"/>
                    </a:cubicBezTo>
                    <a:lnTo>
                      <a:pt x="48833" y="361713"/>
                    </a:lnTo>
                    <a:cubicBezTo>
                      <a:pt x="48833" y="375198"/>
                      <a:pt x="37902" y="386130"/>
                      <a:pt x="24417" y="386130"/>
                    </a:cubicBezTo>
                    <a:lnTo>
                      <a:pt x="24417" y="386130"/>
                    </a:lnTo>
                    <a:cubicBezTo>
                      <a:pt x="17941" y="386130"/>
                      <a:pt x="11730" y="383557"/>
                      <a:pt x="7151" y="378978"/>
                    </a:cubicBezTo>
                    <a:cubicBezTo>
                      <a:pt x="2572" y="374399"/>
                      <a:pt x="0" y="368189"/>
                      <a:pt x="0" y="361713"/>
                    </a:cubicBezTo>
                    <a:lnTo>
                      <a:pt x="0" y="24417"/>
                    </a:lnTo>
                    <a:cubicBezTo>
                      <a:pt x="0" y="17941"/>
                      <a:pt x="2572" y="11730"/>
                      <a:pt x="7151" y="7151"/>
                    </a:cubicBezTo>
                    <a:cubicBezTo>
                      <a:pt x="11730" y="2572"/>
                      <a:pt x="17941" y="0"/>
                      <a:pt x="24417" y="0"/>
                    </a:cubicBezTo>
                    <a:close/>
                  </a:path>
                </a:pathLst>
              </a:custGeom>
              <a:solidFill>
                <a:srgbClr val="FFFFFF"/>
              </a:solidFill>
            </p:spPr>
          </p:sp>
          <p:sp>
            <p:nvSpPr>
              <p:cNvPr id="20" name="TextBox 20"/>
              <p:cNvSpPr txBox="1"/>
              <p:nvPr/>
            </p:nvSpPr>
            <p:spPr>
              <a:xfrm>
                <a:off x="0" y="-38100"/>
                <a:ext cx="48833" cy="424230"/>
              </a:xfrm>
              <a:prstGeom prst="rect">
                <a:avLst/>
              </a:prstGeom>
            </p:spPr>
            <p:txBody>
              <a:bodyPr lIns="50800" tIns="50800" rIns="50800" bIns="50800" rtlCol="0" anchor="ctr"/>
              <a:lstStyle/>
              <a:p>
                <a:pPr algn="ctr">
                  <a:lnSpc>
                    <a:spcPts val="2659"/>
                  </a:lnSpc>
                </a:pPr>
                <a:endParaRPr/>
              </a:p>
            </p:txBody>
          </p:sp>
        </p:grpSp>
        <p:sp>
          <p:nvSpPr>
            <p:cNvPr id="21" name="AutoShape 21"/>
            <p:cNvSpPr/>
            <p:nvPr/>
          </p:nvSpPr>
          <p:spPr>
            <a:xfrm>
              <a:off x="1193037" y="4740516"/>
              <a:ext cx="4865985" cy="0"/>
            </a:xfrm>
            <a:prstGeom prst="line">
              <a:avLst/>
            </a:prstGeom>
            <a:ln w="27297" cap="flat">
              <a:solidFill>
                <a:srgbClr val="000000"/>
              </a:solidFill>
              <a:prstDash val="solid"/>
              <a:headEnd type="none" w="sm" len="sm"/>
              <a:tailEnd type="triangle" w="lg" len="med"/>
            </a:ln>
          </p:spPr>
        </p:sp>
        <p:grpSp>
          <p:nvGrpSpPr>
            <p:cNvPr id="22" name="Group 22"/>
            <p:cNvGrpSpPr/>
            <p:nvPr/>
          </p:nvGrpSpPr>
          <p:grpSpPr>
            <a:xfrm rot="-5400000">
              <a:off x="5984543" y="4940334"/>
              <a:ext cx="265686" cy="5027551"/>
              <a:chOff x="0" y="0"/>
              <a:chExt cx="48833" cy="924067"/>
            </a:xfrm>
          </p:grpSpPr>
          <p:sp>
            <p:nvSpPr>
              <p:cNvPr id="23" name="Freeform 23"/>
              <p:cNvSpPr/>
              <p:nvPr/>
            </p:nvSpPr>
            <p:spPr>
              <a:xfrm>
                <a:off x="0" y="0"/>
                <a:ext cx="48833" cy="924067"/>
              </a:xfrm>
              <a:custGeom>
                <a:avLst/>
                <a:gdLst/>
                <a:ahLst/>
                <a:cxnLst/>
                <a:rect l="l" t="t" r="r" b="b"/>
                <a:pathLst>
                  <a:path w="48833" h="924067">
                    <a:moveTo>
                      <a:pt x="24417" y="0"/>
                    </a:moveTo>
                    <a:lnTo>
                      <a:pt x="24417" y="0"/>
                    </a:lnTo>
                    <a:cubicBezTo>
                      <a:pt x="37902" y="0"/>
                      <a:pt x="48833" y="10932"/>
                      <a:pt x="48833" y="24417"/>
                    </a:cubicBezTo>
                    <a:lnTo>
                      <a:pt x="48833" y="899651"/>
                    </a:lnTo>
                    <a:cubicBezTo>
                      <a:pt x="48833" y="906126"/>
                      <a:pt x="46261" y="912337"/>
                      <a:pt x="41682" y="916916"/>
                    </a:cubicBezTo>
                    <a:cubicBezTo>
                      <a:pt x="37103" y="921495"/>
                      <a:pt x="30892" y="924067"/>
                      <a:pt x="24417" y="924067"/>
                    </a:cubicBezTo>
                    <a:lnTo>
                      <a:pt x="24417" y="924067"/>
                    </a:lnTo>
                    <a:cubicBezTo>
                      <a:pt x="17941" y="924067"/>
                      <a:pt x="11730" y="921495"/>
                      <a:pt x="7151" y="916916"/>
                    </a:cubicBezTo>
                    <a:cubicBezTo>
                      <a:pt x="2572" y="912337"/>
                      <a:pt x="0" y="906126"/>
                      <a:pt x="0" y="899651"/>
                    </a:cubicBezTo>
                    <a:lnTo>
                      <a:pt x="0" y="24417"/>
                    </a:lnTo>
                    <a:cubicBezTo>
                      <a:pt x="0" y="17941"/>
                      <a:pt x="2572" y="11730"/>
                      <a:pt x="7151" y="7151"/>
                    </a:cubicBezTo>
                    <a:cubicBezTo>
                      <a:pt x="11730" y="2572"/>
                      <a:pt x="17941" y="0"/>
                      <a:pt x="24417" y="0"/>
                    </a:cubicBezTo>
                    <a:close/>
                  </a:path>
                </a:pathLst>
              </a:custGeom>
              <a:solidFill>
                <a:srgbClr val="FFFFFF"/>
              </a:solidFill>
            </p:spPr>
          </p:sp>
          <p:sp>
            <p:nvSpPr>
              <p:cNvPr id="24" name="TextBox 24"/>
              <p:cNvSpPr txBox="1"/>
              <p:nvPr/>
            </p:nvSpPr>
            <p:spPr>
              <a:xfrm>
                <a:off x="0" y="-38100"/>
                <a:ext cx="48833" cy="962167"/>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rot="-10800000">
              <a:off x="8469795" y="7006405"/>
              <a:ext cx="161366" cy="822102"/>
              <a:chOff x="0" y="0"/>
              <a:chExt cx="29659" cy="151103"/>
            </a:xfrm>
          </p:grpSpPr>
          <p:sp>
            <p:nvSpPr>
              <p:cNvPr id="26" name="Freeform 26"/>
              <p:cNvSpPr/>
              <p:nvPr/>
            </p:nvSpPr>
            <p:spPr>
              <a:xfrm>
                <a:off x="0" y="0"/>
                <a:ext cx="29659" cy="151103"/>
              </a:xfrm>
              <a:custGeom>
                <a:avLst/>
                <a:gdLst/>
                <a:ahLst/>
                <a:cxnLst/>
                <a:rect l="l" t="t" r="r" b="b"/>
                <a:pathLst>
                  <a:path w="29659" h="151103">
                    <a:moveTo>
                      <a:pt x="14830" y="0"/>
                    </a:moveTo>
                    <a:lnTo>
                      <a:pt x="14830" y="0"/>
                    </a:lnTo>
                    <a:cubicBezTo>
                      <a:pt x="18763" y="0"/>
                      <a:pt x="22535" y="1562"/>
                      <a:pt x="25316" y="4343"/>
                    </a:cubicBezTo>
                    <a:cubicBezTo>
                      <a:pt x="28097" y="7125"/>
                      <a:pt x="29659" y="10897"/>
                      <a:pt x="29659" y="14830"/>
                    </a:cubicBezTo>
                    <a:lnTo>
                      <a:pt x="29659" y="136273"/>
                    </a:lnTo>
                    <a:cubicBezTo>
                      <a:pt x="29659" y="144463"/>
                      <a:pt x="23020" y="151103"/>
                      <a:pt x="14830" y="151103"/>
                    </a:cubicBezTo>
                    <a:lnTo>
                      <a:pt x="14830" y="151103"/>
                    </a:lnTo>
                    <a:cubicBezTo>
                      <a:pt x="6639" y="151103"/>
                      <a:pt x="0" y="144463"/>
                      <a:pt x="0" y="136273"/>
                    </a:cubicBezTo>
                    <a:lnTo>
                      <a:pt x="0" y="14830"/>
                    </a:lnTo>
                    <a:cubicBezTo>
                      <a:pt x="0" y="6639"/>
                      <a:pt x="6639" y="0"/>
                      <a:pt x="14830" y="0"/>
                    </a:cubicBezTo>
                    <a:close/>
                  </a:path>
                </a:pathLst>
              </a:custGeom>
              <a:solidFill>
                <a:srgbClr val="FFFFFF"/>
              </a:solidFill>
            </p:spPr>
          </p:sp>
          <p:sp>
            <p:nvSpPr>
              <p:cNvPr id="27" name="TextBox 27"/>
              <p:cNvSpPr txBox="1"/>
              <p:nvPr/>
            </p:nvSpPr>
            <p:spPr>
              <a:xfrm>
                <a:off x="0" y="-38100"/>
                <a:ext cx="29659" cy="189203"/>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10800000">
              <a:off x="11656560" y="8215745"/>
              <a:ext cx="255981" cy="1563151"/>
              <a:chOff x="0" y="0"/>
              <a:chExt cx="47050" cy="287308"/>
            </a:xfrm>
          </p:grpSpPr>
          <p:sp>
            <p:nvSpPr>
              <p:cNvPr id="29" name="Freeform 29"/>
              <p:cNvSpPr/>
              <p:nvPr/>
            </p:nvSpPr>
            <p:spPr>
              <a:xfrm>
                <a:off x="0" y="0"/>
                <a:ext cx="47050" cy="287308"/>
              </a:xfrm>
              <a:custGeom>
                <a:avLst/>
                <a:gdLst/>
                <a:ahLst/>
                <a:cxnLst/>
                <a:rect l="l" t="t" r="r" b="b"/>
                <a:pathLst>
                  <a:path w="47050" h="287308">
                    <a:moveTo>
                      <a:pt x="23525" y="0"/>
                    </a:moveTo>
                    <a:lnTo>
                      <a:pt x="23525" y="0"/>
                    </a:lnTo>
                    <a:cubicBezTo>
                      <a:pt x="29764" y="0"/>
                      <a:pt x="35748" y="2478"/>
                      <a:pt x="40159" y="6890"/>
                    </a:cubicBezTo>
                    <a:cubicBezTo>
                      <a:pt x="44571" y="11302"/>
                      <a:pt x="47050" y="17286"/>
                      <a:pt x="47050" y="23525"/>
                    </a:cubicBezTo>
                    <a:lnTo>
                      <a:pt x="47050" y="263783"/>
                    </a:lnTo>
                    <a:cubicBezTo>
                      <a:pt x="47050" y="276776"/>
                      <a:pt x="36517" y="287308"/>
                      <a:pt x="23525" y="287308"/>
                    </a:cubicBezTo>
                    <a:lnTo>
                      <a:pt x="23525" y="287308"/>
                    </a:lnTo>
                    <a:cubicBezTo>
                      <a:pt x="17286" y="287308"/>
                      <a:pt x="11302" y="284830"/>
                      <a:pt x="6890" y="280418"/>
                    </a:cubicBezTo>
                    <a:cubicBezTo>
                      <a:pt x="2478" y="276006"/>
                      <a:pt x="0" y="270023"/>
                      <a:pt x="0" y="263783"/>
                    </a:cubicBezTo>
                    <a:lnTo>
                      <a:pt x="0" y="23525"/>
                    </a:lnTo>
                    <a:cubicBezTo>
                      <a:pt x="0" y="10532"/>
                      <a:pt x="10532" y="0"/>
                      <a:pt x="23525" y="0"/>
                    </a:cubicBezTo>
                    <a:close/>
                  </a:path>
                </a:pathLst>
              </a:custGeom>
              <a:solidFill>
                <a:srgbClr val="FFFFFF"/>
              </a:solidFill>
            </p:spPr>
          </p:sp>
          <p:sp>
            <p:nvSpPr>
              <p:cNvPr id="30" name="TextBox 30"/>
              <p:cNvSpPr txBox="1"/>
              <p:nvPr/>
            </p:nvSpPr>
            <p:spPr>
              <a:xfrm>
                <a:off x="0" y="-38100"/>
                <a:ext cx="47050" cy="325408"/>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rot="-5400000">
              <a:off x="13379268" y="7876876"/>
              <a:ext cx="255981" cy="3701399"/>
              <a:chOff x="0" y="0"/>
              <a:chExt cx="47050" cy="680320"/>
            </a:xfrm>
          </p:grpSpPr>
          <p:sp>
            <p:nvSpPr>
              <p:cNvPr id="32" name="Freeform 32"/>
              <p:cNvSpPr/>
              <p:nvPr/>
            </p:nvSpPr>
            <p:spPr>
              <a:xfrm>
                <a:off x="0" y="0"/>
                <a:ext cx="47050" cy="680320"/>
              </a:xfrm>
              <a:custGeom>
                <a:avLst/>
                <a:gdLst/>
                <a:ahLst/>
                <a:cxnLst/>
                <a:rect l="l" t="t" r="r" b="b"/>
                <a:pathLst>
                  <a:path w="47050" h="680320">
                    <a:moveTo>
                      <a:pt x="23525" y="0"/>
                    </a:moveTo>
                    <a:lnTo>
                      <a:pt x="23525" y="0"/>
                    </a:lnTo>
                    <a:cubicBezTo>
                      <a:pt x="29764" y="0"/>
                      <a:pt x="35748" y="2478"/>
                      <a:pt x="40159" y="6890"/>
                    </a:cubicBezTo>
                    <a:cubicBezTo>
                      <a:pt x="44571" y="11302"/>
                      <a:pt x="47050" y="17286"/>
                      <a:pt x="47050" y="23525"/>
                    </a:cubicBezTo>
                    <a:lnTo>
                      <a:pt x="47050" y="656795"/>
                    </a:lnTo>
                    <a:cubicBezTo>
                      <a:pt x="47050" y="669787"/>
                      <a:pt x="36517" y="680320"/>
                      <a:pt x="23525" y="680320"/>
                    </a:cubicBezTo>
                    <a:lnTo>
                      <a:pt x="23525" y="680320"/>
                    </a:lnTo>
                    <a:cubicBezTo>
                      <a:pt x="10532" y="680320"/>
                      <a:pt x="0" y="669787"/>
                      <a:pt x="0" y="656795"/>
                    </a:cubicBezTo>
                    <a:lnTo>
                      <a:pt x="0" y="23525"/>
                    </a:lnTo>
                    <a:cubicBezTo>
                      <a:pt x="0" y="10532"/>
                      <a:pt x="10532" y="0"/>
                      <a:pt x="23525" y="0"/>
                    </a:cubicBezTo>
                    <a:close/>
                  </a:path>
                </a:pathLst>
              </a:custGeom>
              <a:solidFill>
                <a:srgbClr val="FFFFFF"/>
              </a:solidFill>
            </p:spPr>
          </p:sp>
          <p:sp>
            <p:nvSpPr>
              <p:cNvPr id="33" name="TextBox 33"/>
              <p:cNvSpPr txBox="1"/>
              <p:nvPr/>
            </p:nvSpPr>
            <p:spPr>
              <a:xfrm>
                <a:off x="0" y="-38100"/>
                <a:ext cx="47050" cy="718420"/>
              </a:xfrm>
              <a:prstGeom prst="rect">
                <a:avLst/>
              </a:prstGeom>
            </p:spPr>
            <p:txBody>
              <a:bodyPr lIns="50800" tIns="50800" rIns="50800" bIns="50800" rtlCol="0" anchor="ctr"/>
              <a:lstStyle/>
              <a:p>
                <a:pPr algn="ctr">
                  <a:lnSpc>
                    <a:spcPts val="2659"/>
                  </a:lnSpc>
                </a:pPr>
                <a:endParaRPr/>
              </a:p>
            </p:txBody>
          </p:sp>
        </p:grpSp>
      </p:grpSp>
      <p:grpSp>
        <p:nvGrpSpPr>
          <p:cNvPr id="34" name="Group 34"/>
          <p:cNvGrpSpPr/>
          <p:nvPr/>
        </p:nvGrpSpPr>
        <p:grpSpPr>
          <a:xfrm>
            <a:off x="11158713" y="5727322"/>
            <a:ext cx="1153073" cy="273659"/>
            <a:chOff x="0" y="0"/>
            <a:chExt cx="303690" cy="72075"/>
          </a:xfrm>
        </p:grpSpPr>
        <p:sp>
          <p:nvSpPr>
            <p:cNvPr id="35" name="Freeform 35"/>
            <p:cNvSpPr/>
            <p:nvPr/>
          </p:nvSpPr>
          <p:spPr>
            <a:xfrm>
              <a:off x="0" y="0"/>
              <a:ext cx="303690" cy="72075"/>
            </a:xfrm>
            <a:custGeom>
              <a:avLst/>
              <a:gdLst/>
              <a:ahLst/>
              <a:cxnLst/>
              <a:rect l="l" t="t" r="r" b="b"/>
              <a:pathLst>
                <a:path w="303690" h="72075">
                  <a:moveTo>
                    <a:pt x="0" y="0"/>
                  </a:moveTo>
                  <a:lnTo>
                    <a:pt x="303690" y="0"/>
                  </a:lnTo>
                  <a:lnTo>
                    <a:pt x="303690" y="72075"/>
                  </a:lnTo>
                  <a:lnTo>
                    <a:pt x="0" y="72075"/>
                  </a:lnTo>
                  <a:close/>
                </a:path>
              </a:pathLst>
            </a:custGeom>
            <a:solidFill>
              <a:srgbClr val="F4CCAE"/>
            </a:solidFill>
          </p:spPr>
        </p:sp>
        <p:sp>
          <p:nvSpPr>
            <p:cNvPr id="36" name="TextBox 36"/>
            <p:cNvSpPr txBox="1"/>
            <p:nvPr/>
          </p:nvSpPr>
          <p:spPr>
            <a:xfrm>
              <a:off x="0" y="-28575"/>
              <a:ext cx="303690" cy="100650"/>
            </a:xfrm>
            <a:prstGeom prst="rect">
              <a:avLst/>
            </a:prstGeom>
          </p:spPr>
          <p:txBody>
            <a:bodyPr lIns="50800" tIns="50800" rIns="50800" bIns="50800" rtlCol="0" anchor="ctr"/>
            <a:lstStyle/>
            <a:p>
              <a:pPr algn="ctr">
                <a:lnSpc>
                  <a:spcPts val="2475"/>
                </a:lnSpc>
              </a:pPr>
              <a:endParaRPr/>
            </a:p>
          </p:txBody>
        </p:sp>
      </p:grpSp>
      <p:sp>
        <p:nvSpPr>
          <p:cNvPr id="37" name="TextBox 37"/>
          <p:cNvSpPr txBox="1"/>
          <p:nvPr/>
        </p:nvSpPr>
        <p:spPr>
          <a:xfrm>
            <a:off x="1802014" y="288953"/>
            <a:ext cx="13423146" cy="685800"/>
          </a:xfrm>
          <a:prstGeom prst="rect">
            <a:avLst/>
          </a:prstGeom>
        </p:spPr>
        <p:txBody>
          <a:bodyPr lIns="0" tIns="0" rIns="0" bIns="0" rtlCol="0" anchor="t">
            <a:spAutoFit/>
          </a:bodyPr>
          <a:lstStyle/>
          <a:p>
            <a:pPr algn="l">
              <a:lnSpc>
                <a:spcPts val="5400"/>
              </a:lnSpc>
            </a:pPr>
            <a:r>
              <a:rPr lang="en-US" sz="4500">
                <a:solidFill>
                  <a:srgbClr val="000000"/>
                </a:solidFill>
                <a:latin typeface="Lexend Peta"/>
                <a:ea typeface="Lexend Peta"/>
                <a:cs typeface="Lexend Peta"/>
                <a:sym typeface="Lexend Peta"/>
              </a:rPr>
              <a:t>METHODOLOGY: </a:t>
            </a:r>
          </a:p>
        </p:txBody>
      </p:sp>
      <p:grpSp>
        <p:nvGrpSpPr>
          <p:cNvPr id="38" name="Group 38"/>
          <p:cNvGrpSpPr/>
          <p:nvPr/>
        </p:nvGrpSpPr>
        <p:grpSpPr>
          <a:xfrm>
            <a:off x="6733216" y="6242424"/>
            <a:ext cx="1053538" cy="234817"/>
            <a:chOff x="0" y="0"/>
            <a:chExt cx="277475" cy="61845"/>
          </a:xfrm>
        </p:grpSpPr>
        <p:sp>
          <p:nvSpPr>
            <p:cNvPr id="39" name="Freeform 39"/>
            <p:cNvSpPr/>
            <p:nvPr/>
          </p:nvSpPr>
          <p:spPr>
            <a:xfrm>
              <a:off x="0" y="0"/>
              <a:ext cx="277475" cy="61845"/>
            </a:xfrm>
            <a:custGeom>
              <a:avLst/>
              <a:gdLst/>
              <a:ahLst/>
              <a:cxnLst/>
              <a:rect l="l" t="t" r="r" b="b"/>
              <a:pathLst>
                <a:path w="277475" h="61845">
                  <a:moveTo>
                    <a:pt x="0" y="0"/>
                  </a:moveTo>
                  <a:lnTo>
                    <a:pt x="277475" y="0"/>
                  </a:lnTo>
                  <a:lnTo>
                    <a:pt x="277475" y="61845"/>
                  </a:lnTo>
                  <a:lnTo>
                    <a:pt x="0" y="61845"/>
                  </a:lnTo>
                  <a:close/>
                </a:path>
              </a:pathLst>
            </a:custGeom>
            <a:solidFill>
              <a:srgbClr val="F4CCAE"/>
            </a:solidFill>
          </p:spPr>
        </p:sp>
        <p:sp>
          <p:nvSpPr>
            <p:cNvPr id="40" name="TextBox 40"/>
            <p:cNvSpPr txBox="1"/>
            <p:nvPr/>
          </p:nvSpPr>
          <p:spPr>
            <a:xfrm>
              <a:off x="0" y="-28575"/>
              <a:ext cx="277475" cy="90420"/>
            </a:xfrm>
            <a:prstGeom prst="rect">
              <a:avLst/>
            </a:prstGeom>
          </p:spPr>
          <p:txBody>
            <a:bodyPr lIns="50800" tIns="50800" rIns="50800" bIns="50800" rtlCol="0" anchor="ctr"/>
            <a:lstStyle/>
            <a:p>
              <a:pPr algn="ctr">
                <a:lnSpc>
                  <a:spcPts val="2475"/>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14697"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Freeform 4"/>
          <p:cNvSpPr/>
          <p:nvPr/>
        </p:nvSpPr>
        <p:spPr>
          <a:xfrm>
            <a:off x="-5477804" y="2191645"/>
            <a:ext cx="21190639" cy="12273848"/>
          </a:xfrm>
          <a:custGeom>
            <a:avLst/>
            <a:gdLst/>
            <a:ahLst/>
            <a:cxnLst/>
            <a:rect l="l" t="t" r="r" b="b"/>
            <a:pathLst>
              <a:path w="21190639" h="12273848">
                <a:moveTo>
                  <a:pt x="0" y="0"/>
                </a:moveTo>
                <a:lnTo>
                  <a:pt x="21190639" y="0"/>
                </a:lnTo>
                <a:lnTo>
                  <a:pt x="21190639" y="12273849"/>
                </a:lnTo>
                <a:lnTo>
                  <a:pt x="0" y="1227384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237185" y="5117259"/>
            <a:ext cx="1557499" cy="5169741"/>
            <a:chOff x="0" y="0"/>
            <a:chExt cx="2076666" cy="6892988"/>
          </a:xfrm>
        </p:grpSpPr>
        <p:sp>
          <p:nvSpPr>
            <p:cNvPr id="6" name="Freeform 6"/>
            <p:cNvSpPr/>
            <p:nvPr/>
          </p:nvSpPr>
          <p:spPr>
            <a:xfrm>
              <a:off x="0" y="0"/>
              <a:ext cx="2076704" cy="6893052"/>
            </a:xfrm>
            <a:custGeom>
              <a:avLst/>
              <a:gdLst/>
              <a:ahLst/>
              <a:cxnLst/>
              <a:rect l="l" t="t" r="r" b="b"/>
              <a:pathLst>
                <a:path w="2076704" h="6893052">
                  <a:moveTo>
                    <a:pt x="0" y="0"/>
                  </a:moveTo>
                  <a:lnTo>
                    <a:pt x="2076704" y="0"/>
                  </a:lnTo>
                  <a:lnTo>
                    <a:pt x="2076704" y="6893052"/>
                  </a:lnTo>
                  <a:lnTo>
                    <a:pt x="0" y="6893052"/>
                  </a:lnTo>
                  <a:lnTo>
                    <a:pt x="0" y="0"/>
                  </a:lnTo>
                  <a:close/>
                </a:path>
              </a:pathLst>
            </a:custGeom>
            <a:blipFill>
              <a:blip r:embed="rId5"/>
              <a:stretch>
                <a:fillRect r="1"/>
              </a:stretch>
            </a:blipFill>
          </p:spPr>
        </p:sp>
      </p:grpSp>
      <p:grpSp>
        <p:nvGrpSpPr>
          <p:cNvPr id="7" name="Group 7"/>
          <p:cNvGrpSpPr/>
          <p:nvPr/>
        </p:nvGrpSpPr>
        <p:grpSpPr>
          <a:xfrm>
            <a:off x="1794685" y="6183510"/>
            <a:ext cx="1942496" cy="1942496"/>
            <a:chOff x="0" y="0"/>
            <a:chExt cx="812800" cy="812800"/>
          </a:xfrm>
        </p:grpSpPr>
        <p:sp>
          <p:nvSpPr>
            <p:cNvPr id="8" name="Freeform 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6"/>
              <a:stretch>
                <a:fillRect l="-3658" r="-3658"/>
              </a:stretch>
            </a:blipFill>
          </p:spPr>
        </p:sp>
      </p:grpSp>
      <p:grpSp>
        <p:nvGrpSpPr>
          <p:cNvPr id="9" name="Group 9"/>
          <p:cNvGrpSpPr/>
          <p:nvPr/>
        </p:nvGrpSpPr>
        <p:grpSpPr>
          <a:xfrm>
            <a:off x="2590906" y="8772473"/>
            <a:ext cx="3184409" cy="1153758"/>
            <a:chOff x="0" y="0"/>
            <a:chExt cx="2243354" cy="812800"/>
          </a:xfrm>
        </p:grpSpPr>
        <p:sp>
          <p:nvSpPr>
            <p:cNvPr id="10" name="Freeform 10"/>
            <p:cNvSpPr/>
            <p:nvPr/>
          </p:nvSpPr>
          <p:spPr>
            <a:xfrm>
              <a:off x="0" y="0"/>
              <a:ext cx="2243354" cy="812800"/>
            </a:xfrm>
            <a:custGeom>
              <a:avLst/>
              <a:gdLst/>
              <a:ahLst/>
              <a:cxnLst/>
              <a:rect l="l" t="t" r="r" b="b"/>
              <a:pathLst>
                <a:path w="2243354" h="812800">
                  <a:moveTo>
                    <a:pt x="0" y="0"/>
                  </a:moveTo>
                  <a:lnTo>
                    <a:pt x="2243354" y="0"/>
                  </a:lnTo>
                  <a:lnTo>
                    <a:pt x="2243354" y="812800"/>
                  </a:lnTo>
                  <a:lnTo>
                    <a:pt x="0" y="812800"/>
                  </a:lnTo>
                  <a:close/>
                </a:path>
              </a:pathLst>
            </a:custGeom>
            <a:blipFill>
              <a:blip r:embed="rId7"/>
              <a:stretch>
                <a:fillRect l="-766" r="-766"/>
              </a:stretch>
            </a:blipFill>
          </p:spPr>
        </p:sp>
      </p:grpSp>
      <p:grpSp>
        <p:nvGrpSpPr>
          <p:cNvPr id="11" name="Group 11"/>
          <p:cNvGrpSpPr/>
          <p:nvPr/>
        </p:nvGrpSpPr>
        <p:grpSpPr>
          <a:xfrm>
            <a:off x="3814981" y="3501382"/>
            <a:ext cx="1960335" cy="2475138"/>
            <a:chOff x="0" y="0"/>
            <a:chExt cx="812800" cy="1026249"/>
          </a:xfrm>
        </p:grpSpPr>
        <p:sp>
          <p:nvSpPr>
            <p:cNvPr id="12" name="Freeform 12"/>
            <p:cNvSpPr/>
            <p:nvPr/>
          </p:nvSpPr>
          <p:spPr>
            <a:xfrm>
              <a:off x="0" y="0"/>
              <a:ext cx="812800" cy="1026249"/>
            </a:xfrm>
            <a:custGeom>
              <a:avLst/>
              <a:gdLst/>
              <a:ahLst/>
              <a:cxnLst/>
              <a:rect l="l" t="t" r="r" b="b"/>
              <a:pathLst>
                <a:path w="812800" h="1026249">
                  <a:moveTo>
                    <a:pt x="0" y="0"/>
                  </a:moveTo>
                  <a:lnTo>
                    <a:pt x="812800" y="0"/>
                  </a:lnTo>
                  <a:lnTo>
                    <a:pt x="812800" y="1026249"/>
                  </a:lnTo>
                  <a:lnTo>
                    <a:pt x="0" y="1026249"/>
                  </a:lnTo>
                  <a:close/>
                </a:path>
              </a:pathLst>
            </a:custGeom>
            <a:blipFill>
              <a:blip r:embed="rId8"/>
              <a:stretch>
                <a:fillRect l="-1420" r="-1420"/>
              </a:stretch>
            </a:blipFill>
          </p:spPr>
        </p:sp>
      </p:grpSp>
      <p:grpSp>
        <p:nvGrpSpPr>
          <p:cNvPr id="13" name="Group 13"/>
          <p:cNvGrpSpPr/>
          <p:nvPr/>
        </p:nvGrpSpPr>
        <p:grpSpPr>
          <a:xfrm>
            <a:off x="971899" y="1599523"/>
            <a:ext cx="3676194" cy="1528529"/>
            <a:chOff x="0" y="0"/>
            <a:chExt cx="1954827" cy="812800"/>
          </a:xfrm>
        </p:grpSpPr>
        <p:sp>
          <p:nvSpPr>
            <p:cNvPr id="14" name="Freeform 14"/>
            <p:cNvSpPr/>
            <p:nvPr/>
          </p:nvSpPr>
          <p:spPr>
            <a:xfrm>
              <a:off x="0" y="0"/>
              <a:ext cx="1954827" cy="812800"/>
            </a:xfrm>
            <a:custGeom>
              <a:avLst/>
              <a:gdLst/>
              <a:ahLst/>
              <a:cxnLst/>
              <a:rect l="l" t="t" r="r" b="b"/>
              <a:pathLst>
                <a:path w="1954827" h="812800">
                  <a:moveTo>
                    <a:pt x="0" y="0"/>
                  </a:moveTo>
                  <a:lnTo>
                    <a:pt x="1954827" y="0"/>
                  </a:lnTo>
                  <a:lnTo>
                    <a:pt x="1954827" y="812800"/>
                  </a:lnTo>
                  <a:lnTo>
                    <a:pt x="0" y="812800"/>
                  </a:lnTo>
                  <a:close/>
                </a:path>
              </a:pathLst>
            </a:custGeom>
            <a:blipFill>
              <a:blip r:embed="rId9"/>
              <a:stretch>
                <a:fillRect t="-3611" b="-3611"/>
              </a:stretch>
            </a:blipFill>
          </p:spPr>
        </p:sp>
      </p:grpSp>
      <p:grpSp>
        <p:nvGrpSpPr>
          <p:cNvPr id="15" name="Group 15"/>
          <p:cNvGrpSpPr/>
          <p:nvPr/>
        </p:nvGrpSpPr>
        <p:grpSpPr>
          <a:xfrm>
            <a:off x="13285820" y="261393"/>
            <a:ext cx="4210795" cy="2504473"/>
            <a:chOff x="0" y="0"/>
            <a:chExt cx="877744" cy="522060"/>
          </a:xfrm>
        </p:grpSpPr>
        <p:sp>
          <p:nvSpPr>
            <p:cNvPr id="16" name="Freeform 16"/>
            <p:cNvSpPr/>
            <p:nvPr/>
          </p:nvSpPr>
          <p:spPr>
            <a:xfrm>
              <a:off x="0" y="0"/>
              <a:ext cx="877744" cy="522060"/>
            </a:xfrm>
            <a:custGeom>
              <a:avLst/>
              <a:gdLst/>
              <a:ahLst/>
              <a:cxnLst/>
              <a:rect l="l" t="t" r="r" b="b"/>
              <a:pathLst>
                <a:path w="877744" h="522060">
                  <a:moveTo>
                    <a:pt x="0" y="0"/>
                  </a:moveTo>
                  <a:lnTo>
                    <a:pt x="877744" y="0"/>
                  </a:lnTo>
                  <a:lnTo>
                    <a:pt x="877744" y="522060"/>
                  </a:lnTo>
                  <a:lnTo>
                    <a:pt x="0" y="522060"/>
                  </a:lnTo>
                  <a:close/>
                </a:path>
              </a:pathLst>
            </a:custGeom>
            <a:blipFill>
              <a:blip r:embed="rId10"/>
              <a:stretch>
                <a:fillRect t="-807" b="-807"/>
              </a:stretch>
            </a:blipFill>
          </p:spPr>
        </p:sp>
      </p:grpSp>
      <p:sp>
        <p:nvSpPr>
          <p:cNvPr id="17" name="TextBox 17"/>
          <p:cNvSpPr txBox="1"/>
          <p:nvPr/>
        </p:nvSpPr>
        <p:spPr>
          <a:xfrm>
            <a:off x="6297432" y="2083282"/>
            <a:ext cx="11664218" cy="3088372"/>
          </a:xfrm>
          <a:prstGeom prst="rect">
            <a:avLst/>
          </a:prstGeom>
        </p:spPr>
        <p:txBody>
          <a:bodyPr lIns="0" tIns="0" rIns="0" bIns="0" rtlCol="0" anchor="t">
            <a:spAutoFit/>
          </a:bodyPr>
          <a:lstStyle/>
          <a:p>
            <a:pPr algn="just">
              <a:lnSpc>
                <a:spcPts val="3824"/>
              </a:lnSpc>
            </a:pPr>
            <a:r>
              <a:rPr lang="en-US" sz="2499" b="1">
                <a:solidFill>
                  <a:srgbClr val="191919"/>
                </a:solidFill>
                <a:latin typeface="DM Sans Bold"/>
                <a:ea typeface="DM Sans Bold"/>
                <a:cs typeface="DM Sans Bold"/>
                <a:sym typeface="DM Sans Bold"/>
              </a:rPr>
              <a:t>SUMO Simulator :</a:t>
            </a:r>
          </a:p>
          <a:p>
            <a:pPr algn="just">
              <a:lnSpc>
                <a:spcPts val="1224"/>
              </a:lnSpc>
            </a:pPr>
            <a:endParaRPr lang="en-US" sz="2499" b="1">
              <a:solidFill>
                <a:srgbClr val="191919"/>
              </a:solidFill>
              <a:latin typeface="DM Sans Bold"/>
              <a:ea typeface="DM Sans Bold"/>
              <a:cs typeface="DM Sans Bold"/>
              <a:sym typeface="DM Sans Bold"/>
            </a:endParaRPr>
          </a:p>
          <a:p>
            <a:pPr marL="539750" lvl="1" indent="-269875" algn="l">
              <a:lnSpc>
                <a:spcPts val="4324"/>
              </a:lnSpc>
              <a:buFont typeface="Arial"/>
              <a:buChar char="•"/>
            </a:pPr>
            <a:r>
              <a:rPr lang="en-US" sz="2499" b="1">
                <a:solidFill>
                  <a:srgbClr val="191919"/>
                </a:solidFill>
                <a:latin typeface="DM Sans Bold"/>
                <a:ea typeface="DM Sans Bold"/>
                <a:cs typeface="DM Sans Bold"/>
                <a:sym typeface="DM Sans Bold"/>
              </a:rPr>
              <a:t>Free &amp; Open-Source</a:t>
            </a:r>
          </a:p>
          <a:p>
            <a:pPr marL="539750" lvl="1" indent="-269875" algn="l">
              <a:lnSpc>
                <a:spcPts val="3824"/>
              </a:lnSpc>
              <a:buFont typeface="Arial"/>
              <a:buChar char="•"/>
            </a:pPr>
            <a:r>
              <a:rPr lang="en-US" sz="2499" b="1">
                <a:solidFill>
                  <a:srgbClr val="191919"/>
                </a:solidFill>
                <a:latin typeface="DM Sans Bold"/>
                <a:ea typeface="DM Sans Bold"/>
                <a:cs typeface="DM Sans Bold"/>
                <a:sym typeface="DM Sans Bold"/>
              </a:rPr>
              <a:t>Live AI Connection :</a:t>
            </a:r>
            <a:r>
              <a:rPr lang="en-US" sz="2499">
                <a:solidFill>
                  <a:srgbClr val="191919"/>
                </a:solidFill>
                <a:latin typeface="DM Sans"/>
                <a:ea typeface="DM Sans"/>
                <a:cs typeface="DM Sans"/>
                <a:sym typeface="DM Sans"/>
              </a:rPr>
              <a:t> TraCI connects SUMO with Python.</a:t>
            </a:r>
          </a:p>
          <a:p>
            <a:pPr marL="539750" lvl="1" indent="-269875" algn="l">
              <a:lnSpc>
                <a:spcPts val="3824"/>
              </a:lnSpc>
              <a:buFont typeface="Arial"/>
              <a:buChar char="•"/>
            </a:pPr>
            <a:r>
              <a:rPr lang="en-US" sz="2499" b="1">
                <a:solidFill>
                  <a:srgbClr val="191919"/>
                </a:solidFill>
                <a:latin typeface="DM Sans Bold"/>
                <a:ea typeface="DM Sans Bold"/>
                <a:cs typeface="DM Sans Bold"/>
                <a:sym typeface="DM Sans Bold"/>
              </a:rPr>
              <a:t>Microscopic Simulation :</a:t>
            </a:r>
            <a:r>
              <a:rPr lang="en-US" sz="2499">
                <a:solidFill>
                  <a:srgbClr val="191919"/>
                </a:solidFill>
                <a:latin typeface="DM Sans"/>
                <a:ea typeface="DM Sans"/>
                <a:cs typeface="DM Sans"/>
                <a:sym typeface="DM Sans"/>
              </a:rPr>
              <a:t> Tracks individual vehicles and their types.</a:t>
            </a:r>
          </a:p>
          <a:p>
            <a:pPr marL="539750" lvl="1" indent="-269875" algn="l">
              <a:lnSpc>
                <a:spcPts val="3824"/>
              </a:lnSpc>
              <a:buFont typeface="Arial"/>
              <a:buChar char="•"/>
            </a:pPr>
            <a:r>
              <a:rPr lang="en-US" sz="2499" b="1">
                <a:solidFill>
                  <a:srgbClr val="191919"/>
                </a:solidFill>
                <a:latin typeface="DM Sans Bold"/>
                <a:ea typeface="DM Sans Bold"/>
                <a:cs typeface="DM Sans Bold"/>
                <a:sym typeface="DM Sans Bold"/>
              </a:rPr>
              <a:t>Easy Road Design :</a:t>
            </a:r>
            <a:r>
              <a:rPr lang="en-US" sz="2499">
                <a:solidFill>
                  <a:srgbClr val="191919"/>
                </a:solidFill>
                <a:latin typeface="DM Sans"/>
                <a:ea typeface="DM Sans"/>
                <a:cs typeface="DM Sans"/>
                <a:sym typeface="DM Sans"/>
              </a:rPr>
              <a:t> NETEDIT helps create roads, lanes, and intersections easily.</a:t>
            </a:r>
          </a:p>
        </p:txBody>
      </p:sp>
      <p:sp>
        <p:nvSpPr>
          <p:cNvPr id="18" name="TextBox 18"/>
          <p:cNvSpPr txBox="1"/>
          <p:nvPr/>
        </p:nvSpPr>
        <p:spPr>
          <a:xfrm>
            <a:off x="590333" y="-276225"/>
            <a:ext cx="13623804" cy="1828800"/>
          </a:xfrm>
          <a:prstGeom prst="rect">
            <a:avLst/>
          </a:prstGeom>
        </p:spPr>
        <p:txBody>
          <a:bodyPr lIns="0" tIns="0" rIns="0" bIns="0" rtlCol="0" anchor="t">
            <a:spAutoFit/>
          </a:bodyPr>
          <a:lstStyle/>
          <a:p>
            <a:pPr algn="l">
              <a:lnSpc>
                <a:spcPts val="4617"/>
              </a:lnSpc>
            </a:pPr>
            <a:r>
              <a:rPr lang="en-US" sz="3847">
                <a:solidFill>
                  <a:srgbClr val="000000"/>
                </a:solidFill>
                <a:latin typeface="Lexend Peta"/>
                <a:ea typeface="Lexend Peta"/>
                <a:cs typeface="Lexend Peta"/>
                <a:sym typeface="Lexend Peta"/>
              </a:rPr>
              <a:t> </a:t>
            </a:r>
          </a:p>
          <a:p>
            <a:pPr algn="l">
              <a:lnSpc>
                <a:spcPts val="6330"/>
              </a:lnSpc>
            </a:pPr>
            <a:r>
              <a:rPr lang="en-US" sz="5275">
                <a:solidFill>
                  <a:srgbClr val="000000"/>
                </a:solidFill>
                <a:latin typeface="Lexend Peta"/>
                <a:ea typeface="Lexend Peta"/>
                <a:cs typeface="Lexend Peta"/>
                <a:sym typeface="Lexend Peta"/>
              </a:rPr>
              <a:t>TECHNOLOGY ASPECTS</a:t>
            </a:r>
          </a:p>
          <a:p>
            <a:pPr algn="l">
              <a:lnSpc>
                <a:spcPts val="3591"/>
              </a:lnSpc>
            </a:pPr>
            <a:endParaRPr lang="en-US" sz="5275">
              <a:solidFill>
                <a:srgbClr val="000000"/>
              </a:solidFill>
              <a:latin typeface="Lexend Peta"/>
              <a:ea typeface="Lexend Peta"/>
              <a:cs typeface="Lexend Peta"/>
              <a:sym typeface="Lexend Peta"/>
            </a:endParaRPr>
          </a:p>
        </p:txBody>
      </p:sp>
      <p:sp>
        <p:nvSpPr>
          <p:cNvPr id="19" name="TextBox 19"/>
          <p:cNvSpPr txBox="1"/>
          <p:nvPr/>
        </p:nvSpPr>
        <p:spPr>
          <a:xfrm>
            <a:off x="6297432" y="5495504"/>
            <a:ext cx="11664218" cy="2206625"/>
          </a:xfrm>
          <a:prstGeom prst="rect">
            <a:avLst/>
          </a:prstGeom>
        </p:spPr>
        <p:txBody>
          <a:bodyPr lIns="0" tIns="0" rIns="0" bIns="0" rtlCol="0" anchor="t">
            <a:spAutoFit/>
          </a:bodyPr>
          <a:lstStyle/>
          <a:p>
            <a:pPr algn="l">
              <a:lnSpc>
                <a:spcPts val="4074"/>
              </a:lnSpc>
              <a:spcBef>
                <a:spcPct val="0"/>
              </a:spcBef>
            </a:pPr>
            <a:r>
              <a:rPr lang="en-US" sz="2499" b="1">
                <a:solidFill>
                  <a:srgbClr val="000000"/>
                </a:solidFill>
                <a:latin typeface="Canva Sans Bold"/>
                <a:ea typeface="Canva Sans Bold"/>
                <a:cs typeface="Canva Sans Bold"/>
                <a:sym typeface="Canva Sans Bold"/>
              </a:rPr>
              <a:t>Python :</a:t>
            </a:r>
          </a:p>
          <a:p>
            <a:pPr algn="l">
              <a:lnSpc>
                <a:spcPts val="1467"/>
              </a:lnSpc>
              <a:spcBef>
                <a:spcPct val="0"/>
              </a:spcBef>
            </a:pPr>
            <a:endParaRPr lang="en-US" sz="2499" b="1">
              <a:solidFill>
                <a:srgbClr val="000000"/>
              </a:solidFill>
              <a:latin typeface="Canva Sans Bold"/>
              <a:ea typeface="Canva Sans Bold"/>
              <a:cs typeface="Canva Sans Bold"/>
              <a:sym typeface="Canva Sans Bold"/>
            </a:endParaRPr>
          </a:p>
          <a:p>
            <a:pPr marL="539749" lvl="1" indent="-269875" algn="l">
              <a:lnSpc>
                <a:spcPts val="4074"/>
              </a:lnSpc>
              <a:spcBef>
                <a:spcPct val="0"/>
              </a:spcBef>
              <a:buFont typeface="Arial"/>
              <a:buChar char="•"/>
            </a:pPr>
            <a:r>
              <a:rPr lang="en-US" sz="2499" b="1">
                <a:solidFill>
                  <a:srgbClr val="000000"/>
                </a:solidFill>
                <a:latin typeface="Canva Sans Bold"/>
                <a:ea typeface="Canva Sans Bold"/>
                <a:cs typeface="Canva Sans Bold"/>
                <a:sym typeface="Canva Sans Bold"/>
              </a:rPr>
              <a:t>Easy to Use: </a:t>
            </a:r>
            <a:r>
              <a:rPr lang="en-US" sz="2499">
                <a:solidFill>
                  <a:srgbClr val="000000"/>
                </a:solidFill>
                <a:latin typeface="Canva Sans"/>
                <a:ea typeface="Canva Sans"/>
                <a:cs typeface="Canva Sans"/>
                <a:sym typeface="Canva Sans"/>
              </a:rPr>
              <a:t>Simple syntax to make rule based logic </a:t>
            </a:r>
          </a:p>
          <a:p>
            <a:pPr marL="539749" lvl="1" indent="-269875" algn="l">
              <a:lnSpc>
                <a:spcPts val="4074"/>
              </a:lnSpc>
              <a:spcBef>
                <a:spcPct val="0"/>
              </a:spcBef>
              <a:buFont typeface="Arial"/>
              <a:buChar char="•"/>
            </a:pPr>
            <a:r>
              <a:rPr lang="en-US" sz="2499" b="1">
                <a:solidFill>
                  <a:srgbClr val="000000"/>
                </a:solidFill>
                <a:latin typeface="Canva Sans Bold"/>
                <a:ea typeface="Canva Sans Bold"/>
                <a:cs typeface="Canva Sans Bold"/>
                <a:sym typeface="Canva Sans Bold"/>
              </a:rPr>
              <a:t>SUMO Integration:</a:t>
            </a:r>
            <a:r>
              <a:rPr lang="en-US" sz="2499">
                <a:solidFill>
                  <a:srgbClr val="000000"/>
                </a:solidFill>
                <a:latin typeface="Canva Sans"/>
                <a:ea typeface="Canva Sans"/>
                <a:cs typeface="Canva Sans"/>
                <a:sym typeface="Canva Sans"/>
              </a:rPr>
              <a:t> TraCI connects Python with SUMO for real-time monitoring and signal control.</a:t>
            </a:r>
          </a:p>
        </p:txBody>
      </p:sp>
      <p:sp>
        <p:nvSpPr>
          <p:cNvPr id="20" name="TextBox 20"/>
          <p:cNvSpPr txBox="1"/>
          <p:nvPr/>
        </p:nvSpPr>
        <p:spPr>
          <a:xfrm>
            <a:off x="6297432" y="8040281"/>
            <a:ext cx="11914368" cy="1910138"/>
          </a:xfrm>
          <a:prstGeom prst="rect">
            <a:avLst/>
          </a:prstGeom>
        </p:spPr>
        <p:txBody>
          <a:bodyPr wrap="square" lIns="0" tIns="0" rIns="0" bIns="0" rtlCol="0" anchor="t">
            <a:spAutoFit/>
          </a:bodyPr>
          <a:lstStyle/>
          <a:p>
            <a:pPr algn="l">
              <a:lnSpc>
                <a:spcPts val="3824"/>
              </a:lnSpc>
              <a:spcBef>
                <a:spcPct val="0"/>
              </a:spcBef>
            </a:pPr>
            <a:r>
              <a:rPr lang="en-US" sz="2499" b="1" dirty="0">
                <a:solidFill>
                  <a:srgbClr val="000000"/>
                </a:solidFill>
                <a:latin typeface="Canva Sans Bold"/>
                <a:ea typeface="Canva Sans Bold"/>
                <a:cs typeface="Canva Sans Bold"/>
                <a:sym typeface="Canva Sans Bold"/>
              </a:rPr>
              <a:t>Traci:</a:t>
            </a:r>
          </a:p>
          <a:p>
            <a:pPr marL="539749" lvl="1" indent="-269875" algn="l">
              <a:lnSpc>
                <a:spcPts val="3824"/>
              </a:lnSpc>
              <a:spcBef>
                <a:spcPct val="0"/>
              </a:spcBef>
              <a:buFont typeface="Arial"/>
              <a:buChar char="•"/>
            </a:pPr>
            <a:r>
              <a:rPr lang="en-US" sz="2499" b="1" dirty="0">
                <a:solidFill>
                  <a:srgbClr val="000000"/>
                </a:solidFill>
                <a:latin typeface="Canva Sans Bold"/>
                <a:ea typeface="Canva Sans Bold"/>
                <a:cs typeface="Canva Sans Bold"/>
                <a:sym typeface="Canva Sans Bold"/>
              </a:rPr>
              <a:t>Real-Time Communication:</a:t>
            </a:r>
            <a:r>
              <a:rPr lang="en-US" sz="2499" dirty="0">
                <a:solidFill>
                  <a:srgbClr val="000000"/>
                </a:solidFill>
                <a:latin typeface="Canva Sans"/>
                <a:ea typeface="Canva Sans"/>
                <a:cs typeface="Canva Sans"/>
                <a:sym typeface="Canva Sans"/>
              </a:rPr>
              <a:t> </a:t>
            </a:r>
            <a:r>
              <a:rPr lang="en-US" sz="2499" dirty="0" err="1">
                <a:solidFill>
                  <a:srgbClr val="000000"/>
                </a:solidFill>
                <a:latin typeface="Canva Sans"/>
                <a:ea typeface="Canva Sans"/>
                <a:cs typeface="Canva Sans"/>
                <a:sym typeface="Canva Sans"/>
              </a:rPr>
              <a:t>TraCI</a:t>
            </a:r>
            <a:r>
              <a:rPr lang="en-US" sz="2499" dirty="0">
                <a:solidFill>
                  <a:srgbClr val="000000"/>
                </a:solidFill>
                <a:latin typeface="Canva Sans"/>
                <a:ea typeface="Canva Sans"/>
                <a:cs typeface="Canva Sans"/>
                <a:sym typeface="Canva Sans"/>
              </a:rPr>
              <a:t> connects SUMO with Python to receive live vehicle data.</a:t>
            </a:r>
          </a:p>
          <a:p>
            <a:pPr marL="539749" lvl="1" indent="-269875" algn="l">
              <a:lnSpc>
                <a:spcPts val="3824"/>
              </a:lnSpc>
              <a:spcBef>
                <a:spcPct val="0"/>
              </a:spcBef>
              <a:buFont typeface="Arial"/>
              <a:buChar char="•"/>
            </a:pPr>
            <a:r>
              <a:rPr lang="en-US" sz="2499" b="1" dirty="0">
                <a:solidFill>
                  <a:srgbClr val="000000"/>
                </a:solidFill>
                <a:latin typeface="Canva Sans Bold"/>
                <a:ea typeface="Canva Sans Bold"/>
                <a:cs typeface="Canva Sans Bold"/>
                <a:sym typeface="Canva Sans Bold"/>
              </a:rPr>
              <a:t>Traffic Signal Control:</a:t>
            </a:r>
            <a:r>
              <a:rPr lang="en-US" sz="2499" dirty="0">
                <a:solidFill>
                  <a:srgbClr val="000000"/>
                </a:solidFill>
                <a:latin typeface="Canva Sans"/>
                <a:ea typeface="Canva Sans"/>
                <a:cs typeface="Canva Sans"/>
                <a:sym typeface="Canva Sans"/>
              </a:rPr>
              <a:t> Allows Python to dynamically control traffic lights.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Freeform 4"/>
          <p:cNvSpPr/>
          <p:nvPr/>
        </p:nvSpPr>
        <p:spPr>
          <a:xfrm>
            <a:off x="-952919" y="-1986829"/>
            <a:ext cx="21190639" cy="12347448"/>
          </a:xfrm>
          <a:custGeom>
            <a:avLst/>
            <a:gdLst/>
            <a:ahLst/>
            <a:cxnLst/>
            <a:rect l="l" t="t" r="r" b="b"/>
            <a:pathLst>
              <a:path w="21190639" h="12347448">
                <a:moveTo>
                  <a:pt x="0" y="0"/>
                </a:moveTo>
                <a:lnTo>
                  <a:pt x="21190639" y="0"/>
                </a:lnTo>
                <a:lnTo>
                  <a:pt x="21190639" y="12347448"/>
                </a:lnTo>
                <a:lnTo>
                  <a:pt x="0" y="12347448"/>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7207000" y="9013277"/>
            <a:ext cx="952957" cy="832266"/>
            <a:chOff x="0" y="0"/>
            <a:chExt cx="1270610" cy="1109688"/>
          </a:xfrm>
        </p:grpSpPr>
        <p:sp>
          <p:nvSpPr>
            <p:cNvPr id="6" name="Freeform 6"/>
            <p:cNvSpPr/>
            <p:nvPr/>
          </p:nvSpPr>
          <p:spPr>
            <a:xfrm>
              <a:off x="0" y="0"/>
              <a:ext cx="1270635" cy="1109726"/>
            </a:xfrm>
            <a:custGeom>
              <a:avLst/>
              <a:gdLst/>
              <a:ahLst/>
              <a:cxnLst/>
              <a:rect l="l" t="t" r="r" b="b"/>
              <a:pathLst>
                <a:path w="1270635" h="1109726">
                  <a:moveTo>
                    <a:pt x="0" y="0"/>
                  </a:moveTo>
                  <a:lnTo>
                    <a:pt x="1270635" y="0"/>
                  </a:lnTo>
                  <a:lnTo>
                    <a:pt x="1270635" y="1109726"/>
                  </a:lnTo>
                  <a:lnTo>
                    <a:pt x="0" y="1109726"/>
                  </a:lnTo>
                  <a:lnTo>
                    <a:pt x="0" y="0"/>
                  </a:lnTo>
                  <a:close/>
                </a:path>
              </a:pathLst>
            </a:custGeom>
            <a:blipFill>
              <a:blip r:embed="rId5"/>
              <a:stretch>
                <a:fillRect r="2" b="2"/>
              </a:stretch>
            </a:blipFill>
          </p:spPr>
        </p:sp>
      </p:grpSp>
      <p:grpSp>
        <p:nvGrpSpPr>
          <p:cNvPr id="7" name="Group 7"/>
          <p:cNvGrpSpPr/>
          <p:nvPr/>
        </p:nvGrpSpPr>
        <p:grpSpPr>
          <a:xfrm>
            <a:off x="10580153" y="7958838"/>
            <a:ext cx="7579804" cy="883800"/>
            <a:chOff x="0" y="0"/>
            <a:chExt cx="10106406" cy="1178400"/>
          </a:xfrm>
        </p:grpSpPr>
        <p:sp>
          <p:nvSpPr>
            <p:cNvPr id="8" name="Freeform 8"/>
            <p:cNvSpPr/>
            <p:nvPr/>
          </p:nvSpPr>
          <p:spPr>
            <a:xfrm>
              <a:off x="0" y="0"/>
              <a:ext cx="10106400" cy="1178405"/>
            </a:xfrm>
            <a:custGeom>
              <a:avLst/>
              <a:gdLst/>
              <a:ahLst/>
              <a:cxnLst/>
              <a:rect l="l" t="t" r="r" b="b"/>
              <a:pathLst>
                <a:path w="10106400" h="1178405">
                  <a:moveTo>
                    <a:pt x="0" y="0"/>
                  </a:moveTo>
                  <a:lnTo>
                    <a:pt x="10106400" y="0"/>
                  </a:lnTo>
                  <a:lnTo>
                    <a:pt x="10106400" y="1178405"/>
                  </a:lnTo>
                  <a:lnTo>
                    <a:pt x="0" y="1178405"/>
                  </a:lnTo>
                  <a:close/>
                </a:path>
              </a:pathLst>
            </a:custGeom>
            <a:blipFill>
              <a:blip r:embed="rId6">
                <a:alphaModFix amt="0"/>
              </a:blip>
              <a:stretch>
                <a:fillRect t="-117110" b="-117109"/>
              </a:stretch>
            </a:blipFill>
          </p:spPr>
        </p:sp>
        <p:sp>
          <p:nvSpPr>
            <p:cNvPr id="9" name="TextBox 9"/>
            <p:cNvSpPr txBox="1"/>
            <p:nvPr/>
          </p:nvSpPr>
          <p:spPr>
            <a:xfrm>
              <a:off x="0" y="-9525"/>
              <a:ext cx="10106406" cy="1187925"/>
            </a:xfrm>
            <a:prstGeom prst="rect">
              <a:avLst/>
            </a:prstGeom>
          </p:spPr>
          <p:txBody>
            <a:bodyPr lIns="0" tIns="0" rIns="0" bIns="0" rtlCol="0" anchor="b"/>
            <a:lstStyle/>
            <a:p>
              <a:pPr algn="ctr">
                <a:lnSpc>
                  <a:spcPts val="3600"/>
                </a:lnSpc>
              </a:pPr>
              <a:r>
                <a:rPr lang="en-US" sz="3000">
                  <a:solidFill>
                    <a:srgbClr val="191919"/>
                  </a:solidFill>
                  <a:latin typeface="Lexend Peta"/>
                  <a:ea typeface="Lexend Peta"/>
                  <a:cs typeface="Lexend Peta"/>
                  <a:sym typeface="Lexend Peta"/>
                </a:rPr>
                <a:t>Cycle Time Comparison</a:t>
              </a:r>
            </a:p>
          </p:txBody>
        </p:sp>
      </p:grpSp>
      <p:grpSp>
        <p:nvGrpSpPr>
          <p:cNvPr id="10" name="Group 10"/>
          <p:cNvGrpSpPr/>
          <p:nvPr/>
        </p:nvGrpSpPr>
        <p:grpSpPr>
          <a:xfrm>
            <a:off x="10425698" y="3937791"/>
            <a:ext cx="7734259" cy="4177467"/>
            <a:chOff x="0" y="0"/>
            <a:chExt cx="9709214" cy="5244190"/>
          </a:xfrm>
        </p:grpSpPr>
        <p:sp>
          <p:nvSpPr>
            <p:cNvPr id="11" name="Freeform 11">
              <a:hlinkClick r:id="rId7" tooltip="https://docs.google.com/spreadsheets/d/1MIOK2YHYXsUPsmS8F9L0k2IU9U0TAdR_aZ0GRFDmiNU/copy#gid=224893433"/>
            </p:cNvPr>
            <p:cNvSpPr/>
            <p:nvPr/>
          </p:nvSpPr>
          <p:spPr>
            <a:xfrm>
              <a:off x="0" y="0"/>
              <a:ext cx="9709199" cy="5244190"/>
            </a:xfrm>
            <a:custGeom>
              <a:avLst/>
              <a:gdLst/>
              <a:ahLst/>
              <a:cxnLst/>
              <a:rect l="l" t="t" r="r" b="b"/>
              <a:pathLst>
                <a:path w="9709199" h="5244190">
                  <a:moveTo>
                    <a:pt x="0" y="0"/>
                  </a:moveTo>
                  <a:lnTo>
                    <a:pt x="9709199" y="0"/>
                  </a:lnTo>
                  <a:lnTo>
                    <a:pt x="9709199" y="5244190"/>
                  </a:lnTo>
                  <a:lnTo>
                    <a:pt x="0" y="5244190"/>
                  </a:lnTo>
                  <a:lnTo>
                    <a:pt x="0" y="0"/>
                  </a:lnTo>
                  <a:close/>
                </a:path>
              </a:pathLst>
            </a:custGeom>
            <a:blipFill>
              <a:blip r:embed="rId8"/>
              <a:stretch>
                <a:fillRect t="-101" b="-101"/>
              </a:stretch>
            </a:blipFill>
          </p:spPr>
        </p:sp>
      </p:grpSp>
      <p:grpSp>
        <p:nvGrpSpPr>
          <p:cNvPr id="12" name="Group 12"/>
          <p:cNvGrpSpPr/>
          <p:nvPr/>
        </p:nvGrpSpPr>
        <p:grpSpPr>
          <a:xfrm>
            <a:off x="281349" y="1919692"/>
            <a:ext cx="10014604" cy="7093585"/>
            <a:chOff x="0" y="0"/>
            <a:chExt cx="17099605" cy="12112062"/>
          </a:xfrm>
        </p:grpSpPr>
        <p:sp>
          <p:nvSpPr>
            <p:cNvPr id="13" name="Freeform 13">
              <a:hlinkClick r:id="rId7" tooltip="https://docs.google.com/spreadsheets/d/1MIOK2YHYXsUPsmS8F9L0k2IU9U0TAdR_aZ0GRFDmiNU/copy#gid=224893433"/>
            </p:cNvPr>
            <p:cNvSpPr/>
            <p:nvPr/>
          </p:nvSpPr>
          <p:spPr>
            <a:xfrm>
              <a:off x="0" y="0"/>
              <a:ext cx="17099580" cy="12112061"/>
            </a:xfrm>
            <a:custGeom>
              <a:avLst/>
              <a:gdLst/>
              <a:ahLst/>
              <a:cxnLst/>
              <a:rect l="l" t="t" r="r" b="b"/>
              <a:pathLst>
                <a:path w="17099580" h="12112061">
                  <a:moveTo>
                    <a:pt x="0" y="0"/>
                  </a:moveTo>
                  <a:lnTo>
                    <a:pt x="17099580" y="0"/>
                  </a:lnTo>
                  <a:lnTo>
                    <a:pt x="17099580" y="12112061"/>
                  </a:lnTo>
                  <a:lnTo>
                    <a:pt x="0" y="12112061"/>
                  </a:lnTo>
                  <a:lnTo>
                    <a:pt x="0" y="0"/>
                  </a:lnTo>
                  <a:close/>
                </a:path>
              </a:pathLst>
            </a:custGeom>
            <a:blipFill>
              <a:blip r:embed="rId9"/>
              <a:stretch>
                <a:fillRect r="-205"/>
              </a:stretch>
            </a:blipFill>
          </p:spPr>
        </p:sp>
      </p:grpSp>
      <p:grpSp>
        <p:nvGrpSpPr>
          <p:cNvPr id="14" name="Group 14"/>
          <p:cNvGrpSpPr/>
          <p:nvPr/>
        </p:nvGrpSpPr>
        <p:grpSpPr>
          <a:xfrm>
            <a:off x="795114" y="9013277"/>
            <a:ext cx="8348886" cy="766873"/>
            <a:chOff x="0" y="0"/>
            <a:chExt cx="11131848" cy="1022497"/>
          </a:xfrm>
        </p:grpSpPr>
        <p:sp>
          <p:nvSpPr>
            <p:cNvPr id="15" name="Freeform 15"/>
            <p:cNvSpPr/>
            <p:nvPr/>
          </p:nvSpPr>
          <p:spPr>
            <a:xfrm>
              <a:off x="0" y="0"/>
              <a:ext cx="11131842" cy="1022502"/>
            </a:xfrm>
            <a:custGeom>
              <a:avLst/>
              <a:gdLst/>
              <a:ahLst/>
              <a:cxnLst/>
              <a:rect l="l" t="t" r="r" b="b"/>
              <a:pathLst>
                <a:path w="11131842" h="1022502">
                  <a:moveTo>
                    <a:pt x="0" y="0"/>
                  </a:moveTo>
                  <a:lnTo>
                    <a:pt x="11131842" y="0"/>
                  </a:lnTo>
                  <a:lnTo>
                    <a:pt x="11131842" y="1022502"/>
                  </a:lnTo>
                  <a:lnTo>
                    <a:pt x="0" y="1022502"/>
                  </a:lnTo>
                  <a:close/>
                </a:path>
              </a:pathLst>
            </a:custGeom>
            <a:blipFill>
              <a:blip r:embed="rId6">
                <a:alphaModFix amt="0"/>
              </a:blip>
              <a:stretch>
                <a:fillRect t="-134966" r="9211" b="-150213"/>
              </a:stretch>
            </a:blipFill>
          </p:spPr>
        </p:sp>
        <p:sp>
          <p:nvSpPr>
            <p:cNvPr id="16" name="TextBox 16"/>
            <p:cNvSpPr txBox="1"/>
            <p:nvPr/>
          </p:nvSpPr>
          <p:spPr>
            <a:xfrm>
              <a:off x="0" y="-9525"/>
              <a:ext cx="11131848" cy="1032022"/>
            </a:xfrm>
            <a:prstGeom prst="rect">
              <a:avLst/>
            </a:prstGeom>
          </p:spPr>
          <p:txBody>
            <a:bodyPr lIns="0" tIns="0" rIns="0" bIns="0" rtlCol="0" anchor="b"/>
            <a:lstStyle/>
            <a:p>
              <a:pPr algn="ctr">
                <a:lnSpc>
                  <a:spcPts val="3600"/>
                </a:lnSpc>
              </a:pPr>
              <a:r>
                <a:rPr lang="en-US" sz="3000">
                  <a:solidFill>
                    <a:srgbClr val="191919"/>
                  </a:solidFill>
                  <a:latin typeface="Lexend Peta"/>
                  <a:ea typeface="Lexend Peta"/>
                  <a:cs typeface="Lexend Peta"/>
                  <a:sym typeface="Lexend Peta"/>
                </a:rPr>
                <a:t>Observation Table</a:t>
              </a:r>
            </a:p>
          </p:txBody>
        </p:sp>
      </p:grpSp>
      <p:sp>
        <p:nvSpPr>
          <p:cNvPr id="17" name="Freeform 17"/>
          <p:cNvSpPr/>
          <p:nvPr/>
        </p:nvSpPr>
        <p:spPr>
          <a:xfrm>
            <a:off x="278871" y="496491"/>
            <a:ext cx="1032486" cy="1064418"/>
          </a:xfrm>
          <a:custGeom>
            <a:avLst/>
            <a:gdLst/>
            <a:ahLst/>
            <a:cxnLst/>
            <a:rect l="l" t="t" r="r" b="b"/>
            <a:pathLst>
              <a:path w="1032486" h="1064418">
                <a:moveTo>
                  <a:pt x="0" y="0"/>
                </a:moveTo>
                <a:lnTo>
                  <a:pt x="1032485" y="0"/>
                </a:lnTo>
                <a:lnTo>
                  <a:pt x="1032485" y="1064418"/>
                </a:lnTo>
                <a:lnTo>
                  <a:pt x="0" y="1064418"/>
                </a:lnTo>
                <a:lnTo>
                  <a:pt x="0" y="0"/>
                </a:lnTo>
                <a:close/>
              </a:path>
            </a:pathLst>
          </a:custGeom>
          <a:blipFill>
            <a:blip>
              <a:extLst>
                <a:ext uri="{96DAC541-7B7A-43D3-8B79-37D633B846F1}">
                  <asvg:svgBlip xmlns:asvg="http://schemas.microsoft.com/office/drawing/2016/SVG/main" r:embed="rId10"/>
                </a:ext>
              </a:extLst>
            </a:blip>
            <a:stretch>
              <a:fillRect/>
            </a:stretch>
          </a:blipFill>
        </p:spPr>
      </p:sp>
      <p:grpSp>
        <p:nvGrpSpPr>
          <p:cNvPr id="18" name="Group 18"/>
          <p:cNvGrpSpPr/>
          <p:nvPr/>
        </p:nvGrpSpPr>
        <p:grpSpPr>
          <a:xfrm>
            <a:off x="16378534" y="366103"/>
            <a:ext cx="828465" cy="828418"/>
            <a:chOff x="0" y="0"/>
            <a:chExt cx="1104621" cy="1104557"/>
          </a:xfrm>
        </p:grpSpPr>
        <p:sp>
          <p:nvSpPr>
            <p:cNvPr id="19" name="Freeform 19"/>
            <p:cNvSpPr/>
            <p:nvPr/>
          </p:nvSpPr>
          <p:spPr>
            <a:xfrm>
              <a:off x="0" y="0"/>
              <a:ext cx="1104646" cy="1104519"/>
            </a:xfrm>
            <a:custGeom>
              <a:avLst/>
              <a:gdLst/>
              <a:ahLst/>
              <a:cxnLst/>
              <a:rect l="l" t="t" r="r" b="b"/>
              <a:pathLst>
                <a:path w="1104646" h="1104519">
                  <a:moveTo>
                    <a:pt x="0" y="0"/>
                  </a:moveTo>
                  <a:lnTo>
                    <a:pt x="1104646" y="0"/>
                  </a:lnTo>
                  <a:lnTo>
                    <a:pt x="1104646" y="1104519"/>
                  </a:lnTo>
                  <a:lnTo>
                    <a:pt x="0" y="1104519"/>
                  </a:lnTo>
                  <a:lnTo>
                    <a:pt x="0" y="0"/>
                  </a:lnTo>
                  <a:close/>
                </a:path>
              </a:pathLst>
            </a:custGeom>
            <a:blipFill>
              <a:blip r:embed="rId11"/>
              <a:stretch>
                <a:fillRect t="-3" r="2" b="-5"/>
              </a:stretch>
            </a:blipFill>
          </p:spPr>
        </p:sp>
      </p:grpSp>
      <p:grpSp>
        <p:nvGrpSpPr>
          <p:cNvPr id="20" name="Group 20"/>
          <p:cNvGrpSpPr/>
          <p:nvPr/>
        </p:nvGrpSpPr>
        <p:grpSpPr>
          <a:xfrm>
            <a:off x="10647570" y="2490437"/>
            <a:ext cx="7290515" cy="941377"/>
            <a:chOff x="0" y="0"/>
            <a:chExt cx="6388995" cy="824969"/>
          </a:xfrm>
        </p:grpSpPr>
        <p:sp>
          <p:nvSpPr>
            <p:cNvPr id="21" name="Freeform 21"/>
            <p:cNvSpPr/>
            <p:nvPr/>
          </p:nvSpPr>
          <p:spPr>
            <a:xfrm>
              <a:off x="0" y="0"/>
              <a:ext cx="6388995" cy="824969"/>
            </a:xfrm>
            <a:custGeom>
              <a:avLst/>
              <a:gdLst/>
              <a:ahLst/>
              <a:cxnLst/>
              <a:rect l="l" t="t" r="r" b="b"/>
              <a:pathLst>
                <a:path w="6388995" h="824969">
                  <a:moveTo>
                    <a:pt x="0" y="0"/>
                  </a:moveTo>
                  <a:lnTo>
                    <a:pt x="6388995" y="0"/>
                  </a:lnTo>
                  <a:lnTo>
                    <a:pt x="6388995" y="824969"/>
                  </a:lnTo>
                  <a:lnTo>
                    <a:pt x="0" y="824969"/>
                  </a:lnTo>
                  <a:close/>
                </a:path>
              </a:pathLst>
            </a:custGeom>
            <a:blipFill>
              <a:blip r:embed="rId12"/>
              <a:stretch>
                <a:fillRect t="-1630" b="-1630"/>
              </a:stretch>
            </a:blipFill>
          </p:spPr>
        </p:sp>
      </p:grpSp>
      <p:sp>
        <p:nvSpPr>
          <p:cNvPr id="22" name="TextBox 22"/>
          <p:cNvSpPr txBox="1"/>
          <p:nvPr/>
        </p:nvSpPr>
        <p:spPr>
          <a:xfrm>
            <a:off x="1378989" y="621075"/>
            <a:ext cx="10203411" cy="820738"/>
          </a:xfrm>
          <a:prstGeom prst="rect">
            <a:avLst/>
          </a:prstGeom>
        </p:spPr>
        <p:txBody>
          <a:bodyPr wrap="square" lIns="0" tIns="0" rIns="0" bIns="0" rtlCol="0" anchor="t">
            <a:spAutoFit/>
          </a:bodyPr>
          <a:lstStyle/>
          <a:p>
            <a:pPr algn="l">
              <a:lnSpc>
                <a:spcPts val="6433"/>
              </a:lnSpc>
            </a:pPr>
            <a:r>
              <a:rPr lang="en-US" sz="5361" dirty="0">
                <a:solidFill>
                  <a:srgbClr val="191919"/>
                </a:solidFill>
                <a:latin typeface="Lexend Peta"/>
                <a:ea typeface="Lexend Peta"/>
                <a:cs typeface="Lexend Peta"/>
                <a:sym typeface="Lexend Peta"/>
              </a:rPr>
              <a:t>RESULT &amp;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Freeform 4"/>
          <p:cNvSpPr/>
          <p:nvPr/>
        </p:nvSpPr>
        <p:spPr>
          <a:xfrm>
            <a:off x="-952919" y="-1986829"/>
            <a:ext cx="21190639" cy="12347448"/>
          </a:xfrm>
          <a:custGeom>
            <a:avLst/>
            <a:gdLst/>
            <a:ahLst/>
            <a:cxnLst/>
            <a:rect l="l" t="t" r="r" b="b"/>
            <a:pathLst>
              <a:path w="21190639" h="12347448">
                <a:moveTo>
                  <a:pt x="0" y="0"/>
                </a:moveTo>
                <a:lnTo>
                  <a:pt x="21190639" y="0"/>
                </a:lnTo>
                <a:lnTo>
                  <a:pt x="21190639" y="12347448"/>
                </a:lnTo>
                <a:lnTo>
                  <a:pt x="0" y="1234744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278871" y="496491"/>
            <a:ext cx="1032486" cy="1064418"/>
          </a:xfrm>
          <a:custGeom>
            <a:avLst/>
            <a:gdLst/>
            <a:ahLst/>
            <a:cxnLst/>
            <a:rect l="l" t="t" r="r" b="b"/>
            <a:pathLst>
              <a:path w="1032486" h="1064418">
                <a:moveTo>
                  <a:pt x="0" y="0"/>
                </a:moveTo>
                <a:lnTo>
                  <a:pt x="1032485" y="0"/>
                </a:lnTo>
                <a:lnTo>
                  <a:pt x="1032485" y="1064418"/>
                </a:lnTo>
                <a:lnTo>
                  <a:pt x="0" y="1064418"/>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17078296" y="355444"/>
            <a:ext cx="952957" cy="832266"/>
            <a:chOff x="0" y="0"/>
            <a:chExt cx="1270610" cy="1109688"/>
          </a:xfrm>
        </p:grpSpPr>
        <p:sp>
          <p:nvSpPr>
            <p:cNvPr id="7" name="Freeform 7"/>
            <p:cNvSpPr/>
            <p:nvPr/>
          </p:nvSpPr>
          <p:spPr>
            <a:xfrm>
              <a:off x="0" y="0"/>
              <a:ext cx="1270635" cy="1109726"/>
            </a:xfrm>
            <a:custGeom>
              <a:avLst/>
              <a:gdLst/>
              <a:ahLst/>
              <a:cxnLst/>
              <a:rect l="l" t="t" r="r" b="b"/>
              <a:pathLst>
                <a:path w="1270635" h="1109726">
                  <a:moveTo>
                    <a:pt x="0" y="0"/>
                  </a:moveTo>
                  <a:lnTo>
                    <a:pt x="1270635" y="0"/>
                  </a:lnTo>
                  <a:lnTo>
                    <a:pt x="1270635" y="1109726"/>
                  </a:lnTo>
                  <a:lnTo>
                    <a:pt x="0" y="1109726"/>
                  </a:lnTo>
                  <a:lnTo>
                    <a:pt x="0" y="0"/>
                  </a:lnTo>
                  <a:close/>
                </a:path>
              </a:pathLst>
            </a:custGeom>
            <a:blipFill>
              <a:blip r:embed="rId6"/>
              <a:stretch>
                <a:fillRect r="2" b="2"/>
              </a:stretch>
            </a:blipFill>
          </p:spPr>
        </p:sp>
      </p:grpSp>
      <p:grpSp>
        <p:nvGrpSpPr>
          <p:cNvPr id="8" name="Group 8"/>
          <p:cNvGrpSpPr/>
          <p:nvPr/>
        </p:nvGrpSpPr>
        <p:grpSpPr>
          <a:xfrm>
            <a:off x="582419" y="3627851"/>
            <a:ext cx="1145591" cy="7354710"/>
            <a:chOff x="0" y="0"/>
            <a:chExt cx="1527454" cy="9806280"/>
          </a:xfrm>
        </p:grpSpPr>
        <p:sp>
          <p:nvSpPr>
            <p:cNvPr id="9" name="Freeform 9"/>
            <p:cNvSpPr/>
            <p:nvPr/>
          </p:nvSpPr>
          <p:spPr>
            <a:xfrm>
              <a:off x="14452" y="0"/>
              <a:ext cx="1498992" cy="9806051"/>
            </a:xfrm>
            <a:custGeom>
              <a:avLst/>
              <a:gdLst/>
              <a:ahLst/>
              <a:cxnLst/>
              <a:rect l="l" t="t" r="r" b="b"/>
              <a:pathLst>
                <a:path w="1498992" h="9806051">
                  <a:moveTo>
                    <a:pt x="749707" y="0"/>
                  </a:moveTo>
                  <a:cubicBezTo>
                    <a:pt x="729133" y="0"/>
                    <a:pt x="709067" y="9779"/>
                    <a:pt x="694081" y="28956"/>
                  </a:cubicBezTo>
                  <a:lnTo>
                    <a:pt x="15139" y="891794"/>
                  </a:lnTo>
                  <a:cubicBezTo>
                    <a:pt x="-14071" y="931037"/>
                    <a:pt x="153" y="963041"/>
                    <a:pt x="47778" y="963041"/>
                  </a:cubicBezTo>
                  <a:lnTo>
                    <a:pt x="261392" y="963041"/>
                  </a:lnTo>
                  <a:lnTo>
                    <a:pt x="261392" y="9806051"/>
                  </a:lnTo>
                  <a:lnTo>
                    <a:pt x="1237514" y="9806051"/>
                  </a:lnTo>
                  <a:lnTo>
                    <a:pt x="1237514" y="962914"/>
                  </a:lnTo>
                  <a:lnTo>
                    <a:pt x="1451128" y="962914"/>
                  </a:lnTo>
                  <a:cubicBezTo>
                    <a:pt x="1498880" y="962914"/>
                    <a:pt x="1513104" y="931037"/>
                    <a:pt x="1483767" y="891667"/>
                  </a:cubicBezTo>
                  <a:lnTo>
                    <a:pt x="807365" y="28956"/>
                  </a:lnTo>
                  <a:cubicBezTo>
                    <a:pt x="791109" y="9779"/>
                    <a:pt x="770281" y="0"/>
                    <a:pt x="749707" y="0"/>
                  </a:cubicBezTo>
                  <a:close/>
                </a:path>
              </a:pathLst>
            </a:custGeom>
            <a:solidFill>
              <a:srgbClr val="FF3131"/>
            </a:solidFill>
          </p:spPr>
        </p:sp>
      </p:grpSp>
      <p:grpSp>
        <p:nvGrpSpPr>
          <p:cNvPr id="10" name="Group 10"/>
          <p:cNvGrpSpPr/>
          <p:nvPr/>
        </p:nvGrpSpPr>
        <p:grpSpPr>
          <a:xfrm>
            <a:off x="2385234" y="5913298"/>
            <a:ext cx="1145591" cy="7354710"/>
            <a:chOff x="0" y="0"/>
            <a:chExt cx="1527454" cy="9806280"/>
          </a:xfrm>
        </p:grpSpPr>
        <p:sp>
          <p:nvSpPr>
            <p:cNvPr id="11" name="Freeform 11"/>
            <p:cNvSpPr/>
            <p:nvPr/>
          </p:nvSpPr>
          <p:spPr>
            <a:xfrm>
              <a:off x="14452" y="0"/>
              <a:ext cx="1498992" cy="9806051"/>
            </a:xfrm>
            <a:custGeom>
              <a:avLst/>
              <a:gdLst/>
              <a:ahLst/>
              <a:cxnLst/>
              <a:rect l="l" t="t" r="r" b="b"/>
              <a:pathLst>
                <a:path w="1498992" h="9806051">
                  <a:moveTo>
                    <a:pt x="749707" y="0"/>
                  </a:moveTo>
                  <a:cubicBezTo>
                    <a:pt x="729133" y="0"/>
                    <a:pt x="709067" y="9779"/>
                    <a:pt x="694081" y="28956"/>
                  </a:cubicBezTo>
                  <a:lnTo>
                    <a:pt x="15139" y="891794"/>
                  </a:lnTo>
                  <a:cubicBezTo>
                    <a:pt x="-14071" y="931037"/>
                    <a:pt x="153" y="963041"/>
                    <a:pt x="47778" y="963041"/>
                  </a:cubicBezTo>
                  <a:lnTo>
                    <a:pt x="261392" y="963041"/>
                  </a:lnTo>
                  <a:lnTo>
                    <a:pt x="261392" y="9806051"/>
                  </a:lnTo>
                  <a:lnTo>
                    <a:pt x="1237514" y="9806051"/>
                  </a:lnTo>
                  <a:lnTo>
                    <a:pt x="1237514" y="962914"/>
                  </a:lnTo>
                  <a:lnTo>
                    <a:pt x="1451128" y="962914"/>
                  </a:lnTo>
                  <a:cubicBezTo>
                    <a:pt x="1498880" y="962914"/>
                    <a:pt x="1513104" y="931037"/>
                    <a:pt x="1483767" y="891667"/>
                  </a:cubicBezTo>
                  <a:lnTo>
                    <a:pt x="807365" y="28956"/>
                  </a:lnTo>
                  <a:cubicBezTo>
                    <a:pt x="791109" y="9779"/>
                    <a:pt x="770281" y="0"/>
                    <a:pt x="749707" y="0"/>
                  </a:cubicBezTo>
                  <a:close/>
                </a:path>
              </a:pathLst>
            </a:custGeom>
            <a:solidFill>
              <a:srgbClr val="FFD21F"/>
            </a:solidFill>
          </p:spPr>
        </p:sp>
      </p:grpSp>
      <p:grpSp>
        <p:nvGrpSpPr>
          <p:cNvPr id="12" name="Group 12"/>
          <p:cNvGrpSpPr/>
          <p:nvPr/>
        </p:nvGrpSpPr>
        <p:grpSpPr>
          <a:xfrm>
            <a:off x="4188050" y="8405008"/>
            <a:ext cx="1145591" cy="7354710"/>
            <a:chOff x="0" y="0"/>
            <a:chExt cx="1527454" cy="9806280"/>
          </a:xfrm>
        </p:grpSpPr>
        <p:sp>
          <p:nvSpPr>
            <p:cNvPr id="13" name="Freeform 13"/>
            <p:cNvSpPr/>
            <p:nvPr/>
          </p:nvSpPr>
          <p:spPr>
            <a:xfrm>
              <a:off x="14452" y="0"/>
              <a:ext cx="1498992" cy="9806051"/>
            </a:xfrm>
            <a:custGeom>
              <a:avLst/>
              <a:gdLst/>
              <a:ahLst/>
              <a:cxnLst/>
              <a:rect l="l" t="t" r="r" b="b"/>
              <a:pathLst>
                <a:path w="1498992" h="9806051">
                  <a:moveTo>
                    <a:pt x="749707" y="0"/>
                  </a:moveTo>
                  <a:cubicBezTo>
                    <a:pt x="729133" y="0"/>
                    <a:pt x="709067" y="9779"/>
                    <a:pt x="694081" y="28956"/>
                  </a:cubicBezTo>
                  <a:lnTo>
                    <a:pt x="15139" y="891794"/>
                  </a:lnTo>
                  <a:cubicBezTo>
                    <a:pt x="-14071" y="931037"/>
                    <a:pt x="153" y="963041"/>
                    <a:pt x="47778" y="963041"/>
                  </a:cubicBezTo>
                  <a:lnTo>
                    <a:pt x="261392" y="963041"/>
                  </a:lnTo>
                  <a:lnTo>
                    <a:pt x="261392" y="9806051"/>
                  </a:lnTo>
                  <a:lnTo>
                    <a:pt x="1237514" y="9806051"/>
                  </a:lnTo>
                  <a:lnTo>
                    <a:pt x="1237514" y="962914"/>
                  </a:lnTo>
                  <a:lnTo>
                    <a:pt x="1451128" y="962914"/>
                  </a:lnTo>
                  <a:cubicBezTo>
                    <a:pt x="1498880" y="962914"/>
                    <a:pt x="1513104" y="931037"/>
                    <a:pt x="1483767" y="891667"/>
                  </a:cubicBezTo>
                  <a:lnTo>
                    <a:pt x="807365" y="28956"/>
                  </a:lnTo>
                  <a:cubicBezTo>
                    <a:pt x="791109" y="9779"/>
                    <a:pt x="770281" y="0"/>
                    <a:pt x="749707" y="0"/>
                  </a:cubicBezTo>
                  <a:close/>
                </a:path>
              </a:pathLst>
            </a:custGeom>
            <a:solidFill>
              <a:srgbClr val="00BF63"/>
            </a:solidFill>
          </p:spPr>
        </p:sp>
      </p:grpSp>
      <p:sp>
        <p:nvSpPr>
          <p:cNvPr id="14" name="Freeform 14"/>
          <p:cNvSpPr/>
          <p:nvPr/>
        </p:nvSpPr>
        <p:spPr>
          <a:xfrm>
            <a:off x="793345" y="2447467"/>
            <a:ext cx="723738" cy="723738"/>
          </a:xfrm>
          <a:custGeom>
            <a:avLst/>
            <a:gdLst/>
            <a:ahLst/>
            <a:cxnLst/>
            <a:rect l="l" t="t" r="r" b="b"/>
            <a:pathLst>
              <a:path w="723738" h="723738">
                <a:moveTo>
                  <a:pt x="0" y="0"/>
                </a:moveTo>
                <a:lnTo>
                  <a:pt x="723738" y="0"/>
                </a:lnTo>
                <a:lnTo>
                  <a:pt x="723738" y="723738"/>
                </a:lnTo>
                <a:lnTo>
                  <a:pt x="0" y="723738"/>
                </a:lnTo>
                <a:lnTo>
                  <a:pt x="0" y="0"/>
                </a:lnTo>
                <a:close/>
              </a:path>
            </a:pathLst>
          </a:custGeom>
          <a:blipFill>
            <a:blip>
              <a:extLst>
                <a:ext uri="{96DAC541-7B7A-43D3-8B79-37D633B846F1}">
                  <asvg:svgBlip xmlns:asvg="http://schemas.microsoft.com/office/drawing/2016/SVG/main" r:embed="rId7"/>
                </a:ext>
              </a:extLst>
            </a:blip>
            <a:stretch>
              <a:fillRect/>
            </a:stretch>
          </a:blipFill>
        </p:spPr>
      </p:sp>
      <p:grpSp>
        <p:nvGrpSpPr>
          <p:cNvPr id="15" name="Group 15"/>
          <p:cNvGrpSpPr/>
          <p:nvPr/>
        </p:nvGrpSpPr>
        <p:grpSpPr>
          <a:xfrm>
            <a:off x="9931419" y="2342945"/>
            <a:ext cx="7623356" cy="7372245"/>
            <a:chOff x="0" y="0"/>
            <a:chExt cx="1137632" cy="1100158"/>
          </a:xfrm>
        </p:grpSpPr>
        <p:sp>
          <p:nvSpPr>
            <p:cNvPr id="16" name="Freeform 16"/>
            <p:cNvSpPr/>
            <p:nvPr/>
          </p:nvSpPr>
          <p:spPr>
            <a:xfrm>
              <a:off x="0" y="0"/>
              <a:ext cx="1137632" cy="1100158"/>
            </a:xfrm>
            <a:custGeom>
              <a:avLst/>
              <a:gdLst/>
              <a:ahLst/>
              <a:cxnLst/>
              <a:rect l="l" t="t" r="r" b="b"/>
              <a:pathLst>
                <a:path w="1137632" h="1100158">
                  <a:moveTo>
                    <a:pt x="0" y="0"/>
                  </a:moveTo>
                  <a:lnTo>
                    <a:pt x="1137632" y="0"/>
                  </a:lnTo>
                  <a:lnTo>
                    <a:pt x="1137632" y="1100158"/>
                  </a:lnTo>
                  <a:lnTo>
                    <a:pt x="0" y="1100158"/>
                  </a:lnTo>
                  <a:close/>
                </a:path>
              </a:pathLst>
            </a:custGeom>
            <a:blipFill>
              <a:blip r:embed="rId8"/>
              <a:stretch>
                <a:fillRect l="-7307" r="-7307"/>
              </a:stretch>
            </a:blipFill>
          </p:spPr>
        </p:sp>
      </p:grpSp>
      <p:sp>
        <p:nvSpPr>
          <p:cNvPr id="17" name="Freeform 17"/>
          <p:cNvSpPr/>
          <p:nvPr/>
        </p:nvSpPr>
        <p:spPr>
          <a:xfrm>
            <a:off x="2596161" y="4781631"/>
            <a:ext cx="723738" cy="723738"/>
          </a:xfrm>
          <a:custGeom>
            <a:avLst/>
            <a:gdLst/>
            <a:ahLst/>
            <a:cxnLst/>
            <a:rect l="l" t="t" r="r" b="b"/>
            <a:pathLst>
              <a:path w="723738" h="723738">
                <a:moveTo>
                  <a:pt x="0" y="0"/>
                </a:moveTo>
                <a:lnTo>
                  <a:pt x="723738" y="0"/>
                </a:lnTo>
                <a:lnTo>
                  <a:pt x="723738" y="723738"/>
                </a:lnTo>
                <a:lnTo>
                  <a:pt x="0" y="723738"/>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8" name="Freeform 18"/>
          <p:cNvSpPr/>
          <p:nvPr/>
        </p:nvSpPr>
        <p:spPr>
          <a:xfrm>
            <a:off x="4398976" y="7247076"/>
            <a:ext cx="723738" cy="723738"/>
          </a:xfrm>
          <a:custGeom>
            <a:avLst/>
            <a:gdLst/>
            <a:ahLst/>
            <a:cxnLst/>
            <a:rect l="l" t="t" r="r" b="b"/>
            <a:pathLst>
              <a:path w="723738" h="723738">
                <a:moveTo>
                  <a:pt x="0" y="0"/>
                </a:moveTo>
                <a:lnTo>
                  <a:pt x="723739" y="0"/>
                </a:lnTo>
                <a:lnTo>
                  <a:pt x="723739" y="723738"/>
                </a:lnTo>
                <a:lnTo>
                  <a:pt x="0" y="723738"/>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9" name="TextBox 19"/>
          <p:cNvSpPr txBox="1"/>
          <p:nvPr/>
        </p:nvSpPr>
        <p:spPr>
          <a:xfrm>
            <a:off x="1378989" y="621075"/>
            <a:ext cx="9898611" cy="820738"/>
          </a:xfrm>
          <a:prstGeom prst="rect">
            <a:avLst/>
          </a:prstGeom>
        </p:spPr>
        <p:txBody>
          <a:bodyPr wrap="square" lIns="0" tIns="0" rIns="0" bIns="0" rtlCol="0" anchor="t">
            <a:spAutoFit/>
          </a:bodyPr>
          <a:lstStyle/>
          <a:p>
            <a:pPr algn="l">
              <a:lnSpc>
                <a:spcPts val="6433"/>
              </a:lnSpc>
            </a:pPr>
            <a:r>
              <a:rPr lang="en-US" sz="5361" dirty="0">
                <a:solidFill>
                  <a:srgbClr val="191919"/>
                </a:solidFill>
                <a:latin typeface="Lexend Peta"/>
                <a:ea typeface="Lexend Peta"/>
                <a:cs typeface="Lexend Peta"/>
                <a:sym typeface="Lexend Peta"/>
              </a:rPr>
              <a:t>RESULT &amp; ANALYSIS</a:t>
            </a:r>
          </a:p>
        </p:txBody>
      </p:sp>
      <p:sp>
        <p:nvSpPr>
          <p:cNvPr id="20" name="TextBox 20"/>
          <p:cNvSpPr txBox="1"/>
          <p:nvPr/>
        </p:nvSpPr>
        <p:spPr>
          <a:xfrm>
            <a:off x="1728009" y="1905096"/>
            <a:ext cx="4046641" cy="1722755"/>
          </a:xfrm>
          <a:prstGeom prst="rect">
            <a:avLst/>
          </a:prstGeom>
        </p:spPr>
        <p:txBody>
          <a:bodyPr lIns="0" tIns="0" rIns="0" bIns="0" rtlCol="0" anchor="t">
            <a:spAutoFit/>
          </a:bodyPr>
          <a:lstStyle/>
          <a:p>
            <a:pPr algn="ctr">
              <a:lnSpc>
                <a:spcPts val="4029"/>
              </a:lnSpc>
            </a:pPr>
            <a:r>
              <a:rPr lang="en-US" sz="2599" b="1" spc="171">
                <a:solidFill>
                  <a:srgbClr val="000000"/>
                </a:solidFill>
                <a:latin typeface="DM Sans Bold"/>
                <a:ea typeface="DM Sans Bold"/>
                <a:cs typeface="DM Sans Bold"/>
                <a:sym typeface="DM Sans Bold"/>
              </a:rPr>
              <a:t>Fixed Time Control </a:t>
            </a:r>
          </a:p>
          <a:p>
            <a:pPr algn="ctr">
              <a:lnSpc>
                <a:spcPts val="5889"/>
              </a:lnSpc>
            </a:pPr>
            <a:r>
              <a:rPr lang="en-US" sz="3799" b="1" spc="250">
                <a:solidFill>
                  <a:srgbClr val="FF3131"/>
                </a:solidFill>
                <a:latin typeface="DM Sans Bold"/>
                <a:ea typeface="DM Sans Bold"/>
                <a:cs typeface="DM Sans Bold"/>
                <a:sym typeface="DM Sans Bold"/>
              </a:rPr>
              <a:t>118 Sec</a:t>
            </a:r>
          </a:p>
          <a:p>
            <a:pPr algn="ctr">
              <a:lnSpc>
                <a:spcPts val="4029"/>
              </a:lnSpc>
            </a:pPr>
            <a:r>
              <a:rPr lang="en-US" sz="2599" b="1" spc="171">
                <a:solidFill>
                  <a:srgbClr val="000000"/>
                </a:solidFill>
                <a:latin typeface="DM Sans Bold"/>
                <a:ea typeface="DM Sans Bold"/>
                <a:cs typeface="DM Sans Bold"/>
                <a:sym typeface="DM Sans Bold"/>
              </a:rPr>
              <a:t>Average Waiting Time</a:t>
            </a:r>
          </a:p>
        </p:txBody>
      </p:sp>
      <p:sp>
        <p:nvSpPr>
          <p:cNvPr id="21" name="TextBox 21"/>
          <p:cNvSpPr txBox="1"/>
          <p:nvPr/>
        </p:nvSpPr>
        <p:spPr>
          <a:xfrm>
            <a:off x="4188050" y="4306312"/>
            <a:ext cx="4534124" cy="1722755"/>
          </a:xfrm>
          <a:prstGeom prst="rect">
            <a:avLst/>
          </a:prstGeom>
        </p:spPr>
        <p:txBody>
          <a:bodyPr lIns="0" tIns="0" rIns="0" bIns="0" rtlCol="0" anchor="t">
            <a:spAutoFit/>
          </a:bodyPr>
          <a:lstStyle/>
          <a:p>
            <a:pPr algn="ctr">
              <a:lnSpc>
                <a:spcPts val="4029"/>
              </a:lnSpc>
            </a:pPr>
            <a:r>
              <a:rPr lang="en-US" sz="2599" b="1" spc="171">
                <a:solidFill>
                  <a:srgbClr val="000000"/>
                </a:solidFill>
                <a:latin typeface="DM Sans Bold"/>
                <a:ea typeface="DM Sans Bold"/>
                <a:cs typeface="DM Sans Bold"/>
                <a:sym typeface="DM Sans Bold"/>
              </a:rPr>
              <a:t>Dynamic Time Control </a:t>
            </a:r>
          </a:p>
          <a:p>
            <a:pPr algn="ctr">
              <a:lnSpc>
                <a:spcPts val="5889"/>
              </a:lnSpc>
            </a:pPr>
            <a:r>
              <a:rPr lang="en-US" sz="3799" b="1" spc="250">
                <a:solidFill>
                  <a:srgbClr val="FFD21F"/>
                </a:solidFill>
                <a:latin typeface="DM Sans Bold"/>
                <a:ea typeface="DM Sans Bold"/>
                <a:cs typeface="DM Sans Bold"/>
                <a:sym typeface="DM Sans Bold"/>
              </a:rPr>
              <a:t>70.48 Sec</a:t>
            </a:r>
          </a:p>
          <a:p>
            <a:pPr algn="ctr">
              <a:lnSpc>
                <a:spcPts val="4029"/>
              </a:lnSpc>
            </a:pPr>
            <a:r>
              <a:rPr lang="en-US" sz="2599" b="1" spc="171">
                <a:solidFill>
                  <a:srgbClr val="000000"/>
                </a:solidFill>
                <a:latin typeface="DM Sans Bold"/>
                <a:ea typeface="DM Sans Bold"/>
                <a:cs typeface="DM Sans Bold"/>
                <a:sym typeface="DM Sans Bold"/>
              </a:rPr>
              <a:t>Average Waiting Time</a:t>
            </a:r>
          </a:p>
        </p:txBody>
      </p:sp>
      <p:sp>
        <p:nvSpPr>
          <p:cNvPr id="22" name="TextBox 22"/>
          <p:cNvSpPr txBox="1"/>
          <p:nvPr/>
        </p:nvSpPr>
        <p:spPr>
          <a:xfrm>
            <a:off x="5353311" y="6814161"/>
            <a:ext cx="4558438" cy="2227580"/>
          </a:xfrm>
          <a:prstGeom prst="rect">
            <a:avLst/>
          </a:prstGeom>
        </p:spPr>
        <p:txBody>
          <a:bodyPr lIns="0" tIns="0" rIns="0" bIns="0" rtlCol="0" anchor="t">
            <a:spAutoFit/>
          </a:bodyPr>
          <a:lstStyle/>
          <a:p>
            <a:pPr algn="ctr">
              <a:lnSpc>
                <a:spcPts val="4030"/>
              </a:lnSpc>
            </a:pPr>
            <a:r>
              <a:rPr lang="en-US" sz="2600" b="1" spc="171">
                <a:solidFill>
                  <a:srgbClr val="000000"/>
                </a:solidFill>
                <a:latin typeface="DM Sans Bold"/>
                <a:ea typeface="DM Sans Bold"/>
                <a:cs typeface="DM Sans Bold"/>
                <a:sym typeface="DM Sans Bold"/>
              </a:rPr>
              <a:t>Optimization</a:t>
            </a:r>
          </a:p>
          <a:p>
            <a:pPr algn="ctr">
              <a:lnSpc>
                <a:spcPts val="5890"/>
              </a:lnSpc>
            </a:pPr>
            <a:r>
              <a:rPr lang="en-US" sz="3800" b="1" spc="250">
                <a:solidFill>
                  <a:srgbClr val="00BF63"/>
                </a:solidFill>
                <a:latin typeface="DM Sans Bold"/>
                <a:ea typeface="DM Sans Bold"/>
                <a:cs typeface="DM Sans Bold"/>
                <a:sym typeface="DM Sans Bold"/>
              </a:rPr>
              <a:t>40.27 %</a:t>
            </a:r>
            <a:r>
              <a:rPr lang="en-US" sz="3800" b="1" spc="250">
                <a:solidFill>
                  <a:srgbClr val="BF4428"/>
                </a:solidFill>
                <a:latin typeface="DM Sans Bold"/>
                <a:ea typeface="DM Sans Bold"/>
                <a:cs typeface="DM Sans Bold"/>
                <a:sym typeface="DM Sans Bold"/>
              </a:rPr>
              <a:t> </a:t>
            </a:r>
          </a:p>
          <a:p>
            <a:pPr algn="ctr">
              <a:lnSpc>
                <a:spcPts val="4030"/>
              </a:lnSpc>
            </a:pPr>
            <a:r>
              <a:rPr lang="en-US" sz="2600" b="1" spc="171">
                <a:solidFill>
                  <a:srgbClr val="000000"/>
                </a:solidFill>
                <a:latin typeface="DM Sans Bold"/>
                <a:ea typeface="DM Sans Bold"/>
                <a:cs typeface="DM Sans Bold"/>
                <a:sym typeface="DM Sans Bold"/>
              </a:rPr>
              <a:t>Reduction in Waiting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Freeform 4"/>
          <p:cNvSpPr/>
          <p:nvPr/>
        </p:nvSpPr>
        <p:spPr>
          <a:xfrm>
            <a:off x="-952919" y="-1986829"/>
            <a:ext cx="21190639" cy="12347448"/>
          </a:xfrm>
          <a:custGeom>
            <a:avLst/>
            <a:gdLst/>
            <a:ahLst/>
            <a:cxnLst/>
            <a:rect l="l" t="t" r="r" b="b"/>
            <a:pathLst>
              <a:path w="21190639" h="12347448">
                <a:moveTo>
                  <a:pt x="0" y="0"/>
                </a:moveTo>
                <a:lnTo>
                  <a:pt x="21190639" y="0"/>
                </a:lnTo>
                <a:lnTo>
                  <a:pt x="21190639" y="12347448"/>
                </a:lnTo>
                <a:lnTo>
                  <a:pt x="0" y="12347448"/>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7122745" y="1020192"/>
            <a:ext cx="952957" cy="832266"/>
            <a:chOff x="0" y="0"/>
            <a:chExt cx="1270610" cy="1109688"/>
          </a:xfrm>
        </p:grpSpPr>
        <p:sp>
          <p:nvSpPr>
            <p:cNvPr id="6" name="Freeform 6"/>
            <p:cNvSpPr/>
            <p:nvPr/>
          </p:nvSpPr>
          <p:spPr>
            <a:xfrm>
              <a:off x="0" y="0"/>
              <a:ext cx="1270635" cy="1109726"/>
            </a:xfrm>
            <a:custGeom>
              <a:avLst/>
              <a:gdLst/>
              <a:ahLst/>
              <a:cxnLst/>
              <a:rect l="l" t="t" r="r" b="b"/>
              <a:pathLst>
                <a:path w="1270635" h="1109726">
                  <a:moveTo>
                    <a:pt x="0" y="0"/>
                  </a:moveTo>
                  <a:lnTo>
                    <a:pt x="1270635" y="0"/>
                  </a:lnTo>
                  <a:lnTo>
                    <a:pt x="1270635" y="1109726"/>
                  </a:lnTo>
                  <a:lnTo>
                    <a:pt x="0" y="1109726"/>
                  </a:lnTo>
                  <a:lnTo>
                    <a:pt x="0" y="0"/>
                  </a:lnTo>
                  <a:close/>
                </a:path>
              </a:pathLst>
            </a:custGeom>
            <a:blipFill>
              <a:blip r:embed="rId5"/>
              <a:stretch>
                <a:fillRect r="2" b="2"/>
              </a:stretch>
            </a:blipFill>
          </p:spPr>
        </p:sp>
      </p:grpSp>
      <p:sp>
        <p:nvSpPr>
          <p:cNvPr id="7" name="Freeform 7"/>
          <p:cNvSpPr/>
          <p:nvPr/>
        </p:nvSpPr>
        <p:spPr>
          <a:xfrm>
            <a:off x="5388468" y="6198062"/>
            <a:ext cx="2689424" cy="2097750"/>
          </a:xfrm>
          <a:custGeom>
            <a:avLst/>
            <a:gdLst/>
            <a:ahLst/>
            <a:cxnLst/>
            <a:rect l="l" t="t" r="r" b="b"/>
            <a:pathLst>
              <a:path w="2689424" h="2097750">
                <a:moveTo>
                  <a:pt x="0" y="0"/>
                </a:moveTo>
                <a:lnTo>
                  <a:pt x="2689424" y="0"/>
                </a:lnTo>
                <a:lnTo>
                  <a:pt x="2689424" y="2097750"/>
                </a:lnTo>
                <a:lnTo>
                  <a:pt x="0" y="209775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a:off x="10112926" y="6261205"/>
            <a:ext cx="1941893" cy="1971465"/>
          </a:xfrm>
          <a:custGeom>
            <a:avLst/>
            <a:gdLst/>
            <a:ahLst/>
            <a:cxnLst/>
            <a:rect l="l" t="t" r="r" b="b"/>
            <a:pathLst>
              <a:path w="1941893" h="1971465">
                <a:moveTo>
                  <a:pt x="0" y="0"/>
                </a:moveTo>
                <a:lnTo>
                  <a:pt x="1941893" y="0"/>
                </a:lnTo>
                <a:lnTo>
                  <a:pt x="1941893" y="1971465"/>
                </a:lnTo>
                <a:lnTo>
                  <a:pt x="0" y="1971465"/>
                </a:lnTo>
                <a:lnTo>
                  <a:pt x="0" y="0"/>
                </a:lnTo>
                <a:close/>
              </a:path>
            </a:pathLst>
          </a:custGeom>
          <a:blipFill>
            <a:blip>
              <a:extLst>
                <a:ext uri="{96DAC541-7B7A-43D3-8B79-37D633B846F1}">
                  <asvg:svgBlip xmlns:asvg="http://schemas.microsoft.com/office/drawing/2016/SVG/main" r:embed="rId7"/>
                </a:ext>
              </a:extLst>
            </a:blip>
            <a:stretch>
              <a:fillRect/>
            </a:stretch>
          </a:blipFill>
        </p:spPr>
      </p:sp>
      <p:grpSp>
        <p:nvGrpSpPr>
          <p:cNvPr id="9" name="Group 9"/>
          <p:cNvGrpSpPr/>
          <p:nvPr/>
        </p:nvGrpSpPr>
        <p:grpSpPr>
          <a:xfrm>
            <a:off x="9996136" y="2172127"/>
            <a:ext cx="2179897" cy="2179897"/>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8"/>
              <a:stretch>
                <a:fillRect l="-2910" r="-2910"/>
              </a:stretch>
            </a:blipFill>
          </p:spPr>
        </p:sp>
      </p:grpSp>
      <p:sp>
        <p:nvSpPr>
          <p:cNvPr id="11" name="Freeform 11"/>
          <p:cNvSpPr/>
          <p:nvPr/>
        </p:nvSpPr>
        <p:spPr>
          <a:xfrm>
            <a:off x="5499562" y="2172127"/>
            <a:ext cx="2166928" cy="2166928"/>
          </a:xfrm>
          <a:custGeom>
            <a:avLst/>
            <a:gdLst/>
            <a:ahLst/>
            <a:cxnLst/>
            <a:rect l="l" t="t" r="r" b="b"/>
            <a:pathLst>
              <a:path w="2166928" h="2166928">
                <a:moveTo>
                  <a:pt x="0" y="0"/>
                </a:moveTo>
                <a:lnTo>
                  <a:pt x="2166928" y="0"/>
                </a:lnTo>
                <a:lnTo>
                  <a:pt x="2166928" y="2166928"/>
                </a:lnTo>
                <a:lnTo>
                  <a:pt x="0" y="2166928"/>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858311" y="5702299"/>
            <a:ext cx="4160510" cy="2955926"/>
          </a:xfrm>
          <a:prstGeom prst="rect">
            <a:avLst/>
          </a:prstGeom>
        </p:spPr>
        <p:txBody>
          <a:bodyPr lIns="0" tIns="0" rIns="0" bIns="0" rtlCol="0" anchor="t">
            <a:spAutoFit/>
          </a:bodyPr>
          <a:lstStyle/>
          <a:p>
            <a:pPr algn="ctr">
              <a:lnSpc>
                <a:spcPts val="4759"/>
              </a:lnSpc>
              <a:spcBef>
                <a:spcPct val="0"/>
              </a:spcBef>
            </a:pPr>
            <a:r>
              <a:rPr lang="en-US" sz="2799" b="1" spc="204">
                <a:solidFill>
                  <a:srgbClr val="191919"/>
                </a:solidFill>
                <a:latin typeface="DM Sans Bold"/>
                <a:ea typeface="DM Sans Bold"/>
                <a:cs typeface="DM Sans Bold"/>
                <a:sym typeface="DM Sans Bold"/>
              </a:rPr>
              <a:t>YOLO Integration</a:t>
            </a:r>
            <a:r>
              <a:rPr lang="en-US" sz="2799" spc="204">
                <a:solidFill>
                  <a:srgbClr val="191919"/>
                </a:solidFill>
                <a:latin typeface="DM Sans"/>
                <a:ea typeface="DM Sans"/>
                <a:cs typeface="DM Sans"/>
                <a:sym typeface="DM Sans"/>
              </a:rPr>
              <a:t> Real-time vehicle detection and counting to calculate signal timers.</a:t>
            </a:r>
          </a:p>
        </p:txBody>
      </p:sp>
      <p:sp>
        <p:nvSpPr>
          <p:cNvPr id="13" name="TextBox 13"/>
          <p:cNvSpPr txBox="1"/>
          <p:nvPr/>
        </p:nvSpPr>
        <p:spPr>
          <a:xfrm>
            <a:off x="713764" y="377699"/>
            <a:ext cx="8049235" cy="820738"/>
          </a:xfrm>
          <a:prstGeom prst="rect">
            <a:avLst/>
          </a:prstGeom>
        </p:spPr>
        <p:txBody>
          <a:bodyPr wrap="square" lIns="0" tIns="0" rIns="0" bIns="0" rtlCol="0" anchor="t">
            <a:spAutoFit/>
          </a:bodyPr>
          <a:lstStyle/>
          <a:p>
            <a:pPr algn="l">
              <a:lnSpc>
                <a:spcPts val="6433"/>
              </a:lnSpc>
            </a:pPr>
            <a:r>
              <a:rPr lang="en-US" sz="5361" dirty="0">
                <a:solidFill>
                  <a:srgbClr val="191919"/>
                </a:solidFill>
                <a:latin typeface="Lexend Peta"/>
                <a:ea typeface="Lexend Peta"/>
                <a:cs typeface="Lexend Peta"/>
                <a:sym typeface="Lexend Peta"/>
              </a:rPr>
              <a:t>FUTURE SCOPE:</a:t>
            </a:r>
          </a:p>
        </p:txBody>
      </p:sp>
      <p:sp>
        <p:nvSpPr>
          <p:cNvPr id="14" name="TextBox 14"/>
          <p:cNvSpPr txBox="1"/>
          <p:nvPr/>
        </p:nvSpPr>
        <p:spPr>
          <a:xfrm>
            <a:off x="13028501" y="6002337"/>
            <a:ext cx="4701324" cy="2355851"/>
          </a:xfrm>
          <a:prstGeom prst="rect">
            <a:avLst/>
          </a:prstGeom>
        </p:spPr>
        <p:txBody>
          <a:bodyPr lIns="0" tIns="0" rIns="0" bIns="0" rtlCol="0" anchor="t">
            <a:spAutoFit/>
          </a:bodyPr>
          <a:lstStyle/>
          <a:p>
            <a:pPr algn="ctr">
              <a:lnSpc>
                <a:spcPts val="4759"/>
              </a:lnSpc>
              <a:spcBef>
                <a:spcPct val="0"/>
              </a:spcBef>
            </a:pPr>
            <a:r>
              <a:rPr lang="en-US" sz="2799" b="1" spc="204">
                <a:solidFill>
                  <a:srgbClr val="191919"/>
                </a:solidFill>
                <a:latin typeface="DM Sans Bold"/>
                <a:ea typeface="DM Sans Bold"/>
                <a:cs typeface="DM Sans Bold"/>
                <a:sym typeface="DM Sans Bold"/>
              </a:rPr>
              <a:t>AI Prediction </a:t>
            </a:r>
          </a:p>
          <a:p>
            <a:pPr algn="ctr">
              <a:lnSpc>
                <a:spcPts val="4759"/>
              </a:lnSpc>
              <a:spcBef>
                <a:spcPct val="0"/>
              </a:spcBef>
            </a:pPr>
            <a:r>
              <a:rPr lang="en-US" sz="2799" spc="204">
                <a:solidFill>
                  <a:srgbClr val="191919"/>
                </a:solidFill>
                <a:latin typeface="DM Sans"/>
                <a:ea typeface="DM Sans"/>
                <a:cs typeface="DM Sans"/>
                <a:sym typeface="DM Sans"/>
              </a:rPr>
              <a:t>Predict traffic congestion and optimize signal timings.</a:t>
            </a:r>
          </a:p>
        </p:txBody>
      </p:sp>
      <p:sp>
        <p:nvSpPr>
          <p:cNvPr id="15" name="TextBox 15"/>
          <p:cNvSpPr txBox="1"/>
          <p:nvPr/>
        </p:nvSpPr>
        <p:spPr>
          <a:xfrm>
            <a:off x="384677" y="1983204"/>
            <a:ext cx="4504344" cy="2355851"/>
          </a:xfrm>
          <a:prstGeom prst="rect">
            <a:avLst/>
          </a:prstGeom>
        </p:spPr>
        <p:txBody>
          <a:bodyPr lIns="0" tIns="0" rIns="0" bIns="0" rtlCol="0" anchor="t">
            <a:spAutoFit/>
          </a:bodyPr>
          <a:lstStyle/>
          <a:p>
            <a:pPr algn="ctr">
              <a:lnSpc>
                <a:spcPts val="4759"/>
              </a:lnSpc>
              <a:spcBef>
                <a:spcPct val="0"/>
              </a:spcBef>
            </a:pPr>
            <a:r>
              <a:rPr lang="en-US" sz="2799" b="1" spc="204">
                <a:solidFill>
                  <a:srgbClr val="191919"/>
                </a:solidFill>
                <a:latin typeface="DM Sans Bold"/>
                <a:ea typeface="DM Sans Bold"/>
                <a:cs typeface="DM Sans Bold"/>
                <a:sym typeface="DM Sans Bold"/>
              </a:rPr>
              <a:t>Multiple Junctions </a:t>
            </a:r>
            <a:r>
              <a:rPr lang="en-US" sz="2799" spc="204">
                <a:solidFill>
                  <a:srgbClr val="191919"/>
                </a:solidFill>
                <a:latin typeface="DM Sans"/>
                <a:ea typeface="DM Sans"/>
                <a:cs typeface="DM Sans"/>
                <a:sym typeface="DM Sans"/>
              </a:rPr>
              <a:t>Coordinate signals across multiple intersections.</a:t>
            </a:r>
          </a:p>
        </p:txBody>
      </p:sp>
      <p:sp>
        <p:nvSpPr>
          <p:cNvPr id="16" name="TextBox 16"/>
          <p:cNvSpPr txBox="1"/>
          <p:nvPr/>
        </p:nvSpPr>
        <p:spPr>
          <a:xfrm>
            <a:off x="12785633" y="2038777"/>
            <a:ext cx="4213624" cy="2355851"/>
          </a:xfrm>
          <a:prstGeom prst="rect">
            <a:avLst/>
          </a:prstGeom>
        </p:spPr>
        <p:txBody>
          <a:bodyPr lIns="0" tIns="0" rIns="0" bIns="0" rtlCol="0" anchor="t">
            <a:spAutoFit/>
          </a:bodyPr>
          <a:lstStyle/>
          <a:p>
            <a:pPr algn="ctr">
              <a:lnSpc>
                <a:spcPts val="4759"/>
              </a:lnSpc>
              <a:spcBef>
                <a:spcPct val="0"/>
              </a:spcBef>
            </a:pPr>
            <a:r>
              <a:rPr lang="en-US" sz="2799" b="1" spc="204">
                <a:solidFill>
                  <a:srgbClr val="191919"/>
                </a:solidFill>
                <a:latin typeface="DM Sans Bold"/>
                <a:ea typeface="DM Sans Bold"/>
                <a:cs typeface="DM Sans Bold"/>
                <a:sym typeface="DM Sans Bold"/>
              </a:rPr>
              <a:t>Real-World Testing </a:t>
            </a:r>
            <a:r>
              <a:rPr lang="en-US" sz="2799" spc="204">
                <a:solidFill>
                  <a:srgbClr val="191919"/>
                </a:solidFill>
                <a:latin typeface="DM Sans"/>
                <a:ea typeface="DM Sans"/>
                <a:cs typeface="DM Sans"/>
                <a:sym typeface="DM Sans"/>
              </a:rPr>
              <a:t>Implement the system using CCTV cameras and IoT sensors.</a:t>
            </a:r>
          </a:p>
        </p:txBody>
      </p:sp>
      <p:sp>
        <p:nvSpPr>
          <p:cNvPr id="17" name="AutoShape 17"/>
          <p:cNvSpPr/>
          <p:nvPr/>
        </p:nvSpPr>
        <p:spPr>
          <a:xfrm flipV="1">
            <a:off x="9172575" y="1187324"/>
            <a:ext cx="0" cy="8342732"/>
          </a:xfrm>
          <a:prstGeom prst="line">
            <a:avLst/>
          </a:prstGeom>
          <a:ln w="57150" cap="rnd">
            <a:solidFill>
              <a:srgbClr val="000000"/>
            </a:solidFill>
            <a:prstDash val="lgDash"/>
            <a:headEnd type="none" w="sm" len="sm"/>
            <a:tailEnd type="none" w="sm" len="sm"/>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Freeform 4"/>
          <p:cNvSpPr/>
          <p:nvPr/>
        </p:nvSpPr>
        <p:spPr>
          <a:xfrm>
            <a:off x="-952919" y="-1986829"/>
            <a:ext cx="21190639" cy="12347448"/>
          </a:xfrm>
          <a:custGeom>
            <a:avLst/>
            <a:gdLst/>
            <a:ahLst/>
            <a:cxnLst/>
            <a:rect l="l" t="t" r="r" b="b"/>
            <a:pathLst>
              <a:path w="21190639" h="12347448">
                <a:moveTo>
                  <a:pt x="0" y="0"/>
                </a:moveTo>
                <a:lnTo>
                  <a:pt x="21190639" y="0"/>
                </a:lnTo>
                <a:lnTo>
                  <a:pt x="21190639" y="12347448"/>
                </a:lnTo>
                <a:lnTo>
                  <a:pt x="0" y="1234744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030320" y="5813520"/>
            <a:ext cx="7612081" cy="919994"/>
          </a:xfrm>
          <a:prstGeom prst="rect">
            <a:avLst/>
          </a:prstGeom>
        </p:spPr>
        <p:txBody>
          <a:bodyPr lIns="0" tIns="0" rIns="0" bIns="0" rtlCol="0" anchor="t">
            <a:spAutoFit/>
          </a:bodyPr>
          <a:lstStyle/>
          <a:p>
            <a:pPr algn="ctr">
              <a:lnSpc>
                <a:spcPts val="7297"/>
              </a:lnSpc>
            </a:pPr>
            <a:r>
              <a:rPr lang="en-US" sz="6081">
                <a:solidFill>
                  <a:srgbClr val="191919"/>
                </a:solidFill>
                <a:latin typeface="Lexend Peta"/>
                <a:ea typeface="Lexend Peta"/>
                <a:cs typeface="Lexend Peta"/>
                <a:sym typeface="Lexend Peta"/>
              </a:rPr>
              <a:t>Thank You...</a:t>
            </a:r>
          </a:p>
        </p:txBody>
      </p:sp>
      <p:sp>
        <p:nvSpPr>
          <p:cNvPr id="6" name="Freeform 6"/>
          <p:cNvSpPr/>
          <p:nvPr/>
        </p:nvSpPr>
        <p:spPr>
          <a:xfrm>
            <a:off x="11515668" y="2828256"/>
            <a:ext cx="8403469" cy="5970527"/>
          </a:xfrm>
          <a:custGeom>
            <a:avLst/>
            <a:gdLst/>
            <a:ahLst/>
            <a:cxnLst/>
            <a:rect l="l" t="t" r="r" b="b"/>
            <a:pathLst>
              <a:path w="8403469" h="5970527">
                <a:moveTo>
                  <a:pt x="0" y="0"/>
                </a:moveTo>
                <a:lnTo>
                  <a:pt x="8403470" y="0"/>
                </a:lnTo>
                <a:lnTo>
                  <a:pt x="8403470" y="5970527"/>
                </a:lnTo>
                <a:lnTo>
                  <a:pt x="0" y="5970527"/>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16410145" y="8120321"/>
            <a:ext cx="1698310" cy="1596814"/>
            <a:chOff x="0" y="0"/>
            <a:chExt cx="2964472" cy="2787307"/>
          </a:xfrm>
        </p:grpSpPr>
        <p:sp>
          <p:nvSpPr>
            <p:cNvPr id="8" name="Freeform 8"/>
            <p:cNvSpPr/>
            <p:nvPr/>
          </p:nvSpPr>
          <p:spPr>
            <a:xfrm>
              <a:off x="0" y="0"/>
              <a:ext cx="2964434" cy="2787269"/>
            </a:xfrm>
            <a:custGeom>
              <a:avLst/>
              <a:gdLst/>
              <a:ahLst/>
              <a:cxnLst/>
              <a:rect l="l" t="t" r="r" b="b"/>
              <a:pathLst>
                <a:path w="2964434" h="2787269">
                  <a:moveTo>
                    <a:pt x="0" y="0"/>
                  </a:moveTo>
                  <a:lnTo>
                    <a:pt x="2964434" y="0"/>
                  </a:lnTo>
                  <a:lnTo>
                    <a:pt x="2964434" y="2787269"/>
                  </a:lnTo>
                  <a:lnTo>
                    <a:pt x="0" y="2787269"/>
                  </a:lnTo>
                  <a:lnTo>
                    <a:pt x="0" y="0"/>
                  </a:lnTo>
                  <a:close/>
                </a:path>
              </a:pathLst>
            </a:custGeom>
            <a:blipFill>
              <a:blip r:embed="rId6"/>
              <a:stretch>
                <a:fillRect r="-1" b="-1"/>
              </a:stretch>
            </a:blipFill>
          </p:spPr>
        </p:sp>
      </p:grpSp>
      <p:grpSp>
        <p:nvGrpSpPr>
          <p:cNvPr id="9" name="Group 9"/>
          <p:cNvGrpSpPr/>
          <p:nvPr/>
        </p:nvGrpSpPr>
        <p:grpSpPr>
          <a:xfrm>
            <a:off x="12467517" y="-1496549"/>
            <a:ext cx="1206436" cy="6485020"/>
            <a:chOff x="0" y="0"/>
            <a:chExt cx="1608582" cy="8646693"/>
          </a:xfrm>
        </p:grpSpPr>
        <p:sp>
          <p:nvSpPr>
            <p:cNvPr id="10" name="Freeform 10"/>
            <p:cNvSpPr/>
            <p:nvPr/>
          </p:nvSpPr>
          <p:spPr>
            <a:xfrm>
              <a:off x="0" y="0"/>
              <a:ext cx="1608582" cy="8646668"/>
            </a:xfrm>
            <a:custGeom>
              <a:avLst/>
              <a:gdLst/>
              <a:ahLst/>
              <a:cxnLst/>
              <a:rect l="l" t="t" r="r" b="b"/>
              <a:pathLst>
                <a:path w="1608582" h="8646668">
                  <a:moveTo>
                    <a:pt x="0" y="0"/>
                  </a:moveTo>
                  <a:lnTo>
                    <a:pt x="1608582" y="0"/>
                  </a:lnTo>
                  <a:lnTo>
                    <a:pt x="1608582" y="8646668"/>
                  </a:lnTo>
                  <a:lnTo>
                    <a:pt x="0" y="8646668"/>
                  </a:lnTo>
                  <a:lnTo>
                    <a:pt x="0" y="0"/>
                  </a:lnTo>
                  <a:close/>
                </a:path>
              </a:pathLst>
            </a:custGeom>
            <a:blipFill>
              <a:blip r:embed="rId7"/>
              <a:stretch>
                <a:fillRect/>
              </a:stretch>
            </a:blipFill>
          </p:spPr>
        </p:sp>
      </p:grpSp>
      <p:sp>
        <p:nvSpPr>
          <p:cNvPr id="11" name="TextBox 11"/>
          <p:cNvSpPr txBox="1"/>
          <p:nvPr/>
        </p:nvSpPr>
        <p:spPr>
          <a:xfrm>
            <a:off x="1165107" y="7533229"/>
            <a:ext cx="9940658" cy="1385499"/>
          </a:xfrm>
          <a:prstGeom prst="rect">
            <a:avLst/>
          </a:prstGeom>
        </p:spPr>
        <p:txBody>
          <a:bodyPr lIns="0" tIns="0" rIns="0" bIns="0" rtlCol="0" anchor="t">
            <a:spAutoFit/>
          </a:bodyPr>
          <a:lstStyle/>
          <a:p>
            <a:pPr algn="ctr">
              <a:lnSpc>
                <a:spcPts val="3746"/>
              </a:lnSpc>
            </a:pPr>
            <a:r>
              <a:rPr lang="en-US" sz="2837" b="1" spc="48">
                <a:solidFill>
                  <a:srgbClr val="191919"/>
                </a:solidFill>
                <a:latin typeface="DM Sans Bold"/>
                <a:ea typeface="DM Sans Bold"/>
                <a:cs typeface="DM Sans Bold"/>
                <a:sym typeface="DM Sans Bold"/>
              </a:rPr>
              <a:t>Here we are with our full Working Simulation on </a:t>
            </a:r>
          </a:p>
          <a:p>
            <a:pPr algn="ctr">
              <a:lnSpc>
                <a:spcPts val="3746"/>
              </a:lnSpc>
            </a:pPr>
            <a:r>
              <a:rPr lang="en-US" sz="2837" b="1" spc="48">
                <a:solidFill>
                  <a:srgbClr val="191919"/>
                </a:solidFill>
                <a:latin typeface="DM Sans Bold"/>
                <a:ea typeface="DM Sans Bold"/>
                <a:cs typeface="DM Sans Bold"/>
                <a:sym typeface="DM Sans Bold"/>
              </a:rPr>
              <a:t>Smart Traffic Management !!!</a:t>
            </a:r>
          </a:p>
          <a:p>
            <a:pPr algn="ctr">
              <a:lnSpc>
                <a:spcPts val="3746"/>
              </a:lnSpc>
            </a:pPr>
            <a:endParaRPr lang="en-US" sz="2837" b="1" spc="48">
              <a:solidFill>
                <a:srgbClr val="191919"/>
              </a:solidFill>
              <a:latin typeface="DM Sans Bold"/>
              <a:ea typeface="DM Sans Bold"/>
              <a:cs typeface="DM Sans Bold"/>
              <a:sym typeface="DM Sans Bold"/>
            </a:endParaRPr>
          </a:p>
        </p:txBody>
      </p:sp>
      <p:grpSp>
        <p:nvGrpSpPr>
          <p:cNvPr id="12" name="Group 12"/>
          <p:cNvGrpSpPr/>
          <p:nvPr/>
        </p:nvGrpSpPr>
        <p:grpSpPr>
          <a:xfrm>
            <a:off x="14819505" y="4860007"/>
            <a:ext cx="1544888" cy="5426993"/>
            <a:chOff x="0" y="0"/>
            <a:chExt cx="2059851" cy="7235990"/>
          </a:xfrm>
        </p:grpSpPr>
        <p:sp>
          <p:nvSpPr>
            <p:cNvPr id="13" name="Freeform 13"/>
            <p:cNvSpPr/>
            <p:nvPr/>
          </p:nvSpPr>
          <p:spPr>
            <a:xfrm>
              <a:off x="0" y="0"/>
              <a:ext cx="2059813" cy="7235952"/>
            </a:xfrm>
            <a:custGeom>
              <a:avLst/>
              <a:gdLst/>
              <a:ahLst/>
              <a:cxnLst/>
              <a:rect l="l" t="t" r="r" b="b"/>
              <a:pathLst>
                <a:path w="2059813" h="7235952">
                  <a:moveTo>
                    <a:pt x="0" y="0"/>
                  </a:moveTo>
                  <a:lnTo>
                    <a:pt x="2059813" y="0"/>
                  </a:lnTo>
                  <a:lnTo>
                    <a:pt x="2059813" y="7235952"/>
                  </a:lnTo>
                  <a:lnTo>
                    <a:pt x="0" y="7235952"/>
                  </a:lnTo>
                  <a:lnTo>
                    <a:pt x="0" y="0"/>
                  </a:lnTo>
                  <a:close/>
                </a:path>
              </a:pathLst>
            </a:custGeom>
            <a:blipFill>
              <a:blip r:embed="rId8"/>
              <a:stretch>
                <a:fillRect r="-1"/>
              </a:stretch>
            </a:blipFill>
          </p:spPr>
        </p:sp>
      </p:grpSp>
      <p:sp>
        <p:nvSpPr>
          <p:cNvPr id="14" name="Freeform 14"/>
          <p:cNvSpPr/>
          <p:nvPr/>
        </p:nvSpPr>
        <p:spPr>
          <a:xfrm>
            <a:off x="14819505" y="373458"/>
            <a:ext cx="1954374" cy="1954811"/>
          </a:xfrm>
          <a:custGeom>
            <a:avLst/>
            <a:gdLst/>
            <a:ahLst/>
            <a:cxnLst/>
            <a:rect l="l" t="t" r="r" b="b"/>
            <a:pathLst>
              <a:path w="1954374" h="1954811">
                <a:moveTo>
                  <a:pt x="0" y="0"/>
                </a:moveTo>
                <a:lnTo>
                  <a:pt x="1954373" y="0"/>
                </a:lnTo>
                <a:lnTo>
                  <a:pt x="1954373" y="1954811"/>
                </a:lnTo>
                <a:lnTo>
                  <a:pt x="0" y="1954811"/>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15" name="Group 15"/>
          <p:cNvGrpSpPr/>
          <p:nvPr/>
        </p:nvGrpSpPr>
        <p:grpSpPr>
          <a:xfrm>
            <a:off x="381438" y="1674344"/>
            <a:ext cx="11134230" cy="3314127"/>
            <a:chOff x="0" y="0"/>
            <a:chExt cx="14845640" cy="4418836"/>
          </a:xfrm>
        </p:grpSpPr>
        <p:grpSp>
          <p:nvGrpSpPr>
            <p:cNvPr id="16" name="Group 16"/>
            <p:cNvGrpSpPr/>
            <p:nvPr/>
          </p:nvGrpSpPr>
          <p:grpSpPr>
            <a:xfrm>
              <a:off x="0" y="0"/>
              <a:ext cx="14845640" cy="4418836"/>
              <a:chOff x="0" y="0"/>
              <a:chExt cx="2932472" cy="872857"/>
            </a:xfrm>
          </p:grpSpPr>
          <p:sp>
            <p:nvSpPr>
              <p:cNvPr id="17" name="Freeform 17"/>
              <p:cNvSpPr/>
              <p:nvPr/>
            </p:nvSpPr>
            <p:spPr>
              <a:xfrm>
                <a:off x="0" y="0"/>
                <a:ext cx="2932472" cy="872857"/>
              </a:xfrm>
              <a:custGeom>
                <a:avLst/>
                <a:gdLst/>
                <a:ahLst/>
                <a:cxnLst/>
                <a:rect l="l" t="t" r="r" b="b"/>
                <a:pathLst>
                  <a:path w="2932472" h="872857">
                    <a:moveTo>
                      <a:pt x="2853054" y="0"/>
                    </a:moveTo>
                    <a:lnTo>
                      <a:pt x="79418" y="0"/>
                    </a:lnTo>
                    <a:cubicBezTo>
                      <a:pt x="79418" y="43699"/>
                      <a:pt x="44079" y="79418"/>
                      <a:pt x="0" y="79418"/>
                    </a:cubicBezTo>
                    <a:lnTo>
                      <a:pt x="0" y="793438"/>
                    </a:lnTo>
                    <a:cubicBezTo>
                      <a:pt x="43699" y="793438"/>
                      <a:pt x="79418" y="828777"/>
                      <a:pt x="79418" y="872857"/>
                    </a:cubicBezTo>
                    <a:lnTo>
                      <a:pt x="2853054" y="872857"/>
                    </a:lnTo>
                    <a:cubicBezTo>
                      <a:pt x="2853054" y="829157"/>
                      <a:pt x="2888393" y="793438"/>
                      <a:pt x="2932472" y="793438"/>
                    </a:cubicBezTo>
                    <a:lnTo>
                      <a:pt x="2932472" y="79418"/>
                    </a:lnTo>
                    <a:cubicBezTo>
                      <a:pt x="2888773" y="79418"/>
                      <a:pt x="2853054" y="44079"/>
                      <a:pt x="2853054" y="0"/>
                    </a:cubicBezTo>
                    <a:close/>
                  </a:path>
                </a:pathLst>
              </a:custGeom>
              <a:solidFill>
                <a:srgbClr val="CFD9E0"/>
              </a:solidFill>
              <a:ln w="57150" cap="sq">
                <a:solidFill>
                  <a:srgbClr val="000000"/>
                </a:solidFill>
                <a:prstDash val="solid"/>
                <a:miter/>
              </a:ln>
            </p:spPr>
          </p:sp>
          <p:sp>
            <p:nvSpPr>
              <p:cNvPr id="18" name="TextBox 18"/>
              <p:cNvSpPr txBox="1"/>
              <p:nvPr/>
            </p:nvSpPr>
            <p:spPr>
              <a:xfrm>
                <a:off x="38100" y="0"/>
                <a:ext cx="2856272" cy="834757"/>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219684" y="301406"/>
              <a:ext cx="14406273" cy="3654099"/>
            </a:xfrm>
            <a:prstGeom prst="rect">
              <a:avLst/>
            </a:prstGeom>
          </p:spPr>
          <p:txBody>
            <a:bodyPr lIns="0" tIns="0" rIns="0" bIns="0" rtlCol="0" anchor="t">
              <a:spAutoFit/>
            </a:bodyPr>
            <a:lstStyle/>
            <a:p>
              <a:pPr algn="ctr">
                <a:lnSpc>
                  <a:spcPts val="5136"/>
                </a:lnSpc>
              </a:pPr>
              <a:r>
                <a:rPr lang="en-US" sz="2853" b="1">
                  <a:solidFill>
                    <a:srgbClr val="191919"/>
                  </a:solidFill>
                  <a:latin typeface="DM Sans Bold"/>
                  <a:ea typeface="DM Sans Bold"/>
                  <a:cs typeface="DM Sans Bold"/>
                  <a:sym typeface="DM Sans Bold"/>
                </a:rPr>
                <a:t>-: CONCLUSION :-</a:t>
              </a:r>
            </a:p>
            <a:p>
              <a:pPr algn="ctr">
                <a:lnSpc>
                  <a:spcPts val="4325"/>
                </a:lnSpc>
              </a:pPr>
              <a:r>
                <a:rPr lang="en-US" sz="2402">
                  <a:solidFill>
                    <a:srgbClr val="191919"/>
                  </a:solidFill>
                  <a:latin typeface="DM Sans"/>
                  <a:ea typeface="DM Sans"/>
                  <a:cs typeface="DM Sans"/>
                  <a:sym typeface="DM Sans"/>
                </a:rPr>
                <a:t>The Smart Traffic Management System uses SUMO, TraCI, and Python to dynamically adjust traffic signal timings based on vehicle count, vehicle type by rule based control which gives emergency vehicle priority in simulation mode.</a:t>
              </a:r>
            </a:p>
          </p:txBody>
        </p:sp>
      </p:grpSp>
      <p:sp>
        <p:nvSpPr>
          <p:cNvPr id="20" name="TextBox 20"/>
          <p:cNvSpPr txBox="1"/>
          <p:nvPr/>
        </p:nvSpPr>
        <p:spPr>
          <a:xfrm>
            <a:off x="713764" y="377699"/>
            <a:ext cx="6613773" cy="809625"/>
          </a:xfrm>
          <a:prstGeom prst="rect">
            <a:avLst/>
          </a:prstGeom>
        </p:spPr>
        <p:txBody>
          <a:bodyPr lIns="0" tIns="0" rIns="0" bIns="0" rtlCol="0" anchor="t">
            <a:spAutoFit/>
          </a:bodyPr>
          <a:lstStyle/>
          <a:p>
            <a:pPr algn="l">
              <a:lnSpc>
                <a:spcPts val="6433"/>
              </a:lnSpc>
            </a:pPr>
            <a:r>
              <a:rPr lang="en-US" sz="5361">
                <a:solidFill>
                  <a:srgbClr val="191919"/>
                </a:solidFill>
                <a:latin typeface="Lexend Peta"/>
                <a:ea typeface="Lexend Peta"/>
                <a:cs typeface="Lexend Peta"/>
                <a:sym typeface="Lexend Peta"/>
              </a:rPr>
              <a:t>CONCLUSION:</a:t>
            </a:r>
          </a:p>
        </p:txBody>
      </p:sp>
      <p:sp>
        <p:nvSpPr>
          <p:cNvPr id="21" name="TextBox 21"/>
          <p:cNvSpPr txBox="1"/>
          <p:nvPr/>
        </p:nvSpPr>
        <p:spPr>
          <a:xfrm>
            <a:off x="8537576" y="8823195"/>
            <a:ext cx="5136377" cy="1184275"/>
          </a:xfrm>
          <a:prstGeom prst="rect">
            <a:avLst/>
          </a:prstGeom>
        </p:spPr>
        <p:txBody>
          <a:bodyPr lIns="0" tIns="0" rIns="0" bIns="0" rtlCol="0" anchor="t">
            <a:spAutoFit/>
          </a:bodyPr>
          <a:lstStyle/>
          <a:p>
            <a:pPr algn="ctr">
              <a:lnSpc>
                <a:spcPts val="9799"/>
              </a:lnSpc>
              <a:spcBef>
                <a:spcPct val="0"/>
              </a:spcBef>
            </a:pPr>
            <a:r>
              <a:rPr lang="en-US" sz="6999" b="1" u="sng" spc="118">
                <a:solidFill>
                  <a:srgbClr val="BF4428"/>
                </a:solidFill>
                <a:latin typeface="Alkatra Bold"/>
                <a:ea typeface="Alkatra Bold"/>
                <a:cs typeface="Alkatra Bold"/>
                <a:sym typeface="Alkatra Bold"/>
              </a:rPr>
              <a:t>Junction iQ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665</Words>
  <Application>Microsoft Office PowerPoint</Application>
  <PresentationFormat>Custom</PresentationFormat>
  <Paragraphs>136</Paragraphs>
  <Slides>12</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Canva Sans Bold</vt:lpstr>
      <vt:lpstr>DM Sans</vt:lpstr>
      <vt:lpstr>Gagalin</vt:lpstr>
      <vt:lpstr>Calibri</vt:lpstr>
      <vt:lpstr>Alkatra Bold</vt:lpstr>
      <vt:lpstr>Lexend Peta</vt:lpstr>
      <vt:lpstr>Arial</vt:lpstr>
      <vt:lpstr>DM Sans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MP_ppt 2.pptx</dc:title>
  <cp:lastModifiedBy>Anusha Patil</cp:lastModifiedBy>
  <cp:revision>4</cp:revision>
  <dcterms:created xsi:type="dcterms:W3CDTF">2006-08-16T00:00:00Z</dcterms:created>
  <dcterms:modified xsi:type="dcterms:W3CDTF">2026-10-23T14:47:31Z</dcterms:modified>
  <dc:identifier>DAHTOdPgk1w</dc:identifier>
</cp:coreProperties>
</file>